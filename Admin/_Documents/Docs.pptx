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91" r:id="rId3"/>
    <p:sldId id="292" r:id="rId4"/>
    <p:sldId id="262" r:id="rId5"/>
    <p:sldId id="263" r:id="rId6"/>
    <p:sldId id="268" r:id="rId7"/>
    <p:sldId id="264" r:id="rId8"/>
    <p:sldId id="267" r:id="rId9"/>
    <p:sldId id="266" r:id="rId10"/>
    <p:sldId id="269" r:id="rId11"/>
    <p:sldId id="273" r:id="rId12"/>
    <p:sldId id="274" r:id="rId13"/>
    <p:sldId id="279" r:id="rId14"/>
    <p:sldId id="282" r:id="rId15"/>
    <p:sldId id="293" r:id="rId16"/>
    <p:sldId id="275" r:id="rId17"/>
    <p:sldId id="281" r:id="rId18"/>
    <p:sldId id="272" r:id="rId19"/>
    <p:sldId id="276" r:id="rId20"/>
    <p:sldId id="278" r:id="rId21"/>
    <p:sldId id="270" r:id="rId22"/>
    <p:sldId id="271" r:id="rId23"/>
    <p:sldId id="280" r:id="rId24"/>
    <p:sldId id="277" r:id="rId25"/>
    <p:sldId id="256" r:id="rId26"/>
    <p:sldId id="257" r:id="rId27"/>
    <p:sldId id="258" r:id="rId28"/>
    <p:sldId id="259" r:id="rId29"/>
    <p:sldId id="260" r:id="rId30"/>
    <p:sldId id="261" r:id="rId31"/>
    <p:sldId id="265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F9A"/>
    <a:srgbClr val="0B76A0"/>
    <a:srgbClr val="9966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0" autoAdjust="0"/>
    <p:restoredTop sz="94660"/>
  </p:normalViewPr>
  <p:slideViewPr>
    <p:cSldViewPr snapToGrid="0">
      <p:cViewPr varScale="1">
        <p:scale>
          <a:sx n="77" d="100"/>
          <a:sy n="77" d="100"/>
        </p:scale>
        <p:origin x="84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C1C6E-F090-64B1-E943-BFF5B3EED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B47F2-204D-712B-0B82-E58DF8324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3B20C-9960-C85E-FFD3-C5F3BB56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2AE04-6F98-FBF1-96D9-E719D345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E449C-BFA5-082F-5348-C95E0E9D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17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1A8BB-9829-126F-DE73-9197B8E4C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BE76-CB62-45D4-EA18-AC8846DA3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DC9A-0EDD-A77E-940D-A5F868D1D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3C72B-08DD-3C52-DE8F-E9F73A67B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12C9B-44B2-9FD9-95F1-504B556A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48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24808-7B16-50BC-4DFF-6B740BC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BD912-BD28-B4DB-C070-C8C9F6AD6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07A92-622F-65BD-CEE9-95FC58A60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12131-3789-0A29-AF9F-52D1F3834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EB82B-D298-D604-FDFC-F34487379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51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6A2E3-0F2F-8D66-35A7-62F09E1C0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1CA1C-827C-1EDE-2F30-3A66694E0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EF4D3-3C92-8E2B-1605-006DD0D9E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FAABF-D8F7-F49C-1685-54E430E5C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F5EBA-6BCA-3620-2C39-4DBEFE2F8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52E62-71F5-E388-C77F-E08FB6365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99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243D-BE8B-6BAA-87DE-382EAFDF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CA77F-890F-B7F7-003C-BD0305A8F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745DC-BE58-4E60-4BD5-A2988B1A8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A1485C-C2C5-DAEC-EE36-F6FB4B48D9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8A06AE-A2E1-3D1C-ED77-5A35D463D0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35B976-526F-2316-38BA-A71AA6135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2C9E70-D69E-1FFE-43FE-2E79D0D3E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77917-5193-6128-B589-E3C54E15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37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41838-977A-CA8D-83AF-C6EBA1CDE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CF4E9-B39E-F6CC-2197-EC3022E83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0C42C-BAC9-38ED-0062-6EBF05E79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5CDFE-EB4C-727B-CE6F-8863A4C1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89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4D15AF-C0AC-56A3-C887-1C35EFB72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D8F222-B4EB-4A29-263D-9C44D6E5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2D74E-1EA9-EFF3-7F3F-16F8BA27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8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3D3CE-D3B5-6929-5372-99657590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52619-DA5C-7BFF-1CAC-DB1ACD025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795C3-3A1D-E50F-BE37-66EEBE34F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BFD92-163E-038D-81F0-1FC5292F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84D3C-F211-5C61-1594-4A7D8D5ED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1F566-4237-2B0F-C3AB-D6D02404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9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718F4-06A4-ADED-7A7B-D559E6F26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9DFFD0-631F-263D-63AB-9D6DDF6CCD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CE890-CCDE-CEF9-EDCF-ACA9AF8F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095D2-B3BE-E3BB-BDAD-FC82292C6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595E5-89DB-9E53-C88E-A3DA10AE1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745D1-EF09-42A5-42B9-BA5494C5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8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2969-A623-73B9-579F-5DB9ACD85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799E0-2FC6-864B-6B11-651075021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33CB2-C7A9-37B3-B385-5DBB335DA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F9C24-5274-AA81-5B36-A111228A0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3F1C5-D2CF-77B6-858E-266296E04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9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256C3C-D1D0-E91F-79B2-E0532E7A5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4849C-1C86-8909-E0AE-EFB963A6C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6FBCE-755D-0FFD-4943-8210141BC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CD775-5148-FDE6-1AB6-EA7166336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3B8D1-2E0E-F4FA-E055-7C62344AC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764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BCB974-091A-7740-5BAB-ACD27B38E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9B4EB-1C06-2CE8-DACB-81CC5F809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BFEFE-41AD-3593-61D6-5C5EDA2FF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74501-8691-4646-B472-1139202FB98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31143-16BA-57CC-DEDD-15DA10A52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DD248-CABF-64A3-5A7E-E5D1D050C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716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18" Type="http://schemas.openxmlformats.org/officeDocument/2006/relationships/image" Target="../media/image19.sv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17" Type="http://schemas.openxmlformats.org/officeDocument/2006/relationships/image" Target="../media/image18.svg"/><Relationship Id="rId2" Type="http://schemas.openxmlformats.org/officeDocument/2006/relationships/image" Target="../media/image3.svg"/><Relationship Id="rId16" Type="http://schemas.openxmlformats.org/officeDocument/2006/relationships/image" Target="../media/image17.sv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svg"/><Relationship Id="rId19" Type="http://schemas.openxmlformats.org/officeDocument/2006/relationships/image" Target="../media/image20.svg"/><Relationship Id="rId4" Type="http://schemas.openxmlformats.org/officeDocument/2006/relationships/image" Target="../media/image5.svg"/><Relationship Id="rId9" Type="http://schemas.openxmlformats.org/officeDocument/2006/relationships/image" Target="../media/image10.svg"/><Relationship Id="rId1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.svg"/><Relationship Id="rId7" Type="http://schemas.openxmlformats.org/officeDocument/2006/relationships/image" Target="../media/image29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Relationship Id="rId9" Type="http://schemas.openxmlformats.org/officeDocument/2006/relationships/image" Target="../media/image3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26CF98-DE3D-0862-C1A6-55192CEB3648}"/>
              </a:ext>
            </a:extLst>
          </p:cNvPr>
          <p:cNvSpPr/>
          <p:nvPr/>
        </p:nvSpPr>
        <p:spPr>
          <a:xfrm>
            <a:off x="808983" y="1383424"/>
            <a:ext cx="2333296" cy="735726"/>
          </a:xfrm>
          <a:prstGeom prst="round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Bfs.Identity.Web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6A80CB-FC64-E410-D1D5-0CBBD276614E}"/>
              </a:ext>
            </a:extLst>
          </p:cNvPr>
          <p:cNvSpPr/>
          <p:nvPr/>
        </p:nvSpPr>
        <p:spPr>
          <a:xfrm>
            <a:off x="5917009" y="430927"/>
            <a:ext cx="2333296" cy="735726"/>
          </a:xfrm>
          <a:prstGeom prst="round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err="1">
                <a:solidFill>
                  <a:schemeClr val="tx1"/>
                </a:solidFill>
              </a:rPr>
              <a:t>Bfs.Master.Api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71C3A4-43ED-069C-DC6C-EED893FE40DC}"/>
              </a:ext>
            </a:extLst>
          </p:cNvPr>
          <p:cNvSpPr/>
          <p:nvPr/>
        </p:nvSpPr>
        <p:spPr>
          <a:xfrm>
            <a:off x="5917007" y="1859952"/>
            <a:ext cx="2333296" cy="735726"/>
          </a:xfrm>
          <a:prstGeom prst="round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err="1">
                <a:solidFill>
                  <a:schemeClr val="tx1"/>
                </a:solidFill>
              </a:rPr>
              <a:t>Bfs.Auth.Api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D3D431-DF5C-5E00-E5E6-227E4CC579CB}"/>
              </a:ext>
            </a:extLst>
          </p:cNvPr>
          <p:cNvSpPr/>
          <p:nvPr/>
        </p:nvSpPr>
        <p:spPr>
          <a:xfrm>
            <a:off x="5917007" y="2909670"/>
            <a:ext cx="2333296" cy="735726"/>
          </a:xfrm>
          <a:prstGeom prst="round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err="1">
                <a:solidFill>
                  <a:schemeClr val="tx1"/>
                </a:solidFill>
              </a:rPr>
              <a:t>Bfs.Payroll.Api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6D38C7B-9B08-EC8D-7FE1-A892F49C8570}"/>
              </a:ext>
            </a:extLst>
          </p:cNvPr>
          <p:cNvSpPr/>
          <p:nvPr/>
        </p:nvSpPr>
        <p:spPr>
          <a:xfrm>
            <a:off x="5917007" y="3850345"/>
            <a:ext cx="2333296" cy="735726"/>
          </a:xfrm>
          <a:prstGeom prst="round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err="1">
                <a:solidFill>
                  <a:schemeClr val="tx1"/>
                </a:solidFill>
              </a:rPr>
              <a:t>Bfs</a:t>
            </a:r>
            <a:r>
              <a:rPr lang="en-AU" sz="1600" dirty="0">
                <a:solidFill>
                  <a:schemeClr val="tx1"/>
                </a:solidFill>
              </a:rPr>
              <a:t>. </a:t>
            </a:r>
            <a:r>
              <a:rPr lang="en-AU" sz="1600" dirty="0" err="1">
                <a:solidFill>
                  <a:schemeClr val="tx1"/>
                </a:solidFill>
              </a:rPr>
              <a:t>StockEx.Api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203591-73E4-611A-24BE-5F7EFDB93B3A}"/>
              </a:ext>
            </a:extLst>
          </p:cNvPr>
          <p:cNvSpPr/>
          <p:nvPr/>
        </p:nvSpPr>
        <p:spPr>
          <a:xfrm>
            <a:off x="683173" y="5475889"/>
            <a:ext cx="2333296" cy="735726"/>
          </a:xfrm>
          <a:prstGeom prst="round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Frontend Angular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CC9585-BC3A-B57B-E989-8BBADD0A2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3682"/>
            <a:ext cx="750859" cy="683428"/>
          </a:xfrm>
          <a:prstGeom prst="rect">
            <a:avLst/>
          </a:prstGeom>
        </p:spPr>
      </p:pic>
      <p:sp>
        <p:nvSpPr>
          <p:cNvPr id="17" name="Cylinder 16">
            <a:extLst>
              <a:ext uri="{FF2B5EF4-FFF2-40B4-BE49-F238E27FC236}">
                <a16:creationId xmlns:a16="http://schemas.microsoft.com/office/drawing/2014/main" id="{545BB79E-CCBA-2F4C-8401-AEDE97E6C544}"/>
              </a:ext>
            </a:extLst>
          </p:cNvPr>
          <p:cNvSpPr/>
          <p:nvPr/>
        </p:nvSpPr>
        <p:spPr>
          <a:xfrm>
            <a:off x="3522824" y="388887"/>
            <a:ext cx="1227537" cy="82637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err="1"/>
              <a:t>BestFit</a:t>
            </a:r>
            <a:br>
              <a:rPr lang="en-AU" sz="1600" dirty="0"/>
            </a:br>
            <a:r>
              <a:rPr lang="en-AU" sz="1600" dirty="0"/>
              <a:t>Master</a:t>
            </a:r>
            <a:endParaRPr lang="en-US" sz="16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20D24C2-6611-9542-96C9-D9C1C61172C9}"/>
              </a:ext>
            </a:extLst>
          </p:cNvPr>
          <p:cNvCxnSpPr>
            <a:stCxn id="14" idx="3"/>
            <a:endCxn id="8" idx="1"/>
          </p:cNvCxnSpPr>
          <p:nvPr/>
        </p:nvCxnSpPr>
        <p:spPr>
          <a:xfrm flipV="1">
            <a:off x="3016469" y="2227815"/>
            <a:ext cx="2900538" cy="3615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6CB3F09-D918-3B00-13B8-F5FF89B902DA}"/>
              </a:ext>
            </a:extLst>
          </p:cNvPr>
          <p:cNvCxnSpPr>
            <a:stCxn id="14" idx="3"/>
            <a:endCxn id="10" idx="1"/>
          </p:cNvCxnSpPr>
          <p:nvPr/>
        </p:nvCxnSpPr>
        <p:spPr>
          <a:xfrm flipV="1">
            <a:off x="3016469" y="3277533"/>
            <a:ext cx="2900538" cy="2566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4D6E0B4-7BC4-3BF2-3A5E-256554937260}"/>
              </a:ext>
            </a:extLst>
          </p:cNvPr>
          <p:cNvCxnSpPr>
            <a:stCxn id="14" idx="3"/>
            <a:endCxn id="12" idx="1"/>
          </p:cNvCxnSpPr>
          <p:nvPr/>
        </p:nvCxnSpPr>
        <p:spPr>
          <a:xfrm flipV="1">
            <a:off x="3016469" y="4218208"/>
            <a:ext cx="2900538" cy="1625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A4A15A-D106-0AB7-FAAA-8C665B9103D0}"/>
              </a:ext>
            </a:extLst>
          </p:cNvPr>
          <p:cNvCxnSpPr>
            <a:stCxn id="14" idx="3"/>
            <a:endCxn id="6" idx="1"/>
          </p:cNvCxnSpPr>
          <p:nvPr/>
        </p:nvCxnSpPr>
        <p:spPr>
          <a:xfrm flipV="1">
            <a:off x="3016469" y="798790"/>
            <a:ext cx="2900540" cy="5044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98ED232-37AA-08A7-C396-F42E28A2DC79}"/>
              </a:ext>
            </a:extLst>
          </p:cNvPr>
          <p:cNvGrpSpPr/>
          <p:nvPr/>
        </p:nvGrpSpPr>
        <p:grpSpPr>
          <a:xfrm>
            <a:off x="10815147" y="202318"/>
            <a:ext cx="1231467" cy="2330677"/>
            <a:chOff x="4598751" y="4259311"/>
            <a:chExt cx="1497249" cy="2330677"/>
          </a:xfrm>
        </p:grpSpPr>
        <p:sp>
          <p:nvSpPr>
            <p:cNvPr id="41" name="Cylinder 40">
              <a:extLst>
                <a:ext uri="{FF2B5EF4-FFF2-40B4-BE49-F238E27FC236}">
                  <a16:creationId xmlns:a16="http://schemas.microsoft.com/office/drawing/2014/main" id="{66016EA0-C6AE-DAA1-DCD7-D2D79ABB4452}"/>
                </a:ext>
              </a:extLst>
            </p:cNvPr>
            <p:cNvSpPr/>
            <p:nvPr/>
          </p:nvSpPr>
          <p:spPr>
            <a:xfrm>
              <a:off x="4603531" y="5976432"/>
              <a:ext cx="1492469" cy="613556"/>
            </a:xfrm>
            <a:prstGeom prst="can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600" dirty="0"/>
                <a:t>StockEx</a:t>
              </a:r>
              <a:endParaRPr lang="en-US" sz="1600" dirty="0"/>
            </a:p>
          </p:txBody>
        </p:sp>
        <p:sp>
          <p:nvSpPr>
            <p:cNvPr id="39" name="Cylinder 38">
              <a:extLst>
                <a:ext uri="{FF2B5EF4-FFF2-40B4-BE49-F238E27FC236}">
                  <a16:creationId xmlns:a16="http://schemas.microsoft.com/office/drawing/2014/main" id="{F884C0EC-EF31-4BCF-B305-A5B094A164F5}"/>
                </a:ext>
              </a:extLst>
            </p:cNvPr>
            <p:cNvSpPr/>
            <p:nvPr/>
          </p:nvSpPr>
          <p:spPr>
            <a:xfrm>
              <a:off x="4598751" y="5466688"/>
              <a:ext cx="1492469" cy="613556"/>
            </a:xfrm>
            <a:prstGeom prst="can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600" dirty="0"/>
                <a:t>Payroll</a:t>
              </a:r>
              <a:endParaRPr lang="en-US" sz="1600" dirty="0"/>
            </a:p>
          </p:txBody>
        </p:sp>
        <p:sp>
          <p:nvSpPr>
            <p:cNvPr id="37" name="Cylinder 36">
              <a:extLst>
                <a:ext uri="{FF2B5EF4-FFF2-40B4-BE49-F238E27FC236}">
                  <a16:creationId xmlns:a16="http://schemas.microsoft.com/office/drawing/2014/main" id="{92F488D3-527A-2C2D-4A59-96EF2D1132CD}"/>
                </a:ext>
              </a:extLst>
            </p:cNvPr>
            <p:cNvSpPr/>
            <p:nvPr/>
          </p:nvSpPr>
          <p:spPr>
            <a:xfrm>
              <a:off x="4603531" y="4959565"/>
              <a:ext cx="1492469" cy="613556"/>
            </a:xfrm>
            <a:prstGeom prst="can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600" dirty="0"/>
                <a:t>Auth</a:t>
              </a:r>
              <a:endParaRPr lang="en-US" sz="1600" dirty="0"/>
            </a:p>
          </p:txBody>
        </p:sp>
        <p:sp>
          <p:nvSpPr>
            <p:cNvPr id="35" name="Cylinder 34">
              <a:extLst>
                <a:ext uri="{FF2B5EF4-FFF2-40B4-BE49-F238E27FC236}">
                  <a16:creationId xmlns:a16="http://schemas.microsoft.com/office/drawing/2014/main" id="{B38882ED-7BB4-2067-752A-1066CC92357D}"/>
                </a:ext>
              </a:extLst>
            </p:cNvPr>
            <p:cNvSpPr/>
            <p:nvPr/>
          </p:nvSpPr>
          <p:spPr>
            <a:xfrm>
              <a:off x="4598752" y="4259311"/>
              <a:ext cx="1492469" cy="813238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400" dirty="0"/>
                <a:t>Tenant</a:t>
              </a:r>
              <a:br>
                <a:rPr lang="en-AU" sz="1400" dirty="0"/>
              </a:br>
              <a:r>
                <a:rPr lang="en-AU" sz="1400" dirty="0"/>
                <a:t>Ahmed Sami</a:t>
              </a:r>
              <a:endParaRPr lang="en-US" sz="14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9330E1A-23E4-C9C6-F11E-E1B140C32AA2}"/>
              </a:ext>
            </a:extLst>
          </p:cNvPr>
          <p:cNvGrpSpPr/>
          <p:nvPr/>
        </p:nvGrpSpPr>
        <p:grpSpPr>
          <a:xfrm>
            <a:off x="10815147" y="2936306"/>
            <a:ext cx="1231467" cy="2330677"/>
            <a:chOff x="4598751" y="4259311"/>
            <a:chExt cx="1497249" cy="2330677"/>
          </a:xfrm>
        </p:grpSpPr>
        <p:sp>
          <p:nvSpPr>
            <p:cNvPr id="52" name="Cylinder 51">
              <a:extLst>
                <a:ext uri="{FF2B5EF4-FFF2-40B4-BE49-F238E27FC236}">
                  <a16:creationId xmlns:a16="http://schemas.microsoft.com/office/drawing/2014/main" id="{024ECEA9-54CA-7866-2933-6EFD86DAF3EA}"/>
                </a:ext>
              </a:extLst>
            </p:cNvPr>
            <p:cNvSpPr/>
            <p:nvPr/>
          </p:nvSpPr>
          <p:spPr>
            <a:xfrm>
              <a:off x="4603531" y="5976432"/>
              <a:ext cx="1492469" cy="613556"/>
            </a:xfrm>
            <a:prstGeom prst="can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600" dirty="0"/>
                <a:t>StockEx</a:t>
              </a:r>
              <a:endParaRPr lang="en-US" sz="1600" dirty="0"/>
            </a:p>
          </p:txBody>
        </p:sp>
        <p:sp>
          <p:nvSpPr>
            <p:cNvPr id="53" name="Cylinder 52">
              <a:extLst>
                <a:ext uri="{FF2B5EF4-FFF2-40B4-BE49-F238E27FC236}">
                  <a16:creationId xmlns:a16="http://schemas.microsoft.com/office/drawing/2014/main" id="{1F211152-4D04-D0B8-77C6-39A86F47D7D6}"/>
                </a:ext>
              </a:extLst>
            </p:cNvPr>
            <p:cNvSpPr/>
            <p:nvPr/>
          </p:nvSpPr>
          <p:spPr>
            <a:xfrm>
              <a:off x="4598751" y="5466688"/>
              <a:ext cx="1492469" cy="613556"/>
            </a:xfrm>
            <a:prstGeom prst="can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600" dirty="0"/>
                <a:t>Payroll</a:t>
              </a:r>
              <a:endParaRPr lang="en-US" sz="1600" dirty="0"/>
            </a:p>
          </p:txBody>
        </p:sp>
        <p:sp>
          <p:nvSpPr>
            <p:cNvPr id="54" name="Cylinder 53">
              <a:extLst>
                <a:ext uri="{FF2B5EF4-FFF2-40B4-BE49-F238E27FC236}">
                  <a16:creationId xmlns:a16="http://schemas.microsoft.com/office/drawing/2014/main" id="{4755E997-3218-7D7C-AF30-81199016198F}"/>
                </a:ext>
              </a:extLst>
            </p:cNvPr>
            <p:cNvSpPr/>
            <p:nvPr/>
          </p:nvSpPr>
          <p:spPr>
            <a:xfrm>
              <a:off x="4603531" y="4959565"/>
              <a:ext cx="1492469" cy="613556"/>
            </a:xfrm>
            <a:prstGeom prst="can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600" dirty="0"/>
                <a:t>Auth</a:t>
              </a:r>
              <a:endParaRPr lang="en-US" sz="1600" dirty="0"/>
            </a:p>
          </p:txBody>
        </p:sp>
        <p:sp>
          <p:nvSpPr>
            <p:cNvPr id="55" name="Cylinder 54">
              <a:extLst>
                <a:ext uri="{FF2B5EF4-FFF2-40B4-BE49-F238E27FC236}">
                  <a16:creationId xmlns:a16="http://schemas.microsoft.com/office/drawing/2014/main" id="{FA584741-7408-8DDB-8851-7EFDE0C678BC}"/>
                </a:ext>
              </a:extLst>
            </p:cNvPr>
            <p:cNvSpPr/>
            <p:nvPr/>
          </p:nvSpPr>
          <p:spPr>
            <a:xfrm>
              <a:off x="4598752" y="4259311"/>
              <a:ext cx="1492469" cy="813238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400" dirty="0"/>
                <a:t>Tenant</a:t>
              </a:r>
              <a:br>
                <a:rPr lang="en-AU" sz="1400" dirty="0"/>
              </a:br>
              <a:r>
                <a:rPr lang="en-AU" sz="1400" dirty="0"/>
                <a:t>Hani Nayeem</a:t>
              </a:r>
              <a:endParaRPr lang="en-US" sz="1400" dirty="0"/>
            </a:p>
          </p:txBody>
        </p:sp>
      </p:grpSp>
      <p:sp>
        <p:nvSpPr>
          <p:cNvPr id="60" name="Right Brace 59">
            <a:extLst>
              <a:ext uri="{FF2B5EF4-FFF2-40B4-BE49-F238E27FC236}">
                <a16:creationId xmlns:a16="http://schemas.microsoft.com/office/drawing/2014/main" id="{79423DF3-6AD4-4C7E-F116-AAC6698AC38D}"/>
              </a:ext>
            </a:extLst>
          </p:cNvPr>
          <p:cNvSpPr/>
          <p:nvPr/>
        </p:nvSpPr>
        <p:spPr>
          <a:xfrm>
            <a:off x="8366234" y="2018917"/>
            <a:ext cx="325501" cy="2354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411E96B-EC20-CB4D-B6A8-415A3D2A7DC3}"/>
              </a:ext>
            </a:extLst>
          </p:cNvPr>
          <p:cNvCxnSpPr>
            <a:stCxn id="60" idx="1"/>
          </p:cNvCxnSpPr>
          <p:nvPr/>
        </p:nvCxnSpPr>
        <p:spPr>
          <a:xfrm flipV="1">
            <a:off x="8691735" y="2039938"/>
            <a:ext cx="1976265" cy="1156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A74B0FEA-AC14-8333-B6DA-23C70716ED55}"/>
              </a:ext>
            </a:extLst>
          </p:cNvPr>
          <p:cNvCxnSpPr>
            <a:stCxn id="4" idx="0"/>
            <a:endCxn id="17" idx="2"/>
          </p:cNvCxnSpPr>
          <p:nvPr/>
        </p:nvCxnSpPr>
        <p:spPr>
          <a:xfrm rot="5400000" flipH="1" flipV="1">
            <a:off x="2458551" y="319152"/>
            <a:ext cx="581352" cy="15471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6702BEF-7F12-7E72-17C4-4BB7D28A0903}"/>
              </a:ext>
            </a:extLst>
          </p:cNvPr>
          <p:cNvCxnSpPr>
            <a:stCxn id="6" idx="1"/>
            <a:endCxn id="17" idx="4"/>
          </p:cNvCxnSpPr>
          <p:nvPr/>
        </p:nvCxnSpPr>
        <p:spPr>
          <a:xfrm flipH="1">
            <a:off x="4750361" y="798790"/>
            <a:ext cx="1166648" cy="3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519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DD21041-9BF6-0D90-0159-1E9C2CC5D860}"/>
              </a:ext>
            </a:extLst>
          </p:cNvPr>
          <p:cNvSpPr/>
          <p:nvPr/>
        </p:nvSpPr>
        <p:spPr>
          <a:xfrm>
            <a:off x="271387" y="263345"/>
            <a:ext cx="10461812" cy="985498"/>
          </a:xfrm>
          <a:prstGeom prst="rect">
            <a:avLst/>
          </a:prstGeom>
          <a:solidFill>
            <a:schemeClr val="bg1">
              <a:lumMod val="85000"/>
              <a:alpha val="4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 err="1">
                <a:solidFill>
                  <a:schemeClr val="tx2"/>
                </a:solidFill>
              </a:rPr>
              <a:t>BestFit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30EC64-EF9A-BF48-4413-6599A8DCD81B}"/>
              </a:ext>
            </a:extLst>
          </p:cNvPr>
          <p:cNvSpPr/>
          <p:nvPr/>
        </p:nvSpPr>
        <p:spPr>
          <a:xfrm>
            <a:off x="340659" y="1650125"/>
            <a:ext cx="10461812" cy="2386166"/>
          </a:xfrm>
          <a:prstGeom prst="rect">
            <a:avLst/>
          </a:prstGeom>
          <a:solidFill>
            <a:schemeClr val="accent1">
              <a:alpha val="4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Tenant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33B4AA0-B3A0-58D3-C3A0-E4A3840A070D}"/>
              </a:ext>
            </a:extLst>
          </p:cNvPr>
          <p:cNvSpPr/>
          <p:nvPr/>
        </p:nvSpPr>
        <p:spPr>
          <a:xfrm>
            <a:off x="7943030" y="377953"/>
            <a:ext cx="2333296" cy="735726"/>
          </a:xfrm>
          <a:prstGeom prst="roundRect">
            <a:avLst/>
          </a:prstGeom>
          <a:solidFill>
            <a:schemeClr val="bg1">
              <a:lumMod val="85000"/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err="1">
                <a:solidFill>
                  <a:schemeClr val="tx1"/>
                </a:solidFill>
              </a:rPr>
              <a:t>BfsSystem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30A78B-1428-398F-0328-F280D80AE345}"/>
              </a:ext>
            </a:extLst>
          </p:cNvPr>
          <p:cNvSpPr/>
          <p:nvPr/>
        </p:nvSpPr>
        <p:spPr>
          <a:xfrm>
            <a:off x="8210884" y="1833058"/>
            <a:ext cx="1801334" cy="392906"/>
          </a:xfrm>
          <a:prstGeom prst="round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Application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260DF7-87C4-62F8-DD93-C902D73FE3BC}"/>
              </a:ext>
            </a:extLst>
          </p:cNvPr>
          <p:cNvSpPr/>
          <p:nvPr/>
        </p:nvSpPr>
        <p:spPr>
          <a:xfrm>
            <a:off x="5449754" y="1833058"/>
            <a:ext cx="1801334" cy="392906"/>
          </a:xfrm>
          <a:prstGeom prst="round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Role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E973F8-F2A6-E754-4836-B8AF676D186E}"/>
              </a:ext>
            </a:extLst>
          </p:cNvPr>
          <p:cNvSpPr/>
          <p:nvPr/>
        </p:nvSpPr>
        <p:spPr>
          <a:xfrm>
            <a:off x="2570434" y="1833058"/>
            <a:ext cx="1801334" cy="392906"/>
          </a:xfrm>
          <a:prstGeom prst="round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User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199673F-629D-5CAF-93C6-E8854CCD81D2}"/>
              </a:ext>
            </a:extLst>
          </p:cNvPr>
          <p:cNvSpPr/>
          <p:nvPr/>
        </p:nvSpPr>
        <p:spPr>
          <a:xfrm>
            <a:off x="5181900" y="388231"/>
            <a:ext cx="2333296" cy="735726"/>
          </a:xfrm>
          <a:prstGeom prst="roundRect">
            <a:avLst/>
          </a:prstGeom>
          <a:solidFill>
            <a:schemeClr val="bg1">
              <a:lumMod val="85000"/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err="1">
                <a:solidFill>
                  <a:schemeClr val="tx1"/>
                </a:solidFill>
              </a:rPr>
              <a:t>BfsTenant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410340E-C040-3537-89DE-8B5C317E0055}"/>
              </a:ext>
            </a:extLst>
          </p:cNvPr>
          <p:cNvSpPr/>
          <p:nvPr/>
        </p:nvSpPr>
        <p:spPr>
          <a:xfrm>
            <a:off x="2279495" y="388231"/>
            <a:ext cx="2333296" cy="735726"/>
          </a:xfrm>
          <a:prstGeom prst="roundRect">
            <a:avLst/>
          </a:prstGeom>
          <a:solidFill>
            <a:schemeClr val="bg1">
              <a:lumMod val="85000"/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err="1">
                <a:solidFill>
                  <a:schemeClr val="tx1"/>
                </a:solidFill>
              </a:rPr>
              <a:t>AspNetUser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2B2A66F-60C1-BAF0-54E7-7A86C4DB40A6}"/>
              </a:ext>
            </a:extLst>
          </p:cNvPr>
          <p:cNvCxnSpPr>
            <a:cxnSpLocks/>
            <a:stCxn id="26" idx="2"/>
            <a:endCxn id="11" idx="0"/>
          </p:cNvCxnSpPr>
          <p:nvPr/>
        </p:nvCxnSpPr>
        <p:spPr>
          <a:xfrm>
            <a:off x="3446143" y="1123957"/>
            <a:ext cx="24958" cy="709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0892785-EB90-D2EE-A1A2-AF2628C53879}"/>
              </a:ext>
            </a:extLst>
          </p:cNvPr>
          <p:cNvSpPr/>
          <p:nvPr/>
        </p:nvSpPr>
        <p:spPr>
          <a:xfrm>
            <a:off x="8210884" y="2583692"/>
            <a:ext cx="1801334" cy="392906"/>
          </a:xfrm>
          <a:prstGeom prst="roundRect">
            <a:avLst/>
          </a:prstGeom>
          <a:solidFill>
            <a:schemeClr val="accent2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Investor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A2B2F91-742F-0386-4935-6AFD88BBBFA6}"/>
              </a:ext>
            </a:extLst>
          </p:cNvPr>
          <p:cNvSpPr/>
          <p:nvPr/>
        </p:nvSpPr>
        <p:spPr>
          <a:xfrm>
            <a:off x="5449754" y="2583692"/>
            <a:ext cx="1801334" cy="392906"/>
          </a:xfrm>
          <a:prstGeom prst="roundRect">
            <a:avLst/>
          </a:prstGeom>
          <a:solidFill>
            <a:schemeClr val="accent2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Broker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433504C-268F-B8E1-9745-46D47F062BA1}"/>
              </a:ext>
            </a:extLst>
          </p:cNvPr>
          <p:cNvSpPr/>
          <p:nvPr/>
        </p:nvSpPr>
        <p:spPr>
          <a:xfrm>
            <a:off x="2570434" y="2583692"/>
            <a:ext cx="1801334" cy="392906"/>
          </a:xfrm>
          <a:prstGeom prst="roundRect">
            <a:avLst/>
          </a:prstGeom>
          <a:solidFill>
            <a:schemeClr val="accent2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err="1">
                <a:solidFill>
                  <a:schemeClr val="tx1"/>
                </a:solidFill>
              </a:rPr>
              <a:t>TradingRoom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ECB229A-5988-5AB3-BD89-C40E3C4E1E00}"/>
              </a:ext>
            </a:extLst>
          </p:cNvPr>
          <p:cNvSpPr/>
          <p:nvPr/>
        </p:nvSpPr>
        <p:spPr>
          <a:xfrm>
            <a:off x="8210884" y="3334326"/>
            <a:ext cx="1801334" cy="392906"/>
          </a:xfrm>
          <a:prstGeom prst="roundRect">
            <a:avLst/>
          </a:prstGeom>
          <a:solidFill>
            <a:srgbClr val="FF000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err="1">
                <a:solidFill>
                  <a:schemeClr val="tx1"/>
                </a:solidFill>
              </a:rPr>
              <a:t>MonthlyItem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173D389-5470-FEB4-A7DA-5DD0365B556B}"/>
              </a:ext>
            </a:extLst>
          </p:cNvPr>
          <p:cNvSpPr/>
          <p:nvPr/>
        </p:nvSpPr>
        <p:spPr>
          <a:xfrm>
            <a:off x="5449754" y="3334326"/>
            <a:ext cx="1801334" cy="392906"/>
          </a:xfrm>
          <a:prstGeom prst="roundRect">
            <a:avLst/>
          </a:prstGeom>
          <a:solidFill>
            <a:srgbClr val="FF000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err="1">
                <a:solidFill>
                  <a:schemeClr val="tx1"/>
                </a:solidFill>
              </a:rPr>
              <a:t>SalaryItem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A1C6CAD-7557-E477-9FB2-780D252A439F}"/>
              </a:ext>
            </a:extLst>
          </p:cNvPr>
          <p:cNvSpPr/>
          <p:nvPr/>
        </p:nvSpPr>
        <p:spPr>
          <a:xfrm>
            <a:off x="2570434" y="3334326"/>
            <a:ext cx="1801334" cy="392906"/>
          </a:xfrm>
          <a:prstGeom prst="roundRect">
            <a:avLst/>
          </a:prstGeom>
          <a:solidFill>
            <a:srgbClr val="FF000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Employee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2" name="Scroll: Vertical 51">
            <a:extLst>
              <a:ext uri="{FF2B5EF4-FFF2-40B4-BE49-F238E27FC236}">
                <a16:creationId xmlns:a16="http://schemas.microsoft.com/office/drawing/2014/main" id="{F6C59AFF-B60A-EC42-4110-AF09023C18A6}"/>
              </a:ext>
            </a:extLst>
          </p:cNvPr>
          <p:cNvSpPr/>
          <p:nvPr/>
        </p:nvSpPr>
        <p:spPr>
          <a:xfrm>
            <a:off x="1736436" y="1833058"/>
            <a:ext cx="443346" cy="392906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croll: Vertical 53">
            <a:extLst>
              <a:ext uri="{FF2B5EF4-FFF2-40B4-BE49-F238E27FC236}">
                <a16:creationId xmlns:a16="http://schemas.microsoft.com/office/drawing/2014/main" id="{E6A38B9F-D8A5-7A81-ACE1-58AAD136423B}"/>
              </a:ext>
            </a:extLst>
          </p:cNvPr>
          <p:cNvSpPr/>
          <p:nvPr/>
        </p:nvSpPr>
        <p:spPr>
          <a:xfrm>
            <a:off x="1789967" y="2542825"/>
            <a:ext cx="443346" cy="392906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Scroll: Vertical 55">
            <a:extLst>
              <a:ext uri="{FF2B5EF4-FFF2-40B4-BE49-F238E27FC236}">
                <a16:creationId xmlns:a16="http://schemas.microsoft.com/office/drawing/2014/main" id="{A3B48AED-67C8-DEFB-1743-FEDCB0885FE7}"/>
              </a:ext>
            </a:extLst>
          </p:cNvPr>
          <p:cNvSpPr/>
          <p:nvPr/>
        </p:nvSpPr>
        <p:spPr>
          <a:xfrm>
            <a:off x="1789967" y="3334326"/>
            <a:ext cx="443346" cy="392906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Scroll: Vertical 57">
            <a:extLst>
              <a:ext uri="{FF2B5EF4-FFF2-40B4-BE49-F238E27FC236}">
                <a16:creationId xmlns:a16="http://schemas.microsoft.com/office/drawing/2014/main" id="{640DC75B-08C6-212C-1AAE-126C11DB511C}"/>
              </a:ext>
            </a:extLst>
          </p:cNvPr>
          <p:cNvSpPr/>
          <p:nvPr/>
        </p:nvSpPr>
        <p:spPr>
          <a:xfrm>
            <a:off x="90475" y="4513354"/>
            <a:ext cx="2978965" cy="2210719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err="1"/>
              <a:t>MenuItem</a:t>
            </a:r>
            <a:endParaRPr lang="en-US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F04ECC2-2618-4660-9F5B-A1B884E4CD4F}"/>
              </a:ext>
            </a:extLst>
          </p:cNvPr>
          <p:cNvSpPr/>
          <p:nvPr/>
        </p:nvSpPr>
        <p:spPr>
          <a:xfrm>
            <a:off x="4081578" y="5537590"/>
            <a:ext cx="1220394" cy="392906"/>
          </a:xfrm>
          <a:prstGeom prst="round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Application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541E2CE8-0378-5B6E-D4E0-9F176614F40E}"/>
              </a:ext>
            </a:extLst>
          </p:cNvPr>
          <p:cNvSpPr/>
          <p:nvPr/>
        </p:nvSpPr>
        <p:spPr>
          <a:xfrm>
            <a:off x="2823268" y="5537590"/>
            <a:ext cx="1220394" cy="392906"/>
          </a:xfrm>
          <a:prstGeom prst="round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Role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64" name="Graphic 63" descr="Programmer male outline">
            <a:extLst>
              <a:ext uri="{FF2B5EF4-FFF2-40B4-BE49-F238E27FC236}">
                <a16:creationId xmlns:a16="http://schemas.microsoft.com/office/drawing/2014/main" id="{CC7F26EA-1F0D-F9E2-3B28-3240CBC0AA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6110" y="4293158"/>
            <a:ext cx="2255545" cy="2255545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BB1E8C6-ACD2-D8C8-000F-C8EF8B1241FC}"/>
              </a:ext>
            </a:extLst>
          </p:cNvPr>
          <p:cNvSpPr/>
          <p:nvPr/>
        </p:nvSpPr>
        <p:spPr>
          <a:xfrm>
            <a:off x="8481989" y="5537590"/>
            <a:ext cx="1220394" cy="392906"/>
          </a:xfrm>
          <a:prstGeom prst="round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Application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8DA47CAB-1028-4D11-BDCA-3953B50F9B18}"/>
              </a:ext>
            </a:extLst>
          </p:cNvPr>
          <p:cNvSpPr/>
          <p:nvPr/>
        </p:nvSpPr>
        <p:spPr>
          <a:xfrm>
            <a:off x="7223679" y="5537590"/>
            <a:ext cx="1220394" cy="392906"/>
          </a:xfrm>
          <a:prstGeom prst="round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Role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068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E8DBFF-2419-7498-5EEF-89C7C906A03C}"/>
              </a:ext>
            </a:extLst>
          </p:cNvPr>
          <p:cNvSpPr txBox="1"/>
          <p:nvPr/>
        </p:nvSpPr>
        <p:spPr>
          <a:xfrm>
            <a:off x="188259" y="376518"/>
            <a:ext cx="1187823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Generate Database Structure</a:t>
            </a:r>
            <a:r>
              <a:rPr lang="en-AU" sz="1400" dirty="0"/>
              <a:t>.</a:t>
            </a:r>
            <a:br>
              <a:rPr lang="en-AU" sz="1400" dirty="0"/>
            </a:br>
            <a:r>
              <a:rPr lang="en-AU" sz="1400" dirty="0"/>
              <a:t>------------------------------------------- </a:t>
            </a:r>
            <a:br>
              <a:rPr lang="en-AU" sz="1400" dirty="0"/>
            </a:br>
            <a:r>
              <a:rPr lang="en-AU" sz="1400" dirty="0"/>
              <a:t>When creating migration script for a system :</a:t>
            </a:r>
          </a:p>
          <a:p>
            <a:r>
              <a:rPr lang="en-AU" sz="1400" dirty="0"/>
              <a:t>1- go to </a:t>
            </a:r>
            <a:r>
              <a:rPr lang="en-AU" sz="1400" dirty="0" err="1"/>
              <a:t>appsettings.development</a:t>
            </a:r>
            <a:r>
              <a:rPr lang="en-AU" sz="1400" dirty="0"/>
              <a:t>.</a:t>
            </a:r>
          </a:p>
          <a:p>
            <a:r>
              <a:rPr lang="en-AU" sz="1400" dirty="0"/>
              <a:t>2-Set </a:t>
            </a:r>
            <a:r>
              <a:rPr lang="en-AU" sz="1400" dirty="0" err="1"/>
              <a:t>isMigrationEnabled</a:t>
            </a:r>
            <a:r>
              <a:rPr lang="en-AU" sz="1400" dirty="0"/>
              <a:t> = true.</a:t>
            </a:r>
          </a:p>
          <a:p>
            <a:r>
              <a:rPr lang="en-AU" sz="1400" dirty="0"/>
              <a:t>3- open </a:t>
            </a:r>
            <a:r>
              <a:rPr lang="en-AU" sz="1400" dirty="0" err="1"/>
              <a:t>nuget</a:t>
            </a:r>
            <a:r>
              <a:rPr lang="en-AU" sz="1400" dirty="0"/>
              <a:t> package console.</a:t>
            </a:r>
          </a:p>
          <a:p>
            <a:r>
              <a:rPr lang="en-AU" sz="1400" dirty="0"/>
              <a:t>4-choose </a:t>
            </a:r>
            <a:r>
              <a:rPr lang="en-AU" sz="1400" dirty="0" err="1"/>
              <a:t>system.data</a:t>
            </a:r>
            <a:r>
              <a:rPr lang="en-AU" sz="1400" dirty="0"/>
              <a:t> in console.</a:t>
            </a:r>
          </a:p>
          <a:p>
            <a:r>
              <a:rPr lang="en-AU" sz="1400" dirty="0"/>
              <a:t>5- Write command </a:t>
            </a:r>
            <a:r>
              <a:rPr lang="en-AU" sz="1400" dirty="0">
                <a:solidFill>
                  <a:srgbClr val="C00000"/>
                </a:solidFill>
              </a:rPr>
              <a:t>add-migration (</a:t>
            </a:r>
            <a:r>
              <a:rPr lang="en-AU" sz="1400" dirty="0" err="1">
                <a:solidFill>
                  <a:srgbClr val="C00000"/>
                </a:solidFill>
              </a:rPr>
              <a:t>migrationScriptName</a:t>
            </a:r>
            <a:r>
              <a:rPr lang="en-AU" sz="1400" dirty="0">
                <a:solidFill>
                  <a:srgbClr val="C00000"/>
                </a:solidFill>
              </a:rPr>
              <a:t>) </a:t>
            </a:r>
            <a:r>
              <a:rPr lang="en-AU" sz="1400" dirty="0"/>
              <a:t>for example </a:t>
            </a:r>
            <a:r>
              <a:rPr lang="en-AU" sz="1400" dirty="0" err="1"/>
              <a:t>init_stockEx</a:t>
            </a:r>
            <a:r>
              <a:rPr lang="en-AU" sz="1400" dirty="0"/>
              <a:t>.</a:t>
            </a:r>
          </a:p>
          <a:p>
            <a:r>
              <a:rPr lang="en-AU" sz="1400" dirty="0"/>
              <a:t>6- write command </a:t>
            </a:r>
            <a:r>
              <a:rPr lang="en-AU" sz="1400" dirty="0">
                <a:solidFill>
                  <a:srgbClr val="C00000"/>
                </a:solidFill>
              </a:rPr>
              <a:t>update-database</a:t>
            </a:r>
            <a:r>
              <a:rPr lang="en-AU" sz="1400" dirty="0"/>
              <a:t>. Which applies to the hardcoded connection (migration connection)</a:t>
            </a:r>
          </a:p>
          <a:p>
            <a:r>
              <a:rPr lang="en-AU" sz="1400" dirty="0"/>
              <a:t>7- migration connection only used to keep track of migration scripts and database structure.</a:t>
            </a:r>
          </a:p>
          <a:p>
            <a:r>
              <a:rPr lang="en-AU" sz="1400" dirty="0"/>
              <a:t>8- after running the above </a:t>
            </a:r>
            <a:r>
              <a:rPr lang="en-AU" sz="1400" dirty="0" err="1"/>
              <a:t>command.run</a:t>
            </a:r>
            <a:r>
              <a:rPr lang="en-AU" sz="1400" dirty="0"/>
              <a:t> Api. </a:t>
            </a:r>
            <a:r>
              <a:rPr lang="en-AU" sz="1400" dirty="0">
                <a:solidFill>
                  <a:srgbClr val="C00000"/>
                </a:solidFill>
              </a:rPr>
              <a:t>Run admin \ migrate </a:t>
            </a:r>
            <a:br>
              <a:rPr lang="en-AU" sz="1400" dirty="0"/>
            </a:br>
            <a:r>
              <a:rPr lang="en-AU" sz="1400" dirty="0"/>
              <a:t>9- go to </a:t>
            </a:r>
            <a:r>
              <a:rPr lang="en-AU" sz="1400" dirty="0" err="1"/>
              <a:t>appsettings.development</a:t>
            </a:r>
            <a:r>
              <a:rPr lang="en-AU" sz="1400" dirty="0"/>
              <a:t>.</a:t>
            </a:r>
          </a:p>
          <a:p>
            <a:r>
              <a:rPr lang="en-AU" sz="1400" dirty="0"/>
              <a:t>10-Set </a:t>
            </a:r>
            <a:r>
              <a:rPr lang="en-AU" sz="1400" dirty="0" err="1"/>
              <a:t>isMigrationEnabled</a:t>
            </a:r>
            <a:r>
              <a:rPr lang="en-AU" sz="1400" dirty="0"/>
              <a:t> = false.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DDE2B-283A-57EE-EF72-3C7FB58D76F6}"/>
              </a:ext>
            </a:extLst>
          </p:cNvPr>
          <p:cNvSpPr txBox="1"/>
          <p:nvPr/>
        </p:nvSpPr>
        <p:spPr>
          <a:xfrm>
            <a:off x="188258" y="3588383"/>
            <a:ext cx="1187823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>
                <a:solidFill>
                  <a:srgbClr val="C00000"/>
                </a:solidFill>
              </a:rPr>
              <a:t>New Tenant</a:t>
            </a:r>
            <a:r>
              <a:rPr lang="en-AU" sz="1400" dirty="0"/>
              <a:t>:</a:t>
            </a:r>
            <a:br>
              <a:rPr lang="en-AU" sz="1400" dirty="0"/>
            </a:br>
            <a:r>
              <a:rPr lang="en-AU" sz="1400" b="1" dirty="0"/>
              <a:t>Definitions</a:t>
            </a:r>
            <a:br>
              <a:rPr lang="en-AU" sz="1400" dirty="0"/>
            </a:br>
            <a:r>
              <a:rPr lang="en-AU" sz="1400" dirty="0"/>
              <a:t>- Run </a:t>
            </a:r>
            <a:r>
              <a:rPr lang="en-AU" sz="1400" dirty="0" err="1"/>
              <a:t>Aspire.App</a:t>
            </a:r>
            <a:r>
              <a:rPr lang="en-AU" sz="1400" dirty="0"/>
              <a:t>.</a:t>
            </a:r>
          </a:p>
          <a:p>
            <a:pPr marL="285750" indent="-285750">
              <a:buFontTx/>
              <a:buChar char="-"/>
            </a:pPr>
            <a:r>
              <a:rPr lang="en-AU" sz="1400" dirty="0"/>
              <a:t>Select Tenant Amgad</a:t>
            </a:r>
            <a:br>
              <a:rPr lang="en-AU" sz="1400" dirty="0"/>
            </a:br>
            <a:r>
              <a:rPr lang="en-AU" sz="1400" dirty="0"/>
              <a:t>- Select System Master</a:t>
            </a:r>
            <a:br>
              <a:rPr lang="en-AU" sz="1400" dirty="0"/>
            </a:br>
            <a:r>
              <a:rPr lang="en-AU" sz="1400" dirty="0"/>
              <a:t>- Select Basic \ Tenants \ New Tenant</a:t>
            </a:r>
            <a:br>
              <a:rPr lang="en-AU" sz="1400" dirty="0"/>
            </a:br>
            <a:r>
              <a:rPr lang="en-AU" sz="1400" dirty="0"/>
              <a:t>- Define </a:t>
            </a:r>
            <a:r>
              <a:rPr lang="en-AU" sz="1400" dirty="0" err="1"/>
              <a:t>Tenant.DatabaseConnection</a:t>
            </a:r>
            <a:br>
              <a:rPr lang="en-AU" sz="1400" dirty="0"/>
            </a:br>
            <a:r>
              <a:rPr lang="en-AU" sz="1400" dirty="0"/>
              <a:t>- Define Systems under this tenant.</a:t>
            </a:r>
            <a:br>
              <a:rPr lang="en-AU" sz="1400" dirty="0"/>
            </a:br>
            <a:r>
              <a:rPr lang="en-AU" sz="1400" dirty="0"/>
              <a:t>Then</a:t>
            </a:r>
            <a:br>
              <a:rPr lang="en-AU" sz="1400" dirty="0"/>
            </a:br>
            <a:r>
              <a:rPr lang="en-AU" sz="1400" b="1" dirty="0"/>
              <a:t>Generate Database Structure. For each System of </a:t>
            </a:r>
            <a:r>
              <a:rPr lang="en-AU" sz="1400" b="1" dirty="0" err="1"/>
              <a:t>BestFit</a:t>
            </a:r>
            <a:r>
              <a:rPr lang="en-AU" sz="1400" b="1" dirty="0"/>
              <a:t> Systems (e.g. Auth Api, </a:t>
            </a:r>
            <a:r>
              <a:rPr lang="en-AU" sz="1400" b="1" dirty="0" err="1"/>
              <a:t>StockEx</a:t>
            </a:r>
            <a:r>
              <a:rPr lang="en-AU" sz="1400" b="1" dirty="0"/>
              <a:t> Api, Payroll Api, ..)</a:t>
            </a:r>
          </a:p>
          <a:p>
            <a:pPr marL="285750" indent="-285750">
              <a:buFontTx/>
              <a:buChar char="-"/>
            </a:pPr>
            <a:r>
              <a:rPr lang="en-AU" sz="1400" b="1" dirty="0"/>
              <a:t>For each system we do the </a:t>
            </a:r>
            <a:r>
              <a:rPr lang="en-AU" sz="1400" b="1"/>
              <a:t>above steps (1, 2 , 8 , 9 , 10)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99035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Bar graph with upward trend outline">
            <a:extLst>
              <a:ext uri="{FF2B5EF4-FFF2-40B4-BE49-F238E27FC236}">
                <a16:creationId xmlns:a16="http://schemas.microsoft.com/office/drawing/2014/main" id="{9319D6AB-12E8-1C6C-C8CD-D00F53FDE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750" y="949706"/>
            <a:ext cx="914400" cy="914400"/>
          </a:xfrm>
          <a:prstGeom prst="rect">
            <a:avLst/>
          </a:prstGeom>
        </p:spPr>
      </p:pic>
      <p:pic>
        <p:nvPicPr>
          <p:cNvPr id="9" name="Graphic 8" descr="Safe outline">
            <a:extLst>
              <a:ext uri="{FF2B5EF4-FFF2-40B4-BE49-F238E27FC236}">
                <a16:creationId xmlns:a16="http://schemas.microsoft.com/office/drawing/2014/main" id="{3B13AFE1-EAA2-53CE-3AFF-4DF00A4781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91" y="949706"/>
            <a:ext cx="914400" cy="914400"/>
          </a:xfrm>
          <a:prstGeom prst="rect">
            <a:avLst/>
          </a:prstGeom>
        </p:spPr>
      </p:pic>
      <p:pic>
        <p:nvPicPr>
          <p:cNvPr id="11" name="Graphic 10" descr="Money outline">
            <a:extLst>
              <a:ext uri="{FF2B5EF4-FFF2-40B4-BE49-F238E27FC236}">
                <a16:creationId xmlns:a16="http://schemas.microsoft.com/office/drawing/2014/main" id="{250D3CC7-C146-7851-DA01-3218FD0DC7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843" y="5208095"/>
            <a:ext cx="914400" cy="914400"/>
          </a:xfrm>
          <a:prstGeom prst="rect">
            <a:avLst/>
          </a:prstGeom>
        </p:spPr>
      </p:pic>
      <p:pic>
        <p:nvPicPr>
          <p:cNvPr id="13" name="Graphic 12" descr="Box trolley outline">
            <a:extLst>
              <a:ext uri="{FF2B5EF4-FFF2-40B4-BE49-F238E27FC236}">
                <a16:creationId xmlns:a16="http://schemas.microsoft.com/office/drawing/2014/main" id="{B7677CDD-FC0D-E0CC-FA3D-071CE59112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9427" y="3472105"/>
            <a:ext cx="914400" cy="914400"/>
          </a:xfrm>
          <a:prstGeom prst="rect">
            <a:avLst/>
          </a:prstGeom>
        </p:spPr>
      </p:pic>
      <p:pic>
        <p:nvPicPr>
          <p:cNvPr id="19" name="Graphic 18" descr="Gears outline">
            <a:extLst>
              <a:ext uri="{FF2B5EF4-FFF2-40B4-BE49-F238E27FC236}">
                <a16:creationId xmlns:a16="http://schemas.microsoft.com/office/drawing/2014/main" id="{0FE9C919-D0B5-6EBD-13D6-39F63B6D5B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382" y="3316888"/>
            <a:ext cx="914400" cy="914400"/>
          </a:xfrm>
          <a:prstGeom prst="rect">
            <a:avLst/>
          </a:prstGeom>
        </p:spPr>
      </p:pic>
      <p:pic>
        <p:nvPicPr>
          <p:cNvPr id="45" name="Graphic 44" descr="Programmer male outline">
            <a:extLst>
              <a:ext uri="{FF2B5EF4-FFF2-40B4-BE49-F238E27FC236}">
                <a16:creationId xmlns:a16="http://schemas.microsoft.com/office/drawing/2014/main" id="{AD64E529-55A1-89E6-614C-32967B57EE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7313" y="2443779"/>
            <a:ext cx="914400" cy="914400"/>
          </a:xfrm>
          <a:prstGeom prst="rect">
            <a:avLst/>
          </a:prstGeom>
        </p:spPr>
      </p:pic>
      <p:pic>
        <p:nvPicPr>
          <p:cNvPr id="47" name="Graphic 46" descr="Programmer female outline">
            <a:extLst>
              <a:ext uri="{FF2B5EF4-FFF2-40B4-BE49-F238E27FC236}">
                <a16:creationId xmlns:a16="http://schemas.microsoft.com/office/drawing/2014/main" id="{22879E9B-440C-4380-CFB4-1826E3C45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04556" y="2402488"/>
            <a:ext cx="914400" cy="914400"/>
          </a:xfrm>
          <a:prstGeom prst="rect">
            <a:avLst/>
          </a:prstGeom>
        </p:spPr>
      </p:pic>
      <p:pic>
        <p:nvPicPr>
          <p:cNvPr id="49" name="Graphic 48" descr="Cloud Computing outline">
            <a:extLst>
              <a:ext uri="{FF2B5EF4-FFF2-40B4-BE49-F238E27FC236}">
                <a16:creationId xmlns:a16="http://schemas.microsoft.com/office/drawing/2014/main" id="{DF1251D9-CCFF-EE79-D051-F99B1DC326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57349" y="1099895"/>
            <a:ext cx="914400" cy="914400"/>
          </a:xfrm>
          <a:prstGeom prst="rect">
            <a:avLst/>
          </a:prstGeom>
        </p:spPr>
      </p:pic>
      <p:pic>
        <p:nvPicPr>
          <p:cNvPr id="51" name="Graphic 50" descr="Laptop outline">
            <a:extLst>
              <a:ext uri="{FF2B5EF4-FFF2-40B4-BE49-F238E27FC236}">
                <a16:creationId xmlns:a16="http://schemas.microsoft.com/office/drawing/2014/main" id="{F812DC0F-948E-2D52-41C0-0C3B22E4BB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08241" y="4278893"/>
            <a:ext cx="914400" cy="914400"/>
          </a:xfrm>
          <a:prstGeom prst="rect">
            <a:avLst/>
          </a:prstGeom>
        </p:spPr>
      </p:pic>
      <p:pic>
        <p:nvPicPr>
          <p:cNvPr id="53" name="Graphic 52" descr="Hierarchy outline">
            <a:extLst>
              <a:ext uri="{FF2B5EF4-FFF2-40B4-BE49-F238E27FC236}">
                <a16:creationId xmlns:a16="http://schemas.microsoft.com/office/drawing/2014/main" id="{4B7FD792-AC35-D53F-D1A5-E0845F6DC2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32142" y="5531803"/>
            <a:ext cx="914400" cy="914400"/>
          </a:xfrm>
          <a:prstGeom prst="rect">
            <a:avLst/>
          </a:prstGeom>
        </p:spPr>
      </p:pic>
      <p:pic>
        <p:nvPicPr>
          <p:cNvPr id="55" name="Graphic 54" descr="Upward trend outline">
            <a:extLst>
              <a:ext uri="{FF2B5EF4-FFF2-40B4-BE49-F238E27FC236}">
                <a16:creationId xmlns:a16="http://schemas.microsoft.com/office/drawing/2014/main" id="{2A8DDF75-7A9D-F0CE-0A36-421A4E64C1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38800" y="5075487"/>
            <a:ext cx="914400" cy="914400"/>
          </a:xfrm>
          <a:prstGeom prst="rect">
            <a:avLst/>
          </a:prstGeom>
        </p:spPr>
      </p:pic>
      <p:pic>
        <p:nvPicPr>
          <p:cNvPr id="59" name="Graphic 58" descr="Office worker female outline">
            <a:extLst>
              <a:ext uri="{FF2B5EF4-FFF2-40B4-BE49-F238E27FC236}">
                <a16:creationId xmlns:a16="http://schemas.microsoft.com/office/drawing/2014/main" id="{E6DBE0BD-218F-0999-4E32-0FAE8E505A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55160" y="2402488"/>
            <a:ext cx="914400" cy="914400"/>
          </a:xfrm>
          <a:prstGeom prst="rect">
            <a:avLst/>
          </a:prstGeom>
        </p:spPr>
      </p:pic>
      <p:pic>
        <p:nvPicPr>
          <p:cNvPr id="61" name="Graphic 60" descr="Office worker male outline">
            <a:extLst>
              <a:ext uri="{FF2B5EF4-FFF2-40B4-BE49-F238E27FC236}">
                <a16:creationId xmlns:a16="http://schemas.microsoft.com/office/drawing/2014/main" id="{CF2C3399-2123-9D89-8394-24C29FB30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80158" y="2528978"/>
            <a:ext cx="914400" cy="914400"/>
          </a:xfrm>
          <a:prstGeom prst="rect">
            <a:avLst/>
          </a:prstGeom>
        </p:spPr>
      </p:pic>
      <p:pic>
        <p:nvPicPr>
          <p:cNvPr id="65" name="Graphic 64" descr="Medical outline">
            <a:extLst>
              <a:ext uri="{FF2B5EF4-FFF2-40B4-BE49-F238E27FC236}">
                <a16:creationId xmlns:a16="http://schemas.microsoft.com/office/drawing/2014/main" id="{3F13009F-07B0-B4A4-58BE-6FC90C6702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33379" y="5222809"/>
            <a:ext cx="914400" cy="914400"/>
          </a:xfrm>
          <a:prstGeom prst="rect">
            <a:avLst/>
          </a:prstGeom>
        </p:spPr>
      </p:pic>
      <p:pic>
        <p:nvPicPr>
          <p:cNvPr id="67" name="Graphic 66" descr="Stethoscope outline">
            <a:extLst>
              <a:ext uri="{FF2B5EF4-FFF2-40B4-BE49-F238E27FC236}">
                <a16:creationId xmlns:a16="http://schemas.microsoft.com/office/drawing/2014/main" id="{64593343-9EA8-471D-1020-A6D5FDBF66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67488" y="5222809"/>
            <a:ext cx="914400" cy="914400"/>
          </a:xfrm>
          <a:prstGeom prst="rect">
            <a:avLst/>
          </a:prstGeom>
        </p:spPr>
      </p:pic>
      <p:pic>
        <p:nvPicPr>
          <p:cNvPr id="69" name="Graphic 68" descr="Clipboard Checked outline">
            <a:extLst>
              <a:ext uri="{FF2B5EF4-FFF2-40B4-BE49-F238E27FC236}">
                <a16:creationId xmlns:a16="http://schemas.microsoft.com/office/drawing/2014/main" id="{68CD3164-0AD3-1A01-46AE-01EEB305DA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288570" y="949706"/>
            <a:ext cx="914400" cy="914400"/>
          </a:xfrm>
          <a:prstGeom prst="rect">
            <a:avLst/>
          </a:prstGeom>
        </p:spPr>
      </p:pic>
      <p:pic>
        <p:nvPicPr>
          <p:cNvPr id="71" name="Graphic 70" descr="Handshake outline">
            <a:extLst>
              <a:ext uri="{FF2B5EF4-FFF2-40B4-BE49-F238E27FC236}">
                <a16:creationId xmlns:a16="http://schemas.microsoft.com/office/drawing/2014/main" id="{D13D95FE-039A-E0B9-A748-C09E8EE2C1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606082" y="4561749"/>
            <a:ext cx="914400" cy="914400"/>
          </a:xfrm>
          <a:prstGeom prst="rect">
            <a:avLst/>
          </a:prstGeom>
        </p:spPr>
      </p:pic>
      <p:pic>
        <p:nvPicPr>
          <p:cNvPr id="73" name="Graphic 72" descr="Monthly calendar outline">
            <a:extLst>
              <a:ext uri="{FF2B5EF4-FFF2-40B4-BE49-F238E27FC236}">
                <a16:creationId xmlns:a16="http://schemas.microsoft.com/office/drawing/2014/main" id="{662344A3-E292-490A-550A-C8CF827CB0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012304" y="5836200"/>
            <a:ext cx="914400" cy="914400"/>
          </a:xfrm>
          <a:prstGeom prst="rect">
            <a:avLst/>
          </a:prstGeom>
        </p:spPr>
      </p:pic>
      <p:pic>
        <p:nvPicPr>
          <p:cNvPr id="75" name="Graphic 74" descr="Unlock outline">
            <a:extLst>
              <a:ext uri="{FF2B5EF4-FFF2-40B4-BE49-F238E27FC236}">
                <a16:creationId xmlns:a16="http://schemas.microsoft.com/office/drawing/2014/main" id="{468485E0-3E41-21AE-7402-01D70A34C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28410" y="3647349"/>
            <a:ext cx="914400" cy="914400"/>
          </a:xfrm>
          <a:prstGeom prst="rect">
            <a:avLst/>
          </a:prstGeom>
        </p:spPr>
      </p:pic>
      <p:pic>
        <p:nvPicPr>
          <p:cNvPr id="77" name="Graphic 76" descr="Lock outline">
            <a:extLst>
              <a:ext uri="{FF2B5EF4-FFF2-40B4-BE49-F238E27FC236}">
                <a16:creationId xmlns:a16="http://schemas.microsoft.com/office/drawing/2014/main" id="{10871F3B-2629-C43B-68B6-9CAFC5CE6C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77394" y="38862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265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>
            <a:extLst>
              <a:ext uri="{FF2B5EF4-FFF2-40B4-BE49-F238E27FC236}">
                <a16:creationId xmlns:a16="http://schemas.microsoft.com/office/drawing/2014/main" id="{231CCD0D-C8D9-9647-5BA4-1BA74972F3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2245" y="0"/>
            <a:ext cx="7535732" cy="6858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0601813-09BB-43EE-B72C-DEC8D1E1FE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268" y="0"/>
            <a:ext cx="75357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776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B43AD-031E-AABA-87B7-0DFE983B7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Safe outline">
            <a:extLst>
              <a:ext uri="{FF2B5EF4-FFF2-40B4-BE49-F238E27FC236}">
                <a16:creationId xmlns:a16="http://schemas.microsoft.com/office/drawing/2014/main" id="{9433A916-5DDC-A8B9-349B-FDD3B154D4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23829" y="-1102600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45" name="Graphic 44" descr="Programmer male outline">
            <a:extLst>
              <a:ext uri="{FF2B5EF4-FFF2-40B4-BE49-F238E27FC236}">
                <a16:creationId xmlns:a16="http://schemas.microsoft.com/office/drawing/2014/main" id="{7245DDCE-7488-DDC0-0D80-0F12ADADB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5536" y="-1351460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49" name="Graphic 48" descr="Cloud Computing outline">
            <a:extLst>
              <a:ext uri="{FF2B5EF4-FFF2-40B4-BE49-F238E27FC236}">
                <a16:creationId xmlns:a16="http://schemas.microsoft.com/office/drawing/2014/main" id="{8A1C7369-C3F1-0757-0639-917AE63CDF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7349" y="1099895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55" name="Graphic 54" descr="Upward trend outline">
            <a:extLst>
              <a:ext uri="{FF2B5EF4-FFF2-40B4-BE49-F238E27FC236}">
                <a16:creationId xmlns:a16="http://schemas.microsoft.com/office/drawing/2014/main" id="{CEC7D6D7-AB60-776B-D50E-4B17BE18AD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95411" y="2849644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59" name="Graphic 58" descr="Office worker female outline">
            <a:extLst>
              <a:ext uri="{FF2B5EF4-FFF2-40B4-BE49-F238E27FC236}">
                <a16:creationId xmlns:a16="http://schemas.microsoft.com/office/drawing/2014/main" id="{95E01869-BDAB-36E4-A246-0561A5C376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02512" y="2789805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65" name="Graphic 64" descr="Medical outline">
            <a:extLst>
              <a:ext uri="{FF2B5EF4-FFF2-40B4-BE49-F238E27FC236}">
                <a16:creationId xmlns:a16="http://schemas.microsoft.com/office/drawing/2014/main" id="{29F65D68-DD71-AB6F-36A0-B587A35FEF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3499" y="-450647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69" name="Graphic 68" descr="Clipboard Checked outline">
            <a:extLst>
              <a:ext uri="{FF2B5EF4-FFF2-40B4-BE49-F238E27FC236}">
                <a16:creationId xmlns:a16="http://schemas.microsoft.com/office/drawing/2014/main" id="{EF76AA7E-427F-8C93-280B-CB05CDFD37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745043" y="2454443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73" name="Graphic 72" descr="Monthly calendar outline">
            <a:extLst>
              <a:ext uri="{FF2B5EF4-FFF2-40B4-BE49-F238E27FC236}">
                <a16:creationId xmlns:a16="http://schemas.microsoft.com/office/drawing/2014/main" id="{7BD280F1-CFC6-88C1-91A8-D1DA4C076B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85058" y="881385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573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Bar graph with upward trend outline">
            <a:extLst>
              <a:ext uri="{FF2B5EF4-FFF2-40B4-BE49-F238E27FC236}">
                <a16:creationId xmlns:a16="http://schemas.microsoft.com/office/drawing/2014/main" id="{FEE85814-5306-11DC-F261-8BFABBBAC3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3631" b="-3631"/>
          <a:stretch>
            <a:fillRect/>
          </a:stretch>
        </p:blipFill>
        <p:spPr>
          <a:xfrm>
            <a:off x="6791264" y="1165420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tx2">
                <a:lumMod val="75000"/>
                <a:lumOff val="25000"/>
                <a:alpha val="40000"/>
              </a:scheme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0FA68DF-1218-FC8B-D48B-91945C08D13D}"/>
              </a:ext>
            </a:extLst>
          </p:cNvPr>
          <p:cNvSpPr txBox="1"/>
          <p:nvPr/>
        </p:nvSpPr>
        <p:spPr>
          <a:xfrm>
            <a:off x="300789" y="0"/>
            <a:ext cx="449981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For Systems</a:t>
            </a:r>
          </a:p>
          <a:p>
            <a:r>
              <a:rPr lang="en-AU" dirty="0"/>
              <a:t>-------------------</a:t>
            </a:r>
          </a:p>
          <a:p>
            <a:r>
              <a:rPr lang="en-AU" dirty="0"/>
              <a:t>Format Graphics:</a:t>
            </a:r>
            <a:br>
              <a:rPr lang="en-AU" dirty="0"/>
            </a:br>
            <a:r>
              <a:rPr lang="en-AU" dirty="0"/>
              <a:t>- Fill \ Transparency = 10%</a:t>
            </a:r>
          </a:p>
          <a:p>
            <a:pPr marL="285750" indent="-285750">
              <a:buFontTx/>
              <a:buChar char="-"/>
            </a:pPr>
            <a:r>
              <a:rPr lang="en-AU" dirty="0"/>
              <a:t>Fill \ </a:t>
            </a:r>
            <a:r>
              <a:rPr lang="en-AU" dirty="0" err="1"/>
              <a:t>color</a:t>
            </a:r>
            <a:r>
              <a:rPr lang="en-AU" dirty="0"/>
              <a:t> = #215F9A</a:t>
            </a:r>
            <a:br>
              <a:rPr lang="en-AU" dirty="0"/>
            </a:br>
            <a:r>
              <a:rPr lang="en-AU" dirty="0"/>
              <a:t>- size </a:t>
            </a:r>
            <a:r>
              <a:rPr lang="en-AU" dirty="0" err="1"/>
              <a:t>hight</a:t>
            </a:r>
            <a:r>
              <a:rPr lang="en-AU" dirty="0"/>
              <a:t>, width = 5.5“</a:t>
            </a:r>
          </a:p>
          <a:p>
            <a:endParaRPr lang="en-AU" dirty="0"/>
          </a:p>
          <a:p>
            <a:r>
              <a:rPr lang="en-AU" dirty="0"/>
              <a:t>shadow: </a:t>
            </a:r>
          </a:p>
          <a:p>
            <a:pPr marL="285750" indent="-285750">
              <a:buFontTx/>
              <a:buChar char="-"/>
            </a:pPr>
            <a:r>
              <a:rPr lang="en-AU" dirty="0"/>
              <a:t>preset = outer</a:t>
            </a:r>
          </a:p>
          <a:p>
            <a:pPr marL="285750" indent="-285750">
              <a:buFontTx/>
              <a:buChar char="-"/>
            </a:pPr>
            <a:r>
              <a:rPr lang="en-AU" dirty="0"/>
              <a:t> </a:t>
            </a:r>
            <a:r>
              <a:rPr lang="en-AU" dirty="0" err="1"/>
              <a:t>color</a:t>
            </a:r>
            <a:r>
              <a:rPr lang="en-AU" dirty="0"/>
              <a:t> = same </a:t>
            </a:r>
            <a:r>
              <a:rPr lang="en-AU" dirty="0" err="1"/>
              <a:t>color</a:t>
            </a:r>
            <a:r>
              <a:rPr lang="en-AU" dirty="0"/>
              <a:t> like fill </a:t>
            </a:r>
            <a:r>
              <a:rPr lang="en-AU" dirty="0" err="1"/>
              <a:t>color</a:t>
            </a:r>
            <a:endParaRPr lang="en-AU" dirty="0"/>
          </a:p>
          <a:p>
            <a:pPr marL="285750" indent="-285750">
              <a:buFontTx/>
              <a:buChar char="-"/>
            </a:pPr>
            <a:r>
              <a:rPr lang="en-AU" dirty="0"/>
              <a:t>distance 10 pt</a:t>
            </a:r>
          </a:p>
          <a:p>
            <a:pPr marL="285750" indent="-285750">
              <a:buFontTx/>
              <a:buChar char="-"/>
            </a:pPr>
            <a:r>
              <a:rPr lang="en-AU" dirty="0"/>
              <a:t>Blur = 4</a:t>
            </a:r>
          </a:p>
          <a:p>
            <a:pPr marL="285750" indent="-285750">
              <a:buFontTx/>
              <a:buChar char="-"/>
            </a:pPr>
            <a:r>
              <a:rPr lang="en-AU" dirty="0"/>
              <a:t>Angle = 45</a:t>
            </a:r>
          </a:p>
          <a:p>
            <a:pPr marL="285750" indent="-285750">
              <a:buFontTx/>
              <a:buChar char="-"/>
            </a:pPr>
            <a:r>
              <a:rPr lang="en-AU" dirty="0"/>
              <a:t>Transparency = 60%</a:t>
            </a:r>
          </a:p>
          <a:p>
            <a:pPr marL="285750" indent="-285750">
              <a:buFontTx/>
              <a:buChar char="-"/>
            </a:pPr>
            <a:endParaRPr lang="en-AU" dirty="0"/>
          </a:p>
          <a:p>
            <a:pPr marL="285750" indent="-285750">
              <a:buFontTx/>
              <a:buChar char="-"/>
            </a:pPr>
            <a:r>
              <a:rPr lang="en-AU" dirty="0"/>
              <a:t>Then align </a:t>
            </a:r>
            <a:r>
              <a:rPr lang="en-AU" dirty="0" err="1"/>
              <a:t>center</a:t>
            </a:r>
            <a:endParaRPr lang="en-AU" dirty="0"/>
          </a:p>
          <a:p>
            <a:pPr marL="285750" indent="-285750">
              <a:buFontTx/>
              <a:buChar char="-"/>
            </a:pPr>
            <a:r>
              <a:rPr lang="en-AU" dirty="0"/>
              <a:t>With circles</a:t>
            </a:r>
          </a:p>
          <a:p>
            <a:pPr marL="285750" indent="-285750">
              <a:buFontTx/>
              <a:buChar char="-"/>
            </a:pPr>
            <a:endParaRPr lang="en-AU" dirty="0"/>
          </a:p>
          <a:p>
            <a:pPr marL="285750" indent="-285750">
              <a:buFontTx/>
              <a:buChar char="-"/>
            </a:pPr>
            <a:r>
              <a:rPr lang="en-AU" dirty="0"/>
              <a:t>For Applications</a:t>
            </a:r>
            <a:br>
              <a:rPr lang="en-AU" dirty="0"/>
            </a:br>
            <a:r>
              <a:rPr lang="en-AU" dirty="0"/>
              <a:t>----------------------</a:t>
            </a:r>
            <a:br>
              <a:rPr lang="en-AU" dirty="0"/>
            </a:br>
            <a:r>
              <a:rPr lang="en-AU" dirty="0"/>
              <a:t>just set the circles </a:t>
            </a:r>
            <a:r>
              <a:rPr lang="en-AU" dirty="0" err="1"/>
              <a:t>color</a:t>
            </a:r>
            <a:r>
              <a:rPr lang="en-AU" dirty="0"/>
              <a:t> to : #163E64</a:t>
            </a:r>
            <a:br>
              <a:rPr lang="en-AU" dirty="0"/>
            </a:br>
            <a:r>
              <a:rPr lang="en-AU" dirty="0"/>
              <a:t>For companies:</a:t>
            </a:r>
            <a:br>
              <a:rPr lang="en-AU" dirty="0"/>
            </a:br>
            <a:r>
              <a:rPr lang="en-AU" dirty="0"/>
              <a:t>just set the circles </a:t>
            </a:r>
            <a:r>
              <a:rPr lang="en-AU" dirty="0" err="1"/>
              <a:t>color</a:t>
            </a:r>
            <a:r>
              <a:rPr lang="en-AU" dirty="0"/>
              <a:t> to #0B76A0</a:t>
            </a:r>
          </a:p>
        </p:txBody>
      </p:sp>
      <p:pic>
        <p:nvPicPr>
          <p:cNvPr id="19" name="Graphic 18" descr="Unlock outline">
            <a:extLst>
              <a:ext uri="{FF2B5EF4-FFF2-40B4-BE49-F238E27FC236}">
                <a16:creationId xmlns:a16="http://schemas.microsoft.com/office/drawing/2014/main" id="{19C1AFD8-DE9D-7BFD-6DD1-1BFDD5B7B0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8732" y="3680020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rgbClr val="215F9A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5856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66B79-0479-2F18-4253-778BD603B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7B07347-1948-8AC3-9088-8C5A339986C7}"/>
              </a:ext>
            </a:extLst>
          </p:cNvPr>
          <p:cNvGrpSpPr/>
          <p:nvPr/>
        </p:nvGrpSpPr>
        <p:grpSpPr>
          <a:xfrm>
            <a:off x="2510322" y="72185"/>
            <a:ext cx="7229139" cy="6709406"/>
            <a:chOff x="2510322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2E802575-5581-30B6-0BA8-F13B2E2FA0D6}"/>
                </a:ext>
              </a:extLst>
            </p:cNvPr>
            <p:cNvSpPr/>
            <p:nvPr/>
          </p:nvSpPr>
          <p:spPr>
            <a:xfrm>
              <a:off x="2510322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1F797A2-52A6-8C41-5C37-51A48C204E11}"/>
                </a:ext>
              </a:extLst>
            </p:cNvPr>
            <p:cNvSpPr/>
            <p:nvPr/>
          </p:nvSpPr>
          <p:spPr>
            <a:xfrm>
              <a:off x="2510322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" name="Graphic 2" descr="Bar graph with upward trend outline">
              <a:extLst>
                <a:ext uri="{FF2B5EF4-FFF2-40B4-BE49-F238E27FC236}">
                  <a16:creationId xmlns:a16="http://schemas.microsoft.com/office/drawing/2014/main" id="{A3AC0982-B600-E8D8-7481-7A7186DF3E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3631" b="-3631"/>
            <a:stretch>
              <a:fillRect/>
            </a:stretch>
          </p:blipFill>
          <p:spPr>
            <a:xfrm>
              <a:off x="3610291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tx2">
                  <a:lumMod val="75000"/>
                  <a:lumOff val="25000"/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35291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B24AA7C-BBFA-C0BC-AEAD-273C1A91BD62}"/>
              </a:ext>
            </a:extLst>
          </p:cNvPr>
          <p:cNvGrpSpPr/>
          <p:nvPr/>
        </p:nvGrpSpPr>
        <p:grpSpPr>
          <a:xfrm>
            <a:off x="3003618" y="72185"/>
            <a:ext cx="7229139" cy="6709406"/>
            <a:chOff x="3003618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E6AA923B-25D4-8585-60A0-9846BDA72CB5}"/>
                </a:ext>
              </a:extLst>
            </p:cNvPr>
            <p:cNvSpPr/>
            <p:nvPr/>
          </p:nvSpPr>
          <p:spPr>
            <a:xfrm>
              <a:off x="3003618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350DA18-4175-F04E-BEAB-4BE5F80D03BE}"/>
                </a:ext>
              </a:extLst>
            </p:cNvPr>
            <p:cNvSpPr/>
            <p:nvPr/>
          </p:nvSpPr>
          <p:spPr>
            <a:xfrm>
              <a:off x="3003618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" name="Graphic 18" descr="Gears outline">
              <a:extLst>
                <a:ext uri="{FF2B5EF4-FFF2-40B4-BE49-F238E27FC236}">
                  <a16:creationId xmlns:a16="http://schemas.microsoft.com/office/drawing/2014/main" id="{48394366-DA7B-8178-A154-59EC4443FE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3587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894579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6EA00-395F-4F04-189F-D4DFD2699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54373E5-8028-72A9-9F42-FEABA5A247A7}"/>
              </a:ext>
            </a:extLst>
          </p:cNvPr>
          <p:cNvGrpSpPr/>
          <p:nvPr/>
        </p:nvGrpSpPr>
        <p:grpSpPr>
          <a:xfrm>
            <a:off x="3003618" y="72185"/>
            <a:ext cx="7229139" cy="6709406"/>
            <a:chOff x="3003618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86178146-9F13-C930-0D6C-0906244F2958}"/>
                </a:ext>
              </a:extLst>
            </p:cNvPr>
            <p:cNvSpPr/>
            <p:nvPr/>
          </p:nvSpPr>
          <p:spPr>
            <a:xfrm>
              <a:off x="3003618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8D2A8E2-C8DB-4C1D-D5C1-19E1AC8B81BD}"/>
                </a:ext>
              </a:extLst>
            </p:cNvPr>
            <p:cNvSpPr/>
            <p:nvPr/>
          </p:nvSpPr>
          <p:spPr>
            <a:xfrm>
              <a:off x="3003618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" name="Graphic 12" descr="Box trolley outline">
              <a:extLst>
                <a:ext uri="{FF2B5EF4-FFF2-40B4-BE49-F238E27FC236}">
                  <a16:creationId xmlns:a16="http://schemas.microsoft.com/office/drawing/2014/main" id="{7275BC7D-87F6-AB21-BA6B-E5CE9EE95F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3587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230716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D913F-6FA5-4064-46CB-41445AA40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6527995-6817-3479-3DFD-73E5C1B25655}"/>
              </a:ext>
            </a:extLst>
          </p:cNvPr>
          <p:cNvGrpSpPr/>
          <p:nvPr/>
        </p:nvGrpSpPr>
        <p:grpSpPr>
          <a:xfrm>
            <a:off x="3003618" y="72185"/>
            <a:ext cx="7229139" cy="6709406"/>
            <a:chOff x="3003618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2059E4C9-AE06-C2EC-EE01-65CAD14BDA93}"/>
                </a:ext>
              </a:extLst>
            </p:cNvPr>
            <p:cNvSpPr/>
            <p:nvPr/>
          </p:nvSpPr>
          <p:spPr>
            <a:xfrm>
              <a:off x="3003618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82AC9D-6D4C-795E-455F-E89F2575BEEF}"/>
                </a:ext>
              </a:extLst>
            </p:cNvPr>
            <p:cNvSpPr/>
            <p:nvPr/>
          </p:nvSpPr>
          <p:spPr>
            <a:xfrm>
              <a:off x="3003618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Graphic 10" descr="Money outline">
              <a:extLst>
                <a:ext uri="{FF2B5EF4-FFF2-40B4-BE49-F238E27FC236}">
                  <a16:creationId xmlns:a16="http://schemas.microsoft.com/office/drawing/2014/main" id="{A307EB66-7D70-3B84-3775-A8A661264B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3587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903167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DD460-0CDC-CBA1-F691-25B99B5D6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F709B76-4BD0-A46C-5509-E65F01A76CEF}"/>
              </a:ext>
            </a:extLst>
          </p:cNvPr>
          <p:cNvGrpSpPr/>
          <p:nvPr/>
        </p:nvGrpSpPr>
        <p:grpSpPr>
          <a:xfrm>
            <a:off x="3003618" y="72185"/>
            <a:ext cx="7229139" cy="6709406"/>
            <a:chOff x="3003618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41D67997-62AD-7FDF-6B3F-99C4F957D144}"/>
                </a:ext>
              </a:extLst>
            </p:cNvPr>
            <p:cNvSpPr/>
            <p:nvPr/>
          </p:nvSpPr>
          <p:spPr>
            <a:xfrm>
              <a:off x="3003618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9051373-DB3B-F7D0-7E5A-6D3BDD94CD03}"/>
                </a:ext>
              </a:extLst>
            </p:cNvPr>
            <p:cNvSpPr/>
            <p:nvPr/>
          </p:nvSpPr>
          <p:spPr>
            <a:xfrm>
              <a:off x="3003618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3" name="Graphic 52" descr="Hierarchy outline">
              <a:extLst>
                <a:ext uri="{FF2B5EF4-FFF2-40B4-BE49-F238E27FC236}">
                  <a16:creationId xmlns:a16="http://schemas.microsoft.com/office/drawing/2014/main" id="{B4FA1865-06E0-410E-0884-7ED3E9039D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3587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259272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CD65C-E4F3-2590-6D6D-487131E5D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D003F1F-E60B-A2AA-A8D4-FC3F8500180F}"/>
              </a:ext>
            </a:extLst>
          </p:cNvPr>
          <p:cNvGrpSpPr/>
          <p:nvPr/>
        </p:nvGrpSpPr>
        <p:grpSpPr>
          <a:xfrm>
            <a:off x="3071206" y="72185"/>
            <a:ext cx="7229139" cy="6709406"/>
            <a:chOff x="3071206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726F40EB-F15D-BB35-29E3-E594DBBC5A66}"/>
                </a:ext>
              </a:extLst>
            </p:cNvPr>
            <p:cNvSpPr/>
            <p:nvPr/>
          </p:nvSpPr>
          <p:spPr>
            <a:xfrm>
              <a:off x="3071206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E461BB0-7274-D8DF-665F-F573966C475C}"/>
                </a:ext>
              </a:extLst>
            </p:cNvPr>
            <p:cNvSpPr/>
            <p:nvPr/>
          </p:nvSpPr>
          <p:spPr>
            <a:xfrm>
              <a:off x="3071206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" name="Graphic 2" descr="Unlock outline">
              <a:extLst>
                <a:ext uri="{FF2B5EF4-FFF2-40B4-BE49-F238E27FC236}">
                  <a16:creationId xmlns:a16="http://schemas.microsoft.com/office/drawing/2014/main" id="{1E612AA6-EDD9-BBDB-257E-BCF40B2777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71175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rgbClr val="215F9A">
                  <a:alpha val="40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899614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7D644-0455-D114-1AA3-4A4EC8778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95EC552-E687-B12E-EBBC-A86B31D9E9FB}"/>
              </a:ext>
            </a:extLst>
          </p:cNvPr>
          <p:cNvSpPr/>
          <p:nvPr/>
        </p:nvSpPr>
        <p:spPr>
          <a:xfrm>
            <a:off x="3003618" y="552917"/>
            <a:ext cx="7229138" cy="6228674"/>
          </a:xfrm>
          <a:custGeom>
            <a:avLst/>
            <a:gdLst>
              <a:gd name="csX0" fmla="*/ -1 w 7229138"/>
              <a:gd name="csY0" fmla="*/ 3114376 h 6228674"/>
              <a:gd name="csX1" fmla="*/ 3614568 w 7229138"/>
              <a:gd name="csY1" fmla="*/ 40 h 6228674"/>
              <a:gd name="csX2" fmla="*/ 7229137 w 7229138"/>
              <a:gd name="csY2" fmla="*/ 3114376 h 6228674"/>
              <a:gd name="csX3" fmla="*/ 3614568 w 7229138"/>
              <a:gd name="csY3" fmla="*/ 6228715 h 6228674"/>
              <a:gd name="csX4" fmla="*/ -1 w 7229138"/>
              <a:gd name="csY4" fmla="*/ 3114376 h 6228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8" h="6228674">
                <a:moveTo>
                  <a:pt x="-1" y="3114376"/>
                </a:moveTo>
                <a:cubicBezTo>
                  <a:pt x="-1" y="1394373"/>
                  <a:pt x="1618301" y="40"/>
                  <a:pt x="3614568" y="40"/>
                </a:cubicBezTo>
                <a:cubicBezTo>
                  <a:pt x="5610843" y="40"/>
                  <a:pt x="7229137" y="1394373"/>
                  <a:pt x="7229137" y="3114376"/>
                </a:cubicBezTo>
                <a:cubicBezTo>
                  <a:pt x="7229137" y="4834378"/>
                  <a:pt x="5610843" y="6228715"/>
                  <a:pt x="3614568" y="6228715"/>
                </a:cubicBezTo>
                <a:cubicBezTo>
                  <a:pt x="1618301" y="6228715"/>
                  <a:pt x="-1" y="4834378"/>
                  <a:pt x="-1" y="3114376"/>
                </a:cubicBezTo>
                <a:close/>
              </a:path>
            </a:pathLst>
          </a:custGeom>
          <a:solidFill>
            <a:srgbClr val="4472C4">
              <a:alpha val="15000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575DF-5E2F-0566-A819-108F753A859C}"/>
              </a:ext>
            </a:extLst>
          </p:cNvPr>
          <p:cNvSpPr/>
          <p:nvPr/>
        </p:nvSpPr>
        <p:spPr>
          <a:xfrm>
            <a:off x="3003618" y="72185"/>
            <a:ext cx="7229139" cy="6228677"/>
          </a:xfrm>
          <a:custGeom>
            <a:avLst/>
            <a:gdLst>
              <a:gd name="csX0" fmla="*/ -1371 w 7229139"/>
              <a:gd name="csY0" fmla="*/ 3112940 h 6228677"/>
              <a:gd name="csX1" fmla="*/ 3613199 w 7229139"/>
              <a:gd name="csY1" fmla="*/ -1399 h 6228677"/>
              <a:gd name="csX2" fmla="*/ 7227768 w 7229139"/>
              <a:gd name="csY2" fmla="*/ 3112940 h 6228677"/>
              <a:gd name="csX3" fmla="*/ 3613199 w 7229139"/>
              <a:gd name="csY3" fmla="*/ 6227279 h 6228677"/>
              <a:gd name="csX4" fmla="*/ -1371 w 7229139"/>
              <a:gd name="csY4" fmla="*/ 3112940 h 62286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9" h="6228677">
                <a:moveTo>
                  <a:pt x="-1371" y="3112940"/>
                </a:moveTo>
                <a:cubicBezTo>
                  <a:pt x="-1371" y="1392953"/>
                  <a:pt x="1616955" y="-1399"/>
                  <a:pt x="3613199" y="-1399"/>
                </a:cubicBezTo>
                <a:cubicBezTo>
                  <a:pt x="5609441" y="-1399"/>
                  <a:pt x="7227768" y="1392953"/>
                  <a:pt x="7227768" y="3112940"/>
                </a:cubicBezTo>
                <a:cubicBezTo>
                  <a:pt x="7227768" y="4832927"/>
                  <a:pt x="5609441" y="6227279"/>
                  <a:pt x="3613199" y="6227279"/>
                </a:cubicBezTo>
                <a:cubicBezTo>
                  <a:pt x="1616955" y="6227279"/>
                  <a:pt x="-1371" y="4832927"/>
                  <a:pt x="-1371" y="3112940"/>
                </a:cubicBezTo>
                <a:close/>
              </a:path>
            </a:pathLst>
          </a:custGeom>
          <a:solidFill>
            <a:srgbClr val="4472C4">
              <a:alpha val="15000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61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7D02B-112E-90FE-C2A0-3FBCCA00F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4A80704-401E-F5B2-7DCE-F56B42A3CBE0}"/>
              </a:ext>
            </a:extLst>
          </p:cNvPr>
          <p:cNvSpPr/>
          <p:nvPr/>
        </p:nvSpPr>
        <p:spPr>
          <a:xfrm>
            <a:off x="3003618" y="552917"/>
            <a:ext cx="7229138" cy="6228674"/>
          </a:xfrm>
          <a:custGeom>
            <a:avLst/>
            <a:gdLst>
              <a:gd name="csX0" fmla="*/ -1 w 7229138"/>
              <a:gd name="csY0" fmla="*/ 3114376 h 6228674"/>
              <a:gd name="csX1" fmla="*/ 3614568 w 7229138"/>
              <a:gd name="csY1" fmla="*/ 40 h 6228674"/>
              <a:gd name="csX2" fmla="*/ 7229137 w 7229138"/>
              <a:gd name="csY2" fmla="*/ 3114376 h 6228674"/>
              <a:gd name="csX3" fmla="*/ 3614568 w 7229138"/>
              <a:gd name="csY3" fmla="*/ 6228715 h 6228674"/>
              <a:gd name="csX4" fmla="*/ -1 w 7229138"/>
              <a:gd name="csY4" fmla="*/ 3114376 h 6228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8" h="6228674">
                <a:moveTo>
                  <a:pt x="-1" y="3114376"/>
                </a:moveTo>
                <a:cubicBezTo>
                  <a:pt x="-1" y="1394373"/>
                  <a:pt x="1618301" y="40"/>
                  <a:pt x="3614568" y="40"/>
                </a:cubicBezTo>
                <a:cubicBezTo>
                  <a:pt x="5610843" y="40"/>
                  <a:pt x="7229137" y="1394373"/>
                  <a:pt x="7229137" y="3114376"/>
                </a:cubicBezTo>
                <a:cubicBezTo>
                  <a:pt x="7229137" y="4834378"/>
                  <a:pt x="5610843" y="6228715"/>
                  <a:pt x="3614568" y="6228715"/>
                </a:cubicBezTo>
                <a:cubicBezTo>
                  <a:pt x="1618301" y="6228715"/>
                  <a:pt x="-1" y="4834378"/>
                  <a:pt x="-1" y="3114376"/>
                </a:cubicBezTo>
                <a:close/>
              </a:path>
            </a:pathLst>
          </a:custGeom>
          <a:solidFill>
            <a:srgbClr val="4472C4">
              <a:alpha val="15000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F77E3F6-02D6-AE66-C8C8-F64A367D6B94}"/>
              </a:ext>
            </a:extLst>
          </p:cNvPr>
          <p:cNvSpPr/>
          <p:nvPr/>
        </p:nvSpPr>
        <p:spPr>
          <a:xfrm>
            <a:off x="3003618" y="72185"/>
            <a:ext cx="7229139" cy="6228677"/>
          </a:xfrm>
          <a:custGeom>
            <a:avLst/>
            <a:gdLst>
              <a:gd name="csX0" fmla="*/ -1371 w 7229139"/>
              <a:gd name="csY0" fmla="*/ 3112940 h 6228677"/>
              <a:gd name="csX1" fmla="*/ 3613199 w 7229139"/>
              <a:gd name="csY1" fmla="*/ -1399 h 6228677"/>
              <a:gd name="csX2" fmla="*/ 7227768 w 7229139"/>
              <a:gd name="csY2" fmla="*/ 3112940 h 6228677"/>
              <a:gd name="csX3" fmla="*/ 3613199 w 7229139"/>
              <a:gd name="csY3" fmla="*/ 6227279 h 6228677"/>
              <a:gd name="csX4" fmla="*/ -1371 w 7229139"/>
              <a:gd name="csY4" fmla="*/ 3112940 h 62286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9" h="6228677">
                <a:moveTo>
                  <a:pt x="-1371" y="3112940"/>
                </a:moveTo>
                <a:cubicBezTo>
                  <a:pt x="-1371" y="1392953"/>
                  <a:pt x="1616955" y="-1399"/>
                  <a:pt x="3613199" y="-1399"/>
                </a:cubicBezTo>
                <a:cubicBezTo>
                  <a:pt x="5609441" y="-1399"/>
                  <a:pt x="7227768" y="1392953"/>
                  <a:pt x="7227768" y="3112940"/>
                </a:cubicBezTo>
                <a:cubicBezTo>
                  <a:pt x="7227768" y="4832927"/>
                  <a:pt x="5609441" y="6227279"/>
                  <a:pt x="3613199" y="6227279"/>
                </a:cubicBezTo>
                <a:cubicBezTo>
                  <a:pt x="1616955" y="6227279"/>
                  <a:pt x="-1371" y="4832927"/>
                  <a:pt x="-1371" y="3112940"/>
                </a:cubicBezTo>
                <a:close/>
              </a:path>
            </a:pathLst>
          </a:custGeom>
          <a:solidFill>
            <a:srgbClr val="4472C4">
              <a:alpha val="15000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69E6C2E4-5ABA-D91A-8DFE-446A3940E168}"/>
              </a:ext>
            </a:extLst>
          </p:cNvPr>
          <p:cNvSpPr/>
          <p:nvPr/>
        </p:nvSpPr>
        <p:spPr>
          <a:xfrm>
            <a:off x="4251720" y="1014984"/>
            <a:ext cx="4732934" cy="4828032"/>
          </a:xfrm>
          <a:prstGeom prst="plus">
            <a:avLst>
              <a:gd name="adj" fmla="val 40224"/>
            </a:avLst>
          </a:pr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137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54BD-7283-5076-92AE-BAFE5D9F5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10AE565-4739-03BD-780F-B9923A201162}"/>
              </a:ext>
            </a:extLst>
          </p:cNvPr>
          <p:cNvGrpSpPr/>
          <p:nvPr/>
        </p:nvGrpSpPr>
        <p:grpSpPr>
          <a:xfrm>
            <a:off x="4267106" y="72185"/>
            <a:ext cx="7229139" cy="6709406"/>
            <a:chOff x="4267106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619EDBEB-2EF7-29A6-1D4C-1CCDD6451866}"/>
                </a:ext>
              </a:extLst>
            </p:cNvPr>
            <p:cNvSpPr/>
            <p:nvPr/>
          </p:nvSpPr>
          <p:spPr>
            <a:xfrm>
              <a:off x="4267106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2834690-2282-9A9A-A676-8B35A7AC888B}"/>
                </a:ext>
              </a:extLst>
            </p:cNvPr>
            <p:cNvSpPr/>
            <p:nvPr/>
          </p:nvSpPr>
          <p:spPr>
            <a:xfrm>
              <a:off x="4267106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1" name="Graphic 70" descr="Handshake outline">
              <a:extLst>
                <a:ext uri="{FF2B5EF4-FFF2-40B4-BE49-F238E27FC236}">
                  <a16:creationId xmlns:a16="http://schemas.microsoft.com/office/drawing/2014/main" id="{57D0CE3C-E757-44E0-D226-B6559F6A4E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367075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91638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2C242-91FF-3183-A946-C3BA3D27B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DD7C84A-F75F-89CA-D929-982EE7B9F86E}"/>
              </a:ext>
            </a:extLst>
          </p:cNvPr>
          <p:cNvGrpSpPr/>
          <p:nvPr/>
        </p:nvGrpSpPr>
        <p:grpSpPr>
          <a:xfrm>
            <a:off x="4267106" y="72185"/>
            <a:ext cx="7229139" cy="6709406"/>
            <a:chOff x="4267106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71EA1A43-1875-A8CC-5892-CACF650673D7}"/>
                </a:ext>
              </a:extLst>
            </p:cNvPr>
            <p:cNvSpPr/>
            <p:nvPr/>
          </p:nvSpPr>
          <p:spPr>
            <a:xfrm>
              <a:off x="4267106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chemeClr val="accent5">
                <a:lumMod val="50000"/>
                <a:alpha val="15000"/>
              </a:scheme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D9624A8-0D42-F92F-F643-EAA8B2D2EBE8}"/>
                </a:ext>
              </a:extLst>
            </p:cNvPr>
            <p:cNvSpPr/>
            <p:nvPr/>
          </p:nvSpPr>
          <p:spPr>
            <a:xfrm>
              <a:off x="4267106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chemeClr val="accent5">
                <a:lumMod val="50000"/>
                <a:alpha val="15000"/>
              </a:scheme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1" name="Graphic 70" descr="Handshake outline">
              <a:extLst>
                <a:ext uri="{FF2B5EF4-FFF2-40B4-BE49-F238E27FC236}">
                  <a16:creationId xmlns:a16="http://schemas.microsoft.com/office/drawing/2014/main" id="{AA291953-9BBF-33E0-DF83-D81DD48CB9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367075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712591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FFA42-9282-4DA6-2577-574EE4E82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F55316D-705E-69AA-9CE0-A877D1328FA3}"/>
              </a:ext>
            </a:extLst>
          </p:cNvPr>
          <p:cNvGrpSpPr/>
          <p:nvPr/>
        </p:nvGrpSpPr>
        <p:grpSpPr>
          <a:xfrm>
            <a:off x="3597809" y="72185"/>
            <a:ext cx="7229139" cy="6709406"/>
            <a:chOff x="3597809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51F40FF4-F83E-F952-8E19-144E55CD6A2B}"/>
                </a:ext>
              </a:extLst>
            </p:cNvPr>
            <p:cNvSpPr/>
            <p:nvPr/>
          </p:nvSpPr>
          <p:spPr>
            <a:xfrm>
              <a:off x="3597809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15000"/>
              </a:scheme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07A39B3-8A65-AE3E-5E90-3653E1076ED1}"/>
                </a:ext>
              </a:extLst>
            </p:cNvPr>
            <p:cNvSpPr/>
            <p:nvPr/>
          </p:nvSpPr>
          <p:spPr>
            <a:xfrm>
              <a:off x="3597809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15000"/>
              </a:scheme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67" name="Graphic 66" descr="Stethoscope outline">
              <a:extLst>
                <a:ext uri="{FF2B5EF4-FFF2-40B4-BE49-F238E27FC236}">
                  <a16:creationId xmlns:a16="http://schemas.microsoft.com/office/drawing/2014/main" id="{6EA04991-097D-7E41-F692-9E399F13CE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697778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945481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CDE47-4CA2-8361-0746-39A999A6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CD4E530-2835-B33B-48B3-2DD41020AB15}"/>
              </a:ext>
            </a:extLst>
          </p:cNvPr>
          <p:cNvGrpSpPr/>
          <p:nvPr/>
        </p:nvGrpSpPr>
        <p:grpSpPr>
          <a:xfrm>
            <a:off x="3003618" y="72185"/>
            <a:ext cx="7229139" cy="6709406"/>
            <a:chOff x="3003618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DFF9D3BA-18C1-D157-1263-B372D85AB38B}"/>
                </a:ext>
              </a:extLst>
            </p:cNvPr>
            <p:cNvSpPr/>
            <p:nvPr/>
          </p:nvSpPr>
          <p:spPr>
            <a:xfrm>
              <a:off x="3003618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rgbClr val="0B76A0">
                <a:alpha val="14902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4862C0A-277B-F793-DD3E-9959A6ED6270}"/>
                </a:ext>
              </a:extLst>
            </p:cNvPr>
            <p:cNvSpPr/>
            <p:nvPr/>
          </p:nvSpPr>
          <p:spPr>
            <a:xfrm>
              <a:off x="3003618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rgbClr val="0B76A0">
                <a:alpha val="14902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" name="Graphic 2" descr="Laptop outline">
              <a:extLst>
                <a:ext uri="{FF2B5EF4-FFF2-40B4-BE49-F238E27FC236}">
                  <a16:creationId xmlns:a16="http://schemas.microsoft.com/office/drawing/2014/main" id="{56B83007-E4F3-7986-8482-F3B9F66243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3587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85887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21018-B659-B065-40E9-F57744963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905A975-5EB2-C025-7A49-41E1336E07BB}"/>
              </a:ext>
            </a:extLst>
          </p:cNvPr>
          <p:cNvSpPr/>
          <p:nvPr/>
        </p:nvSpPr>
        <p:spPr>
          <a:xfrm>
            <a:off x="3003618" y="552917"/>
            <a:ext cx="7229138" cy="6228674"/>
          </a:xfrm>
          <a:custGeom>
            <a:avLst/>
            <a:gdLst>
              <a:gd name="csX0" fmla="*/ -1 w 7229138"/>
              <a:gd name="csY0" fmla="*/ 3114376 h 6228674"/>
              <a:gd name="csX1" fmla="*/ 3614568 w 7229138"/>
              <a:gd name="csY1" fmla="*/ 40 h 6228674"/>
              <a:gd name="csX2" fmla="*/ 7229137 w 7229138"/>
              <a:gd name="csY2" fmla="*/ 3114376 h 6228674"/>
              <a:gd name="csX3" fmla="*/ 3614568 w 7229138"/>
              <a:gd name="csY3" fmla="*/ 6228715 h 6228674"/>
              <a:gd name="csX4" fmla="*/ -1 w 7229138"/>
              <a:gd name="csY4" fmla="*/ 3114376 h 6228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8" h="6228674">
                <a:moveTo>
                  <a:pt x="-1" y="3114376"/>
                </a:moveTo>
                <a:cubicBezTo>
                  <a:pt x="-1" y="1394373"/>
                  <a:pt x="1618301" y="40"/>
                  <a:pt x="3614568" y="40"/>
                </a:cubicBezTo>
                <a:cubicBezTo>
                  <a:pt x="5610843" y="40"/>
                  <a:pt x="7229137" y="1394373"/>
                  <a:pt x="7229137" y="3114376"/>
                </a:cubicBezTo>
                <a:cubicBezTo>
                  <a:pt x="7229137" y="4834378"/>
                  <a:pt x="5610843" y="6228715"/>
                  <a:pt x="3614568" y="6228715"/>
                </a:cubicBezTo>
                <a:cubicBezTo>
                  <a:pt x="1618301" y="6228715"/>
                  <a:pt x="-1" y="4834378"/>
                  <a:pt x="-1" y="3114376"/>
                </a:cubicBezTo>
                <a:close/>
              </a:path>
            </a:pathLst>
          </a:custGeom>
          <a:solidFill>
            <a:srgbClr val="0B76A0">
              <a:alpha val="14902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C928923-6417-DB2C-027D-A8F1E1AEDFED}"/>
              </a:ext>
            </a:extLst>
          </p:cNvPr>
          <p:cNvSpPr/>
          <p:nvPr/>
        </p:nvSpPr>
        <p:spPr>
          <a:xfrm>
            <a:off x="3003618" y="72185"/>
            <a:ext cx="7229139" cy="6228677"/>
          </a:xfrm>
          <a:custGeom>
            <a:avLst/>
            <a:gdLst>
              <a:gd name="csX0" fmla="*/ -1371 w 7229139"/>
              <a:gd name="csY0" fmla="*/ 3112940 h 6228677"/>
              <a:gd name="csX1" fmla="*/ 3613199 w 7229139"/>
              <a:gd name="csY1" fmla="*/ -1399 h 6228677"/>
              <a:gd name="csX2" fmla="*/ 7227768 w 7229139"/>
              <a:gd name="csY2" fmla="*/ 3112940 h 6228677"/>
              <a:gd name="csX3" fmla="*/ 3613199 w 7229139"/>
              <a:gd name="csY3" fmla="*/ 6227279 h 6228677"/>
              <a:gd name="csX4" fmla="*/ -1371 w 7229139"/>
              <a:gd name="csY4" fmla="*/ 3112940 h 62286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9" h="6228677">
                <a:moveTo>
                  <a:pt x="-1371" y="3112940"/>
                </a:moveTo>
                <a:cubicBezTo>
                  <a:pt x="-1371" y="1392953"/>
                  <a:pt x="1616955" y="-1399"/>
                  <a:pt x="3613199" y="-1399"/>
                </a:cubicBezTo>
                <a:cubicBezTo>
                  <a:pt x="5609441" y="-1399"/>
                  <a:pt x="7227768" y="1392953"/>
                  <a:pt x="7227768" y="3112940"/>
                </a:cubicBezTo>
                <a:cubicBezTo>
                  <a:pt x="7227768" y="4832927"/>
                  <a:pt x="5609441" y="6227279"/>
                  <a:pt x="3613199" y="6227279"/>
                </a:cubicBezTo>
                <a:cubicBezTo>
                  <a:pt x="1616955" y="6227279"/>
                  <a:pt x="-1371" y="4832927"/>
                  <a:pt x="-1371" y="3112940"/>
                </a:cubicBezTo>
                <a:close/>
              </a:path>
            </a:pathLst>
          </a:custGeom>
          <a:solidFill>
            <a:srgbClr val="0B76A0">
              <a:alpha val="14902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29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90C70-76D7-E429-3EA0-E9E0BFE99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E279ADC-95B1-3386-9940-9351E12B8167}"/>
              </a:ext>
            </a:extLst>
          </p:cNvPr>
          <p:cNvGrpSpPr/>
          <p:nvPr/>
        </p:nvGrpSpPr>
        <p:grpSpPr>
          <a:xfrm>
            <a:off x="3454144" y="72185"/>
            <a:ext cx="7229139" cy="6709406"/>
            <a:chOff x="3454144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3A948D04-3A2B-9756-BCBC-29C2FC6D9D90}"/>
                </a:ext>
              </a:extLst>
            </p:cNvPr>
            <p:cNvSpPr/>
            <p:nvPr/>
          </p:nvSpPr>
          <p:spPr>
            <a:xfrm>
              <a:off x="3454144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15000"/>
              </a:scheme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0F87860-D5FC-A8FB-A301-7F27B34A1406}"/>
                </a:ext>
              </a:extLst>
            </p:cNvPr>
            <p:cNvSpPr/>
            <p:nvPr/>
          </p:nvSpPr>
          <p:spPr>
            <a:xfrm>
              <a:off x="3454144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15000"/>
              </a:scheme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61" name="Graphic 60" descr="Office worker male outline">
              <a:extLst>
                <a:ext uri="{FF2B5EF4-FFF2-40B4-BE49-F238E27FC236}">
                  <a16:creationId xmlns:a16="http://schemas.microsoft.com/office/drawing/2014/main" id="{48CF7F63-2986-7652-0E0B-D989D119C2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554113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48914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FD63F-91C7-C7FD-DB72-4E2F9EA33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BAA93AC-3871-3FE7-5D92-37CB9566D954}"/>
              </a:ext>
            </a:extLst>
          </p:cNvPr>
          <p:cNvGrpSpPr/>
          <p:nvPr/>
        </p:nvGrpSpPr>
        <p:grpSpPr>
          <a:xfrm>
            <a:off x="3003618" y="72185"/>
            <a:ext cx="7229139" cy="6709406"/>
            <a:chOff x="3003618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ADEBF27F-853E-B371-B145-2489D3A743D9}"/>
                </a:ext>
              </a:extLst>
            </p:cNvPr>
            <p:cNvSpPr/>
            <p:nvPr/>
          </p:nvSpPr>
          <p:spPr>
            <a:xfrm>
              <a:off x="3003618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15000"/>
              </a:scheme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2285654-2121-B1CE-2483-6783EF5993BF}"/>
                </a:ext>
              </a:extLst>
            </p:cNvPr>
            <p:cNvSpPr/>
            <p:nvPr/>
          </p:nvSpPr>
          <p:spPr>
            <a:xfrm>
              <a:off x="3003618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15000"/>
              </a:scheme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47" name="Graphic 46" descr="Programmer female outline">
              <a:extLst>
                <a:ext uri="{FF2B5EF4-FFF2-40B4-BE49-F238E27FC236}">
                  <a16:creationId xmlns:a16="http://schemas.microsoft.com/office/drawing/2014/main" id="{76B28A2C-BB8C-B057-8212-441C2B77F3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3587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154252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4BDFC-DD43-4A15-3813-133CAC8A4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32B82B6-2343-B207-4DC3-BEDF7B709C8D}"/>
              </a:ext>
            </a:extLst>
          </p:cNvPr>
          <p:cNvSpPr/>
          <p:nvPr/>
        </p:nvSpPr>
        <p:spPr>
          <a:xfrm>
            <a:off x="3003618" y="552917"/>
            <a:ext cx="7229138" cy="6228674"/>
          </a:xfrm>
          <a:custGeom>
            <a:avLst/>
            <a:gdLst>
              <a:gd name="csX0" fmla="*/ -1 w 7229138"/>
              <a:gd name="csY0" fmla="*/ 3114376 h 6228674"/>
              <a:gd name="csX1" fmla="*/ 3614568 w 7229138"/>
              <a:gd name="csY1" fmla="*/ 40 h 6228674"/>
              <a:gd name="csX2" fmla="*/ 7229137 w 7229138"/>
              <a:gd name="csY2" fmla="*/ 3114376 h 6228674"/>
              <a:gd name="csX3" fmla="*/ 3614568 w 7229138"/>
              <a:gd name="csY3" fmla="*/ 6228715 h 6228674"/>
              <a:gd name="csX4" fmla="*/ -1 w 7229138"/>
              <a:gd name="csY4" fmla="*/ 3114376 h 6228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8" h="6228674">
                <a:moveTo>
                  <a:pt x="-1" y="3114376"/>
                </a:moveTo>
                <a:cubicBezTo>
                  <a:pt x="-1" y="1394373"/>
                  <a:pt x="1618301" y="40"/>
                  <a:pt x="3614568" y="40"/>
                </a:cubicBezTo>
                <a:cubicBezTo>
                  <a:pt x="5610843" y="40"/>
                  <a:pt x="7229137" y="1394373"/>
                  <a:pt x="7229137" y="3114376"/>
                </a:cubicBezTo>
                <a:cubicBezTo>
                  <a:pt x="7229137" y="4834378"/>
                  <a:pt x="5610843" y="6228715"/>
                  <a:pt x="3614568" y="6228715"/>
                </a:cubicBezTo>
                <a:cubicBezTo>
                  <a:pt x="1618301" y="6228715"/>
                  <a:pt x="-1" y="4834378"/>
                  <a:pt x="-1" y="3114376"/>
                </a:cubicBezTo>
                <a:close/>
              </a:path>
            </a:pathLst>
          </a:custGeom>
          <a:solidFill>
            <a:schemeClr val="tx2">
              <a:lumMod val="90000"/>
              <a:lumOff val="10000"/>
              <a:alpha val="15000"/>
            </a:scheme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2D1C603-BB36-DC62-D744-27D2A9D5C8FD}"/>
              </a:ext>
            </a:extLst>
          </p:cNvPr>
          <p:cNvSpPr/>
          <p:nvPr/>
        </p:nvSpPr>
        <p:spPr>
          <a:xfrm>
            <a:off x="3003618" y="72185"/>
            <a:ext cx="7229139" cy="6228677"/>
          </a:xfrm>
          <a:custGeom>
            <a:avLst/>
            <a:gdLst>
              <a:gd name="csX0" fmla="*/ -1371 w 7229139"/>
              <a:gd name="csY0" fmla="*/ 3112940 h 6228677"/>
              <a:gd name="csX1" fmla="*/ 3613199 w 7229139"/>
              <a:gd name="csY1" fmla="*/ -1399 h 6228677"/>
              <a:gd name="csX2" fmla="*/ 7227768 w 7229139"/>
              <a:gd name="csY2" fmla="*/ 3112940 h 6228677"/>
              <a:gd name="csX3" fmla="*/ 3613199 w 7229139"/>
              <a:gd name="csY3" fmla="*/ 6227279 h 6228677"/>
              <a:gd name="csX4" fmla="*/ -1371 w 7229139"/>
              <a:gd name="csY4" fmla="*/ 3112940 h 62286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9" h="6228677">
                <a:moveTo>
                  <a:pt x="-1371" y="3112940"/>
                </a:moveTo>
                <a:cubicBezTo>
                  <a:pt x="-1371" y="1392953"/>
                  <a:pt x="1616955" y="-1399"/>
                  <a:pt x="3613199" y="-1399"/>
                </a:cubicBezTo>
                <a:cubicBezTo>
                  <a:pt x="5609441" y="-1399"/>
                  <a:pt x="7227768" y="1392953"/>
                  <a:pt x="7227768" y="3112940"/>
                </a:cubicBezTo>
                <a:cubicBezTo>
                  <a:pt x="7227768" y="4832927"/>
                  <a:pt x="5609441" y="6227279"/>
                  <a:pt x="3613199" y="6227279"/>
                </a:cubicBezTo>
                <a:cubicBezTo>
                  <a:pt x="1616955" y="6227279"/>
                  <a:pt x="-1371" y="4832927"/>
                  <a:pt x="-1371" y="3112940"/>
                </a:cubicBezTo>
                <a:close/>
              </a:path>
            </a:pathLst>
          </a:custGeom>
          <a:solidFill>
            <a:schemeClr val="tx2">
              <a:lumMod val="90000"/>
              <a:lumOff val="10000"/>
              <a:alpha val="15000"/>
            </a:scheme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339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6D66A-D7AF-B1CC-9BA4-D6A1977AB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F56C558-0847-DE8B-A039-5ABDE8E9AF28}"/>
              </a:ext>
            </a:extLst>
          </p:cNvPr>
          <p:cNvSpPr/>
          <p:nvPr/>
        </p:nvSpPr>
        <p:spPr>
          <a:xfrm>
            <a:off x="5879169" y="552917"/>
            <a:ext cx="7229138" cy="6228674"/>
          </a:xfrm>
          <a:custGeom>
            <a:avLst/>
            <a:gdLst>
              <a:gd name="csX0" fmla="*/ -1 w 7229138"/>
              <a:gd name="csY0" fmla="*/ 3114376 h 6228674"/>
              <a:gd name="csX1" fmla="*/ 3614568 w 7229138"/>
              <a:gd name="csY1" fmla="*/ 40 h 6228674"/>
              <a:gd name="csX2" fmla="*/ 7229137 w 7229138"/>
              <a:gd name="csY2" fmla="*/ 3114376 h 6228674"/>
              <a:gd name="csX3" fmla="*/ 3614568 w 7229138"/>
              <a:gd name="csY3" fmla="*/ 6228715 h 6228674"/>
              <a:gd name="csX4" fmla="*/ -1 w 7229138"/>
              <a:gd name="csY4" fmla="*/ 3114376 h 6228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8" h="6228674">
                <a:moveTo>
                  <a:pt x="-1" y="3114376"/>
                </a:moveTo>
                <a:cubicBezTo>
                  <a:pt x="-1" y="1394373"/>
                  <a:pt x="1618301" y="40"/>
                  <a:pt x="3614568" y="40"/>
                </a:cubicBezTo>
                <a:cubicBezTo>
                  <a:pt x="5610843" y="40"/>
                  <a:pt x="7229137" y="1394373"/>
                  <a:pt x="7229137" y="3114376"/>
                </a:cubicBezTo>
                <a:cubicBezTo>
                  <a:pt x="7229137" y="4834378"/>
                  <a:pt x="5610843" y="6228715"/>
                  <a:pt x="3614568" y="6228715"/>
                </a:cubicBezTo>
                <a:cubicBezTo>
                  <a:pt x="1618301" y="6228715"/>
                  <a:pt x="-1" y="4834378"/>
                  <a:pt x="-1" y="3114376"/>
                </a:cubicBezTo>
                <a:close/>
              </a:path>
            </a:pathLst>
          </a:custGeom>
          <a:solidFill>
            <a:srgbClr val="4472C4">
              <a:alpha val="15000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2E11DD7-B020-DEE0-6B57-64F6EC35E0C3}"/>
              </a:ext>
            </a:extLst>
          </p:cNvPr>
          <p:cNvSpPr/>
          <p:nvPr/>
        </p:nvSpPr>
        <p:spPr>
          <a:xfrm>
            <a:off x="128068" y="72185"/>
            <a:ext cx="7229139" cy="6228677"/>
          </a:xfrm>
          <a:custGeom>
            <a:avLst/>
            <a:gdLst>
              <a:gd name="csX0" fmla="*/ -1371 w 7229139"/>
              <a:gd name="csY0" fmla="*/ 3112940 h 6228677"/>
              <a:gd name="csX1" fmla="*/ 3613199 w 7229139"/>
              <a:gd name="csY1" fmla="*/ -1399 h 6228677"/>
              <a:gd name="csX2" fmla="*/ 7227768 w 7229139"/>
              <a:gd name="csY2" fmla="*/ 3112940 h 6228677"/>
              <a:gd name="csX3" fmla="*/ 3613199 w 7229139"/>
              <a:gd name="csY3" fmla="*/ 6227279 h 6228677"/>
              <a:gd name="csX4" fmla="*/ -1371 w 7229139"/>
              <a:gd name="csY4" fmla="*/ 3112940 h 62286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9" h="6228677">
                <a:moveTo>
                  <a:pt x="-1371" y="3112940"/>
                </a:moveTo>
                <a:cubicBezTo>
                  <a:pt x="-1371" y="1392953"/>
                  <a:pt x="1616955" y="-1399"/>
                  <a:pt x="3613199" y="-1399"/>
                </a:cubicBezTo>
                <a:cubicBezTo>
                  <a:pt x="5609441" y="-1399"/>
                  <a:pt x="7227768" y="1392953"/>
                  <a:pt x="7227768" y="3112940"/>
                </a:cubicBezTo>
                <a:cubicBezTo>
                  <a:pt x="7227768" y="4832927"/>
                  <a:pt x="5609441" y="6227279"/>
                  <a:pt x="3613199" y="6227279"/>
                </a:cubicBezTo>
                <a:cubicBezTo>
                  <a:pt x="1616955" y="6227279"/>
                  <a:pt x="-1371" y="4832927"/>
                  <a:pt x="-1371" y="3112940"/>
                </a:cubicBezTo>
                <a:close/>
              </a:path>
            </a:pathLst>
          </a:custGeom>
          <a:solidFill>
            <a:srgbClr val="4472C4">
              <a:alpha val="15000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78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A604B6-864E-1810-6AC0-27E957569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511130"/>
              </p:ext>
            </p:extLst>
          </p:nvPr>
        </p:nvGraphicFramePr>
        <p:xfrm>
          <a:off x="493296" y="577514"/>
          <a:ext cx="10860504" cy="5069700"/>
        </p:xfrm>
        <a:graphic>
          <a:graphicData uri="http://schemas.openxmlformats.org/drawingml/2006/table">
            <a:tbl>
              <a:tblPr/>
              <a:tblGrid>
                <a:gridCol w="3620168">
                  <a:extLst>
                    <a:ext uri="{9D8B030D-6E8A-4147-A177-3AD203B41FA5}">
                      <a16:colId xmlns:a16="http://schemas.microsoft.com/office/drawing/2014/main" val="3192037608"/>
                    </a:ext>
                  </a:extLst>
                </a:gridCol>
                <a:gridCol w="3620168">
                  <a:extLst>
                    <a:ext uri="{9D8B030D-6E8A-4147-A177-3AD203B41FA5}">
                      <a16:colId xmlns:a16="http://schemas.microsoft.com/office/drawing/2014/main" val="1244275772"/>
                    </a:ext>
                  </a:extLst>
                </a:gridCol>
                <a:gridCol w="3620168">
                  <a:extLst>
                    <a:ext uri="{9D8B030D-6E8A-4147-A177-3AD203B41FA5}">
                      <a16:colId xmlns:a16="http://schemas.microsoft.com/office/drawing/2014/main" val="1218636775"/>
                    </a:ext>
                  </a:extLst>
                </a:gridCol>
              </a:tblGrid>
              <a:tr h="563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Step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Action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Result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671063"/>
                  </a:ext>
                </a:extLst>
              </a:tr>
              <a:tr h="563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Login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Razor Page generates minimal JWT.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Small Cookie (~500 bytes).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38428"/>
                  </a:ext>
                </a:extLst>
              </a:tr>
              <a:tr h="985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Request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  <a:latin typeface="Google Sans Text"/>
                        </a:rPr>
                        <a:t>SPA calls API; Browser sends Cookie.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Network traffic remains light.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342452"/>
                  </a:ext>
                </a:extLst>
              </a:tr>
              <a:tr h="985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Auth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Middleware validates JWT Signature.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  <a:latin typeface="Google Sans Text"/>
                        </a:rPr>
                        <a:t>Identity is verified (but has no roles).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351993"/>
                  </a:ext>
                </a:extLst>
              </a:tr>
              <a:tr h="985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Hydrate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TenantPermissionTransformer runs.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  <a:latin typeface="Google Sans Text"/>
                        </a:rPr>
                        <a:t>Identity now has full roles from RAM/Cache.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335751"/>
                  </a:ext>
                </a:extLst>
              </a:tr>
              <a:tr h="985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Action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  <a:latin typeface="Google Sans Text"/>
                        </a:rPr>
                        <a:t>[Authorize(Roles="Admin")] checks work.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effectLst/>
                          <a:latin typeface="Google Sans Text"/>
                        </a:rPr>
                        <a:t>High performance, zero DB hits (after first load).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56352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64D2BCA-9A93-7095-D07E-91BE6131E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10" y="117342"/>
            <a:ext cx="746643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Summary of the Flow</a:t>
            </a:r>
          </a:p>
        </p:txBody>
      </p:sp>
    </p:spTree>
    <p:extLst>
      <p:ext uri="{BB962C8B-B14F-4D97-AF65-F5344CB8AC3E}">
        <p14:creationId xmlns:p14="http://schemas.microsoft.com/office/powerpoint/2010/main" val="4016514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AECD7E4-ABA8-87DA-53DA-22139D7B232B}"/>
              </a:ext>
            </a:extLst>
          </p:cNvPr>
          <p:cNvSpPr/>
          <p:nvPr/>
        </p:nvSpPr>
        <p:spPr>
          <a:xfrm>
            <a:off x="8229600" y="1816761"/>
            <a:ext cx="2947737" cy="7716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Auth Api</a:t>
            </a:r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D4DAE5B-B2F5-1024-911B-46E515755CB8}"/>
              </a:ext>
            </a:extLst>
          </p:cNvPr>
          <p:cNvSpPr/>
          <p:nvPr/>
        </p:nvSpPr>
        <p:spPr>
          <a:xfrm>
            <a:off x="212555" y="665368"/>
            <a:ext cx="2947737" cy="7820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Razor Page</a:t>
            </a:r>
          </a:p>
          <a:p>
            <a:pPr algn="ctr"/>
            <a:r>
              <a:rPr lang="en-AU" dirty="0" err="1"/>
              <a:t>Identity.Web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1E5331-6B3B-19F4-AF2B-41FBF73BF830}"/>
              </a:ext>
            </a:extLst>
          </p:cNvPr>
          <p:cNvSpPr/>
          <p:nvPr/>
        </p:nvSpPr>
        <p:spPr>
          <a:xfrm>
            <a:off x="212554" y="5169567"/>
            <a:ext cx="2947737" cy="7716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SPA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DC1DAB-57B3-B86C-179E-71626A50A062}"/>
              </a:ext>
            </a:extLst>
          </p:cNvPr>
          <p:cNvSpPr/>
          <p:nvPr/>
        </p:nvSpPr>
        <p:spPr>
          <a:xfrm>
            <a:off x="9192130" y="5177975"/>
            <a:ext cx="2947737" cy="7716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Stores Api</a:t>
            </a:r>
            <a:endParaRPr lang="en-US" dirty="0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59BB86B9-297F-5EA8-2F16-28830FD20E3E}"/>
              </a:ext>
            </a:extLst>
          </p:cNvPr>
          <p:cNvSpPr/>
          <p:nvPr/>
        </p:nvSpPr>
        <p:spPr>
          <a:xfrm>
            <a:off x="9231230" y="547787"/>
            <a:ext cx="2418347" cy="1017215"/>
          </a:xfrm>
          <a:prstGeom prst="can">
            <a:avLst>
              <a:gd name="adj" fmla="val 1962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err="1"/>
              <a:t>BestFit</a:t>
            </a:r>
            <a:endParaRPr lang="en-AU" dirty="0"/>
          </a:p>
          <a:p>
            <a:pPr algn="ctr"/>
            <a:r>
              <a:rPr lang="en-AU" dirty="0" err="1"/>
              <a:t>ASP.NetUsers</a:t>
            </a:r>
            <a:endParaRPr lang="en-US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303A1308-A8F8-C4B2-CBCB-82A8268A34EB}"/>
              </a:ext>
            </a:extLst>
          </p:cNvPr>
          <p:cNvCxnSpPr>
            <a:cxnSpLocks/>
            <a:stCxn id="6" idx="2"/>
            <a:endCxn id="3" idx="3"/>
          </p:cNvCxnSpPr>
          <p:nvPr/>
        </p:nvCxnSpPr>
        <p:spPr>
          <a:xfrm rot="10800000">
            <a:off x="3160292" y="1056395"/>
            <a:ext cx="6070938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777D17A-F0D2-703D-2B06-59573D3E810A}"/>
              </a:ext>
            </a:extLst>
          </p:cNvPr>
          <p:cNvCxnSpPr>
            <a:cxnSpLocks/>
            <a:stCxn id="3" idx="0"/>
            <a:endCxn id="6" idx="1"/>
          </p:cNvCxnSpPr>
          <p:nvPr/>
        </p:nvCxnSpPr>
        <p:spPr>
          <a:xfrm rot="5400000" flipH="1" flipV="1">
            <a:off x="6004624" y="-3770412"/>
            <a:ext cx="117581" cy="8753980"/>
          </a:xfrm>
          <a:prstGeom prst="bentConnector3">
            <a:avLst>
              <a:gd name="adj1" fmla="val 2944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2FD12D8-D9E3-7DE8-F053-0EFE15826489}"/>
              </a:ext>
            </a:extLst>
          </p:cNvPr>
          <p:cNvSpPr txBox="1"/>
          <p:nvPr/>
        </p:nvSpPr>
        <p:spPr>
          <a:xfrm>
            <a:off x="3910262" y="-5"/>
            <a:ext cx="5793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1- </a:t>
            </a:r>
            <a:r>
              <a:rPr lang="en-AU" sz="1600" dirty="0" err="1"/>
              <a:t>AspNetUser</a:t>
            </a:r>
            <a:r>
              <a:rPr lang="en-AU" sz="1600" dirty="0"/>
              <a:t>  Login (create login in </a:t>
            </a:r>
            <a:r>
              <a:rPr lang="en-AU" sz="1600" dirty="0" err="1"/>
              <a:t>bestfit</a:t>
            </a:r>
            <a:r>
              <a:rPr lang="en-AU" sz="1600" dirty="0"/>
              <a:t> database)</a:t>
            </a:r>
            <a:br>
              <a:rPr lang="en-AU" sz="1600" dirty="0"/>
            </a:br>
            <a:r>
              <a:rPr lang="en-AU" sz="1600" dirty="0"/>
              <a:t>This login is to be linked later to a user in the tenant database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AADFA4-829F-B1D5-C1D9-21D29D0A92B0}"/>
              </a:ext>
            </a:extLst>
          </p:cNvPr>
          <p:cNvSpPr txBox="1"/>
          <p:nvPr/>
        </p:nvSpPr>
        <p:spPr>
          <a:xfrm>
            <a:off x="1686422" y="2318455"/>
            <a:ext cx="64469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4- </a:t>
            </a:r>
            <a:r>
              <a:rPr lang="en-AU" sz="1600" dirty="0" err="1"/>
              <a:t>AspNetUserId-TenantId-AuthUserId</a:t>
            </a:r>
            <a:r>
              <a:rPr lang="en-AU" sz="1600" dirty="0"/>
              <a:t>  </a:t>
            </a:r>
            <a:r>
              <a:rPr lang="en-AU" sz="1600" dirty="0" err="1"/>
              <a:t>accessToken</a:t>
            </a:r>
            <a:endParaRPr lang="en-AU" sz="1600" dirty="0"/>
          </a:p>
          <a:p>
            <a:r>
              <a:rPr lang="en-AU" sz="1600" dirty="0"/>
              <a:t>5- </a:t>
            </a:r>
            <a:r>
              <a:rPr lang="en-AU" sz="1600" dirty="0" err="1"/>
              <a:t>JwtToken</a:t>
            </a:r>
            <a:r>
              <a:rPr lang="en-AU" sz="1600" dirty="0"/>
              <a:t>: </a:t>
            </a:r>
            <a:r>
              <a:rPr lang="en-AU" sz="1600" dirty="0" err="1"/>
              <a:t>AuthUserId</a:t>
            </a:r>
            <a:r>
              <a:rPr lang="en-AU" sz="1600" dirty="0"/>
              <a:t>, </a:t>
            </a:r>
            <a:r>
              <a:rPr lang="en-AU" sz="1600" dirty="0" err="1"/>
              <a:t>RoleIds</a:t>
            </a:r>
            <a:r>
              <a:rPr lang="en-AU" sz="1600" dirty="0"/>
              <a:t>, </a:t>
            </a:r>
            <a:r>
              <a:rPr lang="en-AU" sz="1600" dirty="0" err="1"/>
              <a:t>appIds</a:t>
            </a:r>
            <a:r>
              <a:rPr lang="en-AU" sz="1600" dirty="0"/>
              <a:t>, methods.</a:t>
            </a:r>
          </a:p>
          <a:p>
            <a:r>
              <a:rPr lang="en-AU" sz="1600" dirty="0"/>
              <a:t> - Same </a:t>
            </a:r>
            <a:r>
              <a:rPr lang="en-AU" sz="1600" dirty="0" err="1"/>
              <a:t>accessToken</a:t>
            </a:r>
            <a:r>
              <a:rPr lang="en-AU" sz="1600" dirty="0"/>
              <a:t> but </a:t>
            </a:r>
            <a:r>
              <a:rPr lang="en-AU" sz="1600" dirty="0" err="1"/>
              <a:t>HttpOnly</a:t>
            </a:r>
            <a:r>
              <a:rPr lang="en-AU" sz="1600" dirty="0"/>
              <a:t> as refresh token with more lifetime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1672D9-B5D7-0A5F-FE6E-9857DFEA5471}"/>
              </a:ext>
            </a:extLst>
          </p:cNvPr>
          <p:cNvSpPr txBox="1"/>
          <p:nvPr/>
        </p:nvSpPr>
        <p:spPr>
          <a:xfrm>
            <a:off x="3008633" y="1803183"/>
            <a:ext cx="2955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/>
              <a:t>3- </a:t>
            </a:r>
            <a:r>
              <a:rPr lang="en-AU" sz="1600" dirty="0" err="1"/>
              <a:t>ASPNetUser</a:t>
            </a:r>
            <a:r>
              <a:rPr lang="en-AU" sz="1600" dirty="0"/>
              <a:t> Selects a tenant</a:t>
            </a: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C152B0-7EF7-2B3B-76DF-F690849E5C2A}"/>
              </a:ext>
            </a:extLst>
          </p:cNvPr>
          <p:cNvSpPr txBox="1"/>
          <p:nvPr/>
        </p:nvSpPr>
        <p:spPr>
          <a:xfrm>
            <a:off x="4241487" y="1053280"/>
            <a:ext cx="35886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/>
              <a:t>2- </a:t>
            </a:r>
            <a:r>
              <a:rPr lang="en-AU" sz="1600" dirty="0" err="1"/>
              <a:t>AspNetUser</a:t>
            </a:r>
            <a:r>
              <a:rPr lang="en-AU" sz="1600" dirty="0"/>
              <a:t> claims carry its Tenants</a:t>
            </a:r>
          </a:p>
          <a:p>
            <a:pPr algn="ctr"/>
            <a:r>
              <a:rPr lang="en-AU" sz="1600" dirty="0"/>
              <a:t>(That is done be the link operation)</a:t>
            </a:r>
            <a:endParaRPr lang="en-US" sz="1600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91E0D081-2871-2E34-1EFB-2B4F1715745C}"/>
              </a:ext>
            </a:extLst>
          </p:cNvPr>
          <p:cNvCxnSpPr>
            <a:cxnSpLocks/>
            <a:stCxn id="3" idx="2"/>
            <a:endCxn id="2" idx="1"/>
          </p:cNvCxnSpPr>
          <p:nvPr/>
        </p:nvCxnSpPr>
        <p:spPr>
          <a:xfrm rot="16200000" flipH="1">
            <a:off x="4580441" y="-1446596"/>
            <a:ext cx="755143" cy="65431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953B375-2B0D-20F6-8D29-B554F25E7BB0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 rot="5400000" flipH="1">
            <a:off x="4192026" y="-2923076"/>
            <a:ext cx="1531972" cy="9490914"/>
          </a:xfrm>
          <a:prstGeom prst="bentConnector4">
            <a:avLst>
              <a:gd name="adj1" fmla="val -14922"/>
              <a:gd name="adj2" fmla="val 10240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756C8C84-5543-5C05-D317-088C59D2ACAF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rot="5400000">
            <a:off x="-174649" y="3308494"/>
            <a:ext cx="3722146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6D5CBB-76F1-B145-B53D-4FB4A4F6B7FB}"/>
              </a:ext>
            </a:extLst>
          </p:cNvPr>
          <p:cNvSpPr txBox="1"/>
          <p:nvPr/>
        </p:nvSpPr>
        <p:spPr>
          <a:xfrm>
            <a:off x="1814741" y="3400091"/>
            <a:ext cx="6631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5- Create a cookie </a:t>
            </a:r>
            <a:r>
              <a:rPr lang="en-AU" sz="1600" dirty="0" err="1"/>
              <a:t>UserId</a:t>
            </a:r>
            <a:r>
              <a:rPr lang="en-AU" sz="1600" dirty="0"/>
              <a:t>- </a:t>
            </a:r>
            <a:r>
              <a:rPr lang="en-AU" sz="1600" dirty="0" err="1"/>
              <a:t>TenantId-AuthUserId</a:t>
            </a:r>
            <a:r>
              <a:rPr lang="en-AU" sz="1600" dirty="0"/>
              <a:t> Token</a:t>
            </a:r>
          </a:p>
          <a:p>
            <a:endParaRPr lang="en-AU" sz="1600" dirty="0"/>
          </a:p>
          <a:p>
            <a:r>
              <a:rPr lang="en-AU" sz="1600" dirty="0"/>
              <a:t>6-Redirect the user to SPA, the cookie will be accessible to the SPA as well</a:t>
            </a:r>
            <a:endParaRPr lang="en-US" sz="1600" dirty="0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A17DF446-1257-1D0E-A47F-FBB7ADD127BF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160291" y="5555371"/>
            <a:ext cx="6031839" cy="840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07084EC-93E2-1ABD-1610-68A96D70CF69}"/>
              </a:ext>
            </a:extLst>
          </p:cNvPr>
          <p:cNvCxnSpPr>
            <a:cxnSpLocks/>
            <a:stCxn id="5" idx="2"/>
            <a:endCxn id="4" idx="2"/>
          </p:cNvCxnSpPr>
          <p:nvPr/>
        </p:nvCxnSpPr>
        <p:spPr>
          <a:xfrm rot="5400000" flipH="1">
            <a:off x="6172007" y="1455590"/>
            <a:ext cx="8407" cy="8979576"/>
          </a:xfrm>
          <a:prstGeom prst="bentConnector3">
            <a:avLst>
              <a:gd name="adj1" fmla="val -271916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3937C4C-E0B2-AFBF-EEE5-2F05964B89D2}"/>
              </a:ext>
            </a:extLst>
          </p:cNvPr>
          <p:cNvSpPr txBox="1"/>
          <p:nvPr/>
        </p:nvSpPr>
        <p:spPr>
          <a:xfrm>
            <a:off x="3186335" y="4829051"/>
            <a:ext cx="3968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7- send </a:t>
            </a:r>
            <a:r>
              <a:rPr lang="en-AU" sz="1600" dirty="0" err="1"/>
              <a:t>UserId</a:t>
            </a:r>
            <a:r>
              <a:rPr lang="en-AU" sz="1600" dirty="0"/>
              <a:t>- </a:t>
            </a:r>
            <a:r>
              <a:rPr lang="en-AU" sz="1600" dirty="0" err="1"/>
              <a:t>TenantId-AuthUserId</a:t>
            </a:r>
            <a:r>
              <a:rPr lang="en-AU" sz="1600" dirty="0"/>
              <a:t> Token</a:t>
            </a:r>
          </a:p>
          <a:p>
            <a:r>
              <a:rPr lang="en-AU" sz="1600" dirty="0"/>
              <a:t>Request UI Permissions</a:t>
            </a:r>
          </a:p>
          <a:p>
            <a:r>
              <a:rPr lang="en-AU" sz="1600" dirty="0"/>
              <a:t>Get Permissions from </a:t>
            </a:r>
            <a:r>
              <a:rPr lang="en-AU" sz="1600" dirty="0" err="1"/>
              <a:t>IMemoryCache</a:t>
            </a:r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A34CCD-B58E-8140-BF82-1E7F944FB8DD}"/>
              </a:ext>
            </a:extLst>
          </p:cNvPr>
          <p:cNvSpPr txBox="1"/>
          <p:nvPr/>
        </p:nvSpPr>
        <p:spPr>
          <a:xfrm>
            <a:off x="3302637" y="6137726"/>
            <a:ext cx="3968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8- send </a:t>
            </a:r>
            <a:r>
              <a:rPr lang="en-AU" sz="1600" dirty="0" err="1"/>
              <a:t>UserId</a:t>
            </a:r>
            <a:r>
              <a:rPr lang="en-AU" sz="1600" dirty="0"/>
              <a:t>- </a:t>
            </a:r>
            <a:r>
              <a:rPr lang="en-AU" sz="1600" dirty="0" err="1"/>
              <a:t>TenantId-AuthUserId</a:t>
            </a:r>
            <a:r>
              <a:rPr lang="en-AU" sz="1600" dirty="0"/>
              <a:t> Token</a:t>
            </a:r>
          </a:p>
          <a:p>
            <a:r>
              <a:rPr lang="en-AU" sz="1600" dirty="0"/>
              <a:t>Request Data</a:t>
            </a:r>
          </a:p>
        </p:txBody>
      </p:sp>
    </p:spTree>
    <p:extLst>
      <p:ext uri="{BB962C8B-B14F-4D97-AF65-F5344CB8AC3E}">
        <p14:creationId xmlns:p14="http://schemas.microsoft.com/office/powerpoint/2010/main" val="1257513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BDDFAB-F8C8-F646-CC2B-9C40BE610362}"/>
              </a:ext>
            </a:extLst>
          </p:cNvPr>
          <p:cNvSpPr txBox="1"/>
          <p:nvPr/>
        </p:nvSpPr>
        <p:spPr>
          <a:xfrm>
            <a:off x="84221" y="-293610"/>
            <a:ext cx="12192000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using </a:t>
            </a:r>
            <a:r>
              <a:rPr lang="en-US" sz="1200" dirty="0" err="1"/>
              <a:t>Microsoft.IdentityModel.Tokens</a:t>
            </a:r>
            <a:r>
              <a:rPr lang="en-US" sz="1200" dirty="0"/>
              <a:t>;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System.IdentityModel.Tokens.Jwt</a:t>
            </a:r>
            <a:r>
              <a:rPr lang="en-US" sz="1200" dirty="0"/>
              <a:t>;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System.Security.Claims</a:t>
            </a:r>
            <a:r>
              <a:rPr lang="en-US" sz="1200" dirty="0"/>
              <a:t>;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System.Text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private async Task&lt;string&gt; </a:t>
            </a:r>
            <a:r>
              <a:rPr lang="en-US" sz="1200" dirty="0" err="1"/>
              <a:t>GetUserTenantTokenAsync</a:t>
            </a:r>
            <a:r>
              <a:rPr lang="en-US" sz="1200" dirty="0"/>
              <a:t>(string </a:t>
            </a:r>
            <a:r>
              <a:rPr lang="en-US" sz="1200" dirty="0" err="1"/>
              <a:t>tenantId</a:t>
            </a:r>
            <a:r>
              <a:rPr lang="en-US" sz="1200" dirty="0"/>
              <a:t>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 // 1. Setup Security Key and Credentials</a:t>
            </a:r>
          </a:p>
          <a:p>
            <a:r>
              <a:rPr lang="en-US" sz="1200" dirty="0"/>
              <a:t>    // In production, pull "</a:t>
            </a:r>
            <a:r>
              <a:rPr lang="en-US" sz="1200" dirty="0" err="1"/>
              <a:t>YourSuperSecretKey</a:t>
            </a:r>
            <a:r>
              <a:rPr lang="en-US" sz="1200" dirty="0"/>
              <a:t>" from User Secrets or Key Vault</a:t>
            </a:r>
          </a:p>
          <a:p>
            <a:r>
              <a:rPr lang="en-US" sz="1200" dirty="0"/>
              <a:t>    var key = new </a:t>
            </a:r>
            <a:r>
              <a:rPr lang="en-US" sz="1200" dirty="0" err="1"/>
              <a:t>SymmetricSecurityKey</a:t>
            </a:r>
            <a:r>
              <a:rPr lang="en-US" sz="1200" dirty="0"/>
              <a:t>(Encoding.UTF8.GetBytes("YourSuperSecretKey_MustBeAtLeast32Chars!"));</a:t>
            </a:r>
          </a:p>
          <a:p>
            <a:r>
              <a:rPr lang="en-US" sz="1200" dirty="0"/>
              <a:t>    var creds = new </a:t>
            </a:r>
            <a:r>
              <a:rPr lang="en-US" sz="1200" dirty="0" err="1"/>
              <a:t>SigningCredentials</a:t>
            </a:r>
            <a:r>
              <a:rPr lang="en-US" sz="1200" dirty="0"/>
              <a:t>(key, SecurityAlgorithms.HmacSha256);</a:t>
            </a:r>
          </a:p>
          <a:p>
            <a:endParaRPr lang="en-US" sz="1200" dirty="0"/>
          </a:p>
          <a:p>
            <a:r>
              <a:rPr lang="en-US" sz="1200" dirty="0"/>
              <a:t>    // 2. Define Minimal Claims</a:t>
            </a:r>
          </a:p>
          <a:p>
            <a:r>
              <a:rPr lang="en-US" sz="1200" dirty="0"/>
              <a:t>    // We use short strings for keys to keep the JWT byte-size tiny</a:t>
            </a:r>
          </a:p>
          <a:p>
            <a:r>
              <a:rPr lang="en-US" sz="1200" dirty="0"/>
              <a:t>    var claims = new[]</a:t>
            </a:r>
          </a:p>
          <a:p>
            <a:r>
              <a:rPr lang="en-US" sz="1200" dirty="0"/>
              <a:t>    {</a:t>
            </a:r>
          </a:p>
          <a:p>
            <a:r>
              <a:rPr lang="en-US" sz="1200" dirty="0"/>
              <a:t>        new Claim("</a:t>
            </a:r>
            <a:r>
              <a:rPr lang="en-US" sz="1200" dirty="0" err="1"/>
              <a:t>tid</a:t>
            </a:r>
            <a:r>
              <a:rPr lang="en-US" sz="1200" dirty="0"/>
              <a:t>", </a:t>
            </a:r>
            <a:r>
              <a:rPr lang="en-US" sz="1200" dirty="0" err="1"/>
              <a:t>tenantId</a:t>
            </a:r>
            <a:r>
              <a:rPr lang="en-US" sz="1200" dirty="0"/>
              <a:t>),                               // </a:t>
            </a:r>
            <a:r>
              <a:rPr lang="en-US" sz="1200" dirty="0" err="1"/>
              <a:t>TenantId</a:t>
            </a:r>
            <a:endParaRPr lang="en-US" sz="1200" dirty="0"/>
          </a:p>
          <a:p>
            <a:r>
              <a:rPr lang="en-US" sz="1200" dirty="0"/>
              <a:t>        new Claim(</a:t>
            </a:r>
            <a:r>
              <a:rPr lang="en-US" sz="1200" dirty="0" err="1"/>
              <a:t>JwtRegisteredClaimNames.Sub</a:t>
            </a:r>
            <a:r>
              <a:rPr lang="en-US" sz="1200" dirty="0"/>
              <a:t>, </a:t>
            </a:r>
            <a:r>
              <a:rPr lang="en-US" sz="1200" dirty="0" err="1"/>
              <a:t>User.Identity.Name</a:t>
            </a:r>
            <a:r>
              <a:rPr lang="en-US" sz="1200" dirty="0"/>
              <a:t>), // </a:t>
            </a:r>
            <a:r>
              <a:rPr lang="en-US" sz="1200" dirty="0" err="1"/>
              <a:t>UserId</a:t>
            </a:r>
            <a:r>
              <a:rPr lang="en-US" sz="1200" dirty="0"/>
              <a:t> (Subject)</a:t>
            </a:r>
          </a:p>
          <a:p>
            <a:r>
              <a:rPr lang="en-US" sz="1200" dirty="0"/>
              <a:t>        new Claim("</a:t>
            </a:r>
            <a:r>
              <a:rPr lang="en-US" sz="1200" dirty="0" err="1"/>
              <a:t>oid</a:t>
            </a:r>
            <a:r>
              <a:rPr lang="en-US" sz="1200" dirty="0"/>
              <a:t>", </a:t>
            </a:r>
            <a:r>
              <a:rPr lang="en-US" sz="1200" dirty="0" err="1"/>
              <a:t>User.FindFirst</a:t>
            </a:r>
            <a:r>
              <a:rPr lang="en-US" sz="1200" dirty="0"/>
              <a:t>(</a:t>
            </a:r>
            <a:r>
              <a:rPr lang="en-US" sz="1200" dirty="0" err="1"/>
              <a:t>ClaimTypes.NameIdentifier</a:t>
            </a:r>
            <a:r>
              <a:rPr lang="en-US" sz="1200" dirty="0"/>
              <a:t>)?.Value ?? ""), // </a:t>
            </a:r>
            <a:r>
              <a:rPr lang="en-US" sz="1200" dirty="0" err="1"/>
              <a:t>AuthUserId</a:t>
            </a:r>
            <a:r>
              <a:rPr lang="en-US" sz="1200" dirty="0"/>
              <a:t> (Object ID)</a:t>
            </a:r>
          </a:p>
          <a:p>
            <a:r>
              <a:rPr lang="en-US" sz="1200" dirty="0"/>
              <a:t>        new Claim(</a:t>
            </a:r>
            <a:r>
              <a:rPr lang="en-US" sz="1200" dirty="0" err="1"/>
              <a:t>JwtRegisteredClaimNames.Jti</a:t>
            </a:r>
            <a:r>
              <a:rPr lang="en-US" sz="1200" dirty="0"/>
              <a:t>, </a:t>
            </a:r>
            <a:r>
              <a:rPr lang="en-US" sz="1200" dirty="0" err="1"/>
              <a:t>Guid.NewGuid</a:t>
            </a:r>
            <a:r>
              <a:rPr lang="en-US" sz="1200" dirty="0"/>
              <a:t>().</a:t>
            </a:r>
            <a:r>
              <a:rPr lang="en-US" sz="1200" dirty="0" err="1"/>
              <a:t>ToString</a:t>
            </a:r>
            <a:r>
              <a:rPr lang="en-US" sz="1200" dirty="0"/>
              <a:t>()), // Unique ID for this token</a:t>
            </a:r>
          </a:p>
          <a:p>
            <a:r>
              <a:rPr lang="en-US" sz="1200" dirty="0"/>
              <a:t>    };</a:t>
            </a:r>
          </a:p>
          <a:p>
            <a:endParaRPr lang="en-US" sz="1200" dirty="0"/>
          </a:p>
          <a:p>
            <a:r>
              <a:rPr lang="en-US" sz="1200" dirty="0"/>
              <a:t>    // 3. Create the Token Descriptor</a:t>
            </a:r>
          </a:p>
          <a:p>
            <a:r>
              <a:rPr lang="en-US" sz="1200" dirty="0"/>
              <a:t>    var </a:t>
            </a:r>
            <a:r>
              <a:rPr lang="en-US" sz="1200" dirty="0" err="1"/>
              <a:t>tokenDescriptor</a:t>
            </a:r>
            <a:r>
              <a:rPr lang="en-US" sz="1200" dirty="0"/>
              <a:t> = new </a:t>
            </a:r>
            <a:r>
              <a:rPr lang="en-US" sz="1200" dirty="0" err="1"/>
              <a:t>SecurityTokenDescriptor</a:t>
            </a:r>
            <a:endParaRPr lang="en-US" sz="1200" dirty="0"/>
          </a:p>
          <a:p>
            <a:r>
              <a:rPr lang="en-US" sz="1200" dirty="0"/>
              <a:t>    {</a:t>
            </a:r>
          </a:p>
          <a:p>
            <a:r>
              <a:rPr lang="en-US" sz="1200" dirty="0"/>
              <a:t>        Subject = new </a:t>
            </a:r>
            <a:r>
              <a:rPr lang="en-US" sz="1200" dirty="0" err="1"/>
              <a:t>ClaimsIdentity</a:t>
            </a:r>
            <a:r>
              <a:rPr lang="en-US" sz="1200" dirty="0"/>
              <a:t>(claims),</a:t>
            </a:r>
          </a:p>
          <a:p>
            <a:r>
              <a:rPr lang="en-US" sz="1200" dirty="0"/>
              <a:t>        Expires = </a:t>
            </a:r>
            <a:r>
              <a:rPr lang="en-US" sz="1200" dirty="0" err="1"/>
              <a:t>DateTime.UtcNow.AddHours</a:t>
            </a:r>
            <a:r>
              <a:rPr lang="en-US" sz="1200" dirty="0"/>
              <a:t>(8), // Match your cookie expiration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SigningCredentials</a:t>
            </a:r>
            <a:r>
              <a:rPr lang="en-US" sz="1200" dirty="0"/>
              <a:t> = creds,</a:t>
            </a:r>
          </a:p>
          <a:p>
            <a:r>
              <a:rPr lang="en-US" sz="1200" dirty="0"/>
              <a:t>        Issuer = "your-app-name",</a:t>
            </a:r>
          </a:p>
          <a:p>
            <a:r>
              <a:rPr lang="en-US" sz="1200" dirty="0"/>
              <a:t>        Audience = "your-spa-client"</a:t>
            </a:r>
          </a:p>
          <a:p>
            <a:r>
              <a:rPr lang="en-US" sz="1200" dirty="0"/>
              <a:t>    };</a:t>
            </a:r>
          </a:p>
          <a:p>
            <a:endParaRPr lang="en-US" sz="1200" dirty="0"/>
          </a:p>
          <a:p>
            <a:r>
              <a:rPr lang="en-US" sz="1200" dirty="0"/>
              <a:t>    // 4. Generate the String</a:t>
            </a:r>
          </a:p>
          <a:p>
            <a:r>
              <a:rPr lang="en-US" sz="1200" dirty="0"/>
              <a:t>    var </a:t>
            </a:r>
            <a:r>
              <a:rPr lang="en-US" sz="1200" dirty="0" err="1"/>
              <a:t>tokenHandler</a:t>
            </a:r>
            <a:r>
              <a:rPr lang="en-US" sz="1200" dirty="0"/>
              <a:t> = new </a:t>
            </a:r>
            <a:r>
              <a:rPr lang="en-US" sz="1200" dirty="0" err="1"/>
              <a:t>JwtSecurityTokenHandler</a:t>
            </a:r>
            <a:r>
              <a:rPr lang="en-US" sz="1200" dirty="0"/>
              <a:t>();</a:t>
            </a:r>
          </a:p>
          <a:p>
            <a:r>
              <a:rPr lang="en-US" sz="1200" dirty="0"/>
              <a:t>    var token = </a:t>
            </a:r>
            <a:r>
              <a:rPr lang="en-US" sz="1200" dirty="0" err="1"/>
              <a:t>tokenHandler.CreateToken</a:t>
            </a:r>
            <a:r>
              <a:rPr lang="en-US" sz="1200" dirty="0"/>
              <a:t>(</a:t>
            </a:r>
            <a:r>
              <a:rPr lang="en-US" sz="1200" dirty="0" err="1"/>
              <a:t>tokenDescriptor</a:t>
            </a:r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n-US" sz="1200" dirty="0"/>
              <a:t>    return await </a:t>
            </a:r>
            <a:r>
              <a:rPr lang="en-US" sz="1200" dirty="0" err="1"/>
              <a:t>Task.FromResult</a:t>
            </a:r>
            <a:r>
              <a:rPr lang="en-US" sz="1200" dirty="0"/>
              <a:t>(</a:t>
            </a:r>
            <a:r>
              <a:rPr lang="en-US" sz="1200" dirty="0" err="1"/>
              <a:t>tokenHandler.WriteToken</a:t>
            </a:r>
            <a:r>
              <a:rPr lang="en-US" sz="1200" dirty="0"/>
              <a:t>(token));</a:t>
            </a:r>
          </a:p>
          <a:p>
            <a:r>
              <a:rPr 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9882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94C54B-60DA-CDF8-6918-577F7A2C294D}"/>
              </a:ext>
            </a:extLst>
          </p:cNvPr>
          <p:cNvSpPr txBox="1"/>
          <p:nvPr/>
        </p:nvSpPr>
        <p:spPr>
          <a:xfrm>
            <a:off x="180474" y="1636891"/>
            <a:ext cx="1162250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Quick JS helper to get the cookie</a:t>
            </a:r>
          </a:p>
          <a:p>
            <a:r>
              <a:rPr lang="en-US" dirty="0"/>
              <a:t>const </a:t>
            </a:r>
            <a:r>
              <a:rPr lang="en-US" dirty="0" err="1"/>
              <a:t>getCookie</a:t>
            </a:r>
            <a:r>
              <a:rPr lang="en-US" dirty="0"/>
              <a:t> = (name) =&gt; {</a:t>
            </a:r>
          </a:p>
          <a:p>
            <a:r>
              <a:rPr lang="en-US" dirty="0"/>
              <a:t>  const value = `; ${</a:t>
            </a:r>
            <a:r>
              <a:rPr lang="en-US" dirty="0" err="1"/>
              <a:t>document.cookie</a:t>
            </a:r>
            <a:r>
              <a:rPr lang="en-US" dirty="0"/>
              <a:t>}`;</a:t>
            </a:r>
          </a:p>
          <a:p>
            <a:r>
              <a:rPr lang="en-US" dirty="0"/>
              <a:t>  const parts = </a:t>
            </a:r>
            <a:r>
              <a:rPr lang="en-US" dirty="0" err="1"/>
              <a:t>value.split</a:t>
            </a:r>
            <a:r>
              <a:rPr lang="en-US" dirty="0"/>
              <a:t>(`; ${name}=`);</a:t>
            </a:r>
          </a:p>
          <a:p>
            <a:r>
              <a:rPr lang="en-US" dirty="0"/>
              <a:t>  if (</a:t>
            </a:r>
            <a:r>
              <a:rPr lang="en-US" dirty="0" err="1"/>
              <a:t>parts.length</a:t>
            </a:r>
            <a:r>
              <a:rPr lang="en-US" dirty="0"/>
              <a:t> === 2) return </a:t>
            </a:r>
            <a:r>
              <a:rPr lang="en-US" dirty="0" err="1"/>
              <a:t>parts.pop</a:t>
            </a:r>
            <a:r>
              <a:rPr lang="en-US" dirty="0"/>
              <a:t>().split(';').shift();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const token = </a:t>
            </a:r>
            <a:r>
              <a:rPr lang="en-US" dirty="0" err="1"/>
              <a:t>getCookie</a:t>
            </a:r>
            <a:r>
              <a:rPr lang="en-US" dirty="0"/>
              <a:t>('</a:t>
            </a:r>
            <a:r>
              <a:rPr lang="en-US" dirty="0" err="1"/>
              <a:t>UserTenantToken</a:t>
            </a:r>
            <a:r>
              <a:rPr lang="en-US" dirty="0"/>
              <a:t>');</a:t>
            </a:r>
          </a:p>
          <a:p>
            <a:r>
              <a:rPr lang="en-US" dirty="0"/>
              <a:t>// The SPA can now attach this to 'Authorization: Bearer &lt;token&gt;' headers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C5A0C-D161-65E2-DB79-00C0A26E9F40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b="1" dirty="0"/>
              <a:t>3. How the SPA reads it</a:t>
            </a:r>
          </a:p>
          <a:p>
            <a:pPr>
              <a:buNone/>
            </a:pPr>
            <a:r>
              <a:rPr lang="en-AU" dirty="0"/>
              <a:t>Since you are storing this in a cookie with </a:t>
            </a:r>
            <a:r>
              <a:rPr lang="en-AU" dirty="0" err="1">
                <a:latin typeface="Courier New" panose="02070309020205020404" pitchFamily="49" charset="0"/>
              </a:rPr>
              <a:t>HttpOnly</a:t>
            </a:r>
            <a:r>
              <a:rPr lang="en-AU" dirty="0">
                <a:latin typeface="Courier New" panose="02070309020205020404" pitchFamily="49" charset="0"/>
              </a:rPr>
              <a:t> = false</a:t>
            </a:r>
            <a:r>
              <a:rPr lang="en-AU" dirty="0"/>
              <a:t> (from the previous step), your SPA can read it using a simple JavaScript library or a regex:</a:t>
            </a:r>
          </a:p>
        </p:txBody>
      </p:sp>
    </p:spTree>
    <p:extLst>
      <p:ext uri="{BB962C8B-B14F-4D97-AF65-F5344CB8AC3E}">
        <p14:creationId xmlns:p14="http://schemas.microsoft.com/office/powerpoint/2010/main" val="10477164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AAAD8A-671E-CBF8-2214-4C3224E9B49D}"/>
              </a:ext>
            </a:extLst>
          </p:cNvPr>
          <p:cNvSpPr txBox="1"/>
          <p:nvPr/>
        </p:nvSpPr>
        <p:spPr>
          <a:xfrm>
            <a:off x="565484" y="-499780"/>
            <a:ext cx="10756232" cy="9694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using </a:t>
            </a:r>
            <a:r>
              <a:rPr lang="en-US" sz="1200" dirty="0" err="1"/>
              <a:t>Microsoft.AspNetCore.Authentication</a:t>
            </a:r>
            <a:r>
              <a:rPr lang="en-US" sz="1200" dirty="0"/>
              <a:t>;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Microsoft.Extensions.Caching.Memory</a:t>
            </a:r>
            <a:r>
              <a:rPr lang="en-US" sz="1200" dirty="0"/>
              <a:t>;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System.Security.Claims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public class </a:t>
            </a:r>
            <a:r>
              <a:rPr lang="en-US" sz="1200" dirty="0" err="1"/>
              <a:t>TenantPermissionTransformer</a:t>
            </a:r>
            <a:r>
              <a:rPr lang="en-US" sz="1200" dirty="0"/>
              <a:t> : </a:t>
            </a:r>
            <a:r>
              <a:rPr lang="en-US" sz="1200" dirty="0" err="1"/>
              <a:t>IClaimsTransformation</a:t>
            </a:r>
            <a:endParaRPr lang="en-US" sz="1200" dirty="0"/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 private </a:t>
            </a:r>
            <a:r>
              <a:rPr lang="en-US" sz="1200" dirty="0" err="1"/>
              <a:t>readonly</a:t>
            </a:r>
            <a:r>
              <a:rPr lang="en-US" sz="1200" dirty="0"/>
              <a:t> </a:t>
            </a:r>
            <a:r>
              <a:rPr lang="en-US" sz="1200" dirty="0" err="1"/>
              <a:t>IMemoryCache</a:t>
            </a:r>
            <a:r>
              <a:rPr lang="en-US" sz="1200" dirty="0"/>
              <a:t> _cache;</a:t>
            </a:r>
          </a:p>
          <a:p>
            <a:r>
              <a:rPr lang="en-US" sz="1200" dirty="0"/>
              <a:t>    // Inject your DB context or Service here</a:t>
            </a:r>
          </a:p>
          <a:p>
            <a:r>
              <a:rPr lang="en-US" sz="1200" dirty="0"/>
              <a:t>    // private </a:t>
            </a:r>
            <a:r>
              <a:rPr lang="en-US" sz="1200" dirty="0" err="1"/>
              <a:t>readonly</a:t>
            </a:r>
            <a:r>
              <a:rPr lang="en-US" sz="1200" dirty="0"/>
              <a:t> </a:t>
            </a:r>
            <a:r>
              <a:rPr lang="en-US" sz="1200" dirty="0" err="1"/>
              <a:t>MyDbContext</a:t>
            </a:r>
            <a:r>
              <a:rPr lang="en-US" sz="1200" dirty="0"/>
              <a:t> _</a:t>
            </a:r>
            <a:r>
              <a:rPr lang="en-US" sz="1200" dirty="0" err="1"/>
              <a:t>db</a:t>
            </a:r>
            <a:r>
              <a:rPr lang="en-US" sz="1200" dirty="0"/>
              <a:t>; </a:t>
            </a:r>
          </a:p>
          <a:p>
            <a:endParaRPr lang="en-US" sz="1200" dirty="0"/>
          </a:p>
          <a:p>
            <a:r>
              <a:rPr lang="en-US" sz="1200" dirty="0"/>
              <a:t>    public </a:t>
            </a:r>
            <a:r>
              <a:rPr lang="en-US" sz="1200" dirty="0" err="1"/>
              <a:t>TenantPermissionTransformer</a:t>
            </a:r>
            <a:r>
              <a:rPr lang="en-US" sz="1200" dirty="0"/>
              <a:t>(</a:t>
            </a:r>
            <a:r>
              <a:rPr lang="en-US" sz="1200" dirty="0" err="1"/>
              <a:t>IMemoryCache</a:t>
            </a:r>
            <a:r>
              <a:rPr lang="en-US" sz="1200" dirty="0"/>
              <a:t> cache)</a:t>
            </a:r>
          </a:p>
          <a:p>
            <a:r>
              <a:rPr lang="en-US" sz="1200" dirty="0"/>
              <a:t>    {</a:t>
            </a:r>
          </a:p>
          <a:p>
            <a:r>
              <a:rPr lang="en-US" sz="1200" dirty="0"/>
              <a:t>        _cache = cache;</a:t>
            </a:r>
          </a:p>
          <a:p>
            <a:r>
              <a:rPr lang="en-US" sz="1200" dirty="0"/>
              <a:t>    }</a:t>
            </a:r>
          </a:p>
          <a:p>
            <a:endParaRPr lang="en-US" sz="1200" dirty="0"/>
          </a:p>
          <a:p>
            <a:r>
              <a:rPr lang="en-US" sz="1200" dirty="0"/>
              <a:t>    public async Task&lt;</a:t>
            </a:r>
            <a:r>
              <a:rPr lang="en-US" sz="1200" dirty="0" err="1"/>
              <a:t>ClaimsPrincipal</a:t>
            </a:r>
            <a:r>
              <a:rPr lang="en-US" sz="1200" dirty="0"/>
              <a:t>&gt; </a:t>
            </a:r>
            <a:r>
              <a:rPr lang="en-US" sz="1200" dirty="0" err="1"/>
              <a:t>TransformAsync</a:t>
            </a:r>
            <a:r>
              <a:rPr lang="en-US" sz="1200" dirty="0"/>
              <a:t>(</a:t>
            </a:r>
            <a:r>
              <a:rPr lang="en-US" sz="1200" dirty="0" err="1"/>
              <a:t>ClaimsPrincipal</a:t>
            </a:r>
            <a:r>
              <a:rPr lang="en-US" sz="1200" dirty="0"/>
              <a:t> principal)</a:t>
            </a:r>
          </a:p>
          <a:p>
            <a:r>
              <a:rPr lang="en-US" sz="1200" dirty="0"/>
              <a:t>    {</a:t>
            </a:r>
          </a:p>
          <a:p>
            <a:r>
              <a:rPr lang="en-US" sz="1200" dirty="0"/>
              <a:t>        // 1. Check if already transformed or if not authenticated</a:t>
            </a:r>
          </a:p>
          <a:p>
            <a:r>
              <a:rPr lang="en-US" sz="1200" dirty="0"/>
              <a:t>        if (!</a:t>
            </a:r>
            <a:r>
              <a:rPr lang="en-US" sz="1200" dirty="0" err="1"/>
              <a:t>principal.Identity.IsAuthenticated</a:t>
            </a:r>
            <a:r>
              <a:rPr lang="en-US" sz="1200" dirty="0"/>
              <a:t> || </a:t>
            </a:r>
            <a:r>
              <a:rPr lang="en-US" sz="1200" dirty="0" err="1"/>
              <a:t>principal.HasClaim</a:t>
            </a:r>
            <a:r>
              <a:rPr lang="en-US" sz="1200" dirty="0"/>
              <a:t>(c =&gt; </a:t>
            </a:r>
            <a:r>
              <a:rPr lang="en-US" sz="1200" dirty="0" err="1"/>
              <a:t>c.Type</a:t>
            </a:r>
            <a:r>
              <a:rPr lang="en-US" sz="1200" dirty="0"/>
              <a:t> == "</a:t>
            </a:r>
            <a:r>
              <a:rPr lang="en-US" sz="1200" dirty="0" err="1"/>
              <a:t>permissions_loaded</a:t>
            </a:r>
            <a:r>
              <a:rPr lang="en-US" sz="1200" dirty="0"/>
              <a:t>"))</a:t>
            </a:r>
          </a:p>
          <a:p>
            <a:r>
              <a:rPr lang="en-US" sz="1200" dirty="0"/>
              <a:t>            return principal;</a:t>
            </a:r>
          </a:p>
          <a:p>
            <a:endParaRPr lang="en-US" sz="1200" dirty="0"/>
          </a:p>
          <a:p>
            <a:r>
              <a:rPr lang="en-US" sz="1200" dirty="0"/>
              <a:t>        var clone = </a:t>
            </a:r>
            <a:r>
              <a:rPr lang="en-US" sz="1200" dirty="0" err="1"/>
              <a:t>principal.Clone</a:t>
            </a:r>
            <a:r>
              <a:rPr lang="en-US" sz="1200" dirty="0"/>
              <a:t>();</a:t>
            </a:r>
          </a:p>
          <a:p>
            <a:r>
              <a:rPr lang="en-US" sz="1200" dirty="0"/>
              <a:t>        var </a:t>
            </a:r>
            <a:r>
              <a:rPr lang="en-US" sz="1200" dirty="0" err="1"/>
              <a:t>newIdentity</a:t>
            </a:r>
            <a:r>
              <a:rPr lang="en-US" sz="1200" dirty="0"/>
              <a:t> = (</a:t>
            </a:r>
            <a:r>
              <a:rPr lang="en-US" sz="1200" dirty="0" err="1"/>
              <a:t>ClaimsIdentity</a:t>
            </a:r>
            <a:r>
              <a:rPr lang="en-US" sz="1200" dirty="0"/>
              <a:t>)</a:t>
            </a:r>
            <a:r>
              <a:rPr lang="en-US" sz="1200" dirty="0" err="1"/>
              <a:t>clone.Identity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        // 2. Extract minimal data from JWT</a:t>
            </a:r>
          </a:p>
          <a:p>
            <a:r>
              <a:rPr lang="en-US" sz="1200" dirty="0"/>
              <a:t>        var </a:t>
            </a:r>
            <a:r>
              <a:rPr lang="en-US" sz="1200" dirty="0" err="1"/>
              <a:t>userId</a:t>
            </a:r>
            <a:r>
              <a:rPr lang="en-US" sz="1200" dirty="0"/>
              <a:t> = </a:t>
            </a:r>
            <a:r>
              <a:rPr lang="en-US" sz="1200" dirty="0" err="1"/>
              <a:t>principal.FindFirst</a:t>
            </a:r>
            <a:r>
              <a:rPr lang="en-US" sz="1200" dirty="0"/>
              <a:t>(</a:t>
            </a:r>
            <a:r>
              <a:rPr lang="en-US" sz="1200" dirty="0" err="1"/>
              <a:t>ClaimTypes.NameIdentifier</a:t>
            </a:r>
            <a:r>
              <a:rPr lang="en-US" sz="1200" dirty="0"/>
              <a:t>)?.Value;</a:t>
            </a:r>
          </a:p>
          <a:p>
            <a:r>
              <a:rPr lang="en-US" sz="1200" dirty="0"/>
              <a:t>        var </a:t>
            </a:r>
            <a:r>
              <a:rPr lang="en-US" sz="1200" dirty="0" err="1"/>
              <a:t>tenantId</a:t>
            </a:r>
            <a:r>
              <a:rPr lang="en-US" sz="1200" dirty="0"/>
              <a:t> = </a:t>
            </a:r>
            <a:r>
              <a:rPr lang="en-US" sz="1200" dirty="0" err="1"/>
              <a:t>principal.FindFirst</a:t>
            </a:r>
            <a:r>
              <a:rPr lang="en-US" sz="1200" dirty="0"/>
              <a:t>("</a:t>
            </a:r>
            <a:r>
              <a:rPr lang="en-US" sz="1200" dirty="0" err="1"/>
              <a:t>tid</a:t>
            </a:r>
            <a:r>
              <a:rPr lang="en-US" sz="1200" dirty="0"/>
              <a:t>")?.Value;</a:t>
            </a:r>
          </a:p>
          <a:p>
            <a:endParaRPr lang="en-US" sz="1200" dirty="0"/>
          </a:p>
          <a:p>
            <a:r>
              <a:rPr lang="en-US" sz="1200" dirty="0"/>
              <a:t>        if (</a:t>
            </a:r>
            <a:r>
              <a:rPr lang="en-US" sz="1200" dirty="0" err="1"/>
              <a:t>string.IsNullOrEmpty</a:t>
            </a:r>
            <a:r>
              <a:rPr lang="en-US" sz="1200" dirty="0"/>
              <a:t>(</a:t>
            </a:r>
            <a:r>
              <a:rPr lang="en-US" sz="1200" dirty="0" err="1"/>
              <a:t>userId</a:t>
            </a:r>
            <a:r>
              <a:rPr lang="en-US" sz="1200" dirty="0"/>
              <a:t>) || </a:t>
            </a:r>
            <a:r>
              <a:rPr lang="en-US" sz="1200" dirty="0" err="1"/>
              <a:t>string.IsNullOrEmpty</a:t>
            </a:r>
            <a:r>
              <a:rPr lang="en-US" sz="1200" dirty="0"/>
              <a:t>(</a:t>
            </a:r>
            <a:r>
              <a:rPr lang="en-US" sz="1200" dirty="0" err="1"/>
              <a:t>tenantId</a:t>
            </a:r>
            <a:r>
              <a:rPr lang="en-US" sz="1200" dirty="0"/>
              <a:t>)) return principal;</a:t>
            </a:r>
          </a:p>
          <a:p>
            <a:endParaRPr lang="en-US" sz="1200" dirty="0"/>
          </a:p>
          <a:p>
            <a:r>
              <a:rPr lang="en-US" sz="1200" dirty="0"/>
              <a:t>        // 3. Get Permissions (Cache-First)</a:t>
            </a:r>
          </a:p>
          <a:p>
            <a:r>
              <a:rPr lang="en-US" sz="1200" dirty="0"/>
              <a:t>        string </a:t>
            </a:r>
            <a:r>
              <a:rPr lang="en-US" sz="1200" dirty="0" err="1"/>
              <a:t>cacheKey</a:t>
            </a:r>
            <a:r>
              <a:rPr lang="en-US" sz="1200" dirty="0"/>
              <a:t> = $"perms_{</a:t>
            </a:r>
            <a:r>
              <a:rPr lang="en-US" sz="1200" dirty="0" err="1"/>
              <a:t>tenantId</a:t>
            </a:r>
            <a:r>
              <a:rPr lang="en-US" sz="1200" dirty="0"/>
              <a:t>}_{</a:t>
            </a:r>
            <a:r>
              <a:rPr lang="en-US" sz="1200" dirty="0" err="1"/>
              <a:t>userId</a:t>
            </a:r>
            <a:r>
              <a:rPr lang="en-US" sz="1200" dirty="0"/>
              <a:t>}";</a:t>
            </a:r>
          </a:p>
          <a:p>
            <a:r>
              <a:rPr lang="en-US" sz="1200" dirty="0"/>
              <a:t>        var permissions = await _</a:t>
            </a:r>
            <a:r>
              <a:rPr lang="en-US" sz="1200" dirty="0" err="1"/>
              <a:t>cache.GetOrCreateAsync</a:t>
            </a:r>
            <a:r>
              <a:rPr lang="en-US" sz="1200" dirty="0"/>
              <a:t>(</a:t>
            </a:r>
            <a:r>
              <a:rPr lang="en-US" sz="1200" dirty="0" err="1"/>
              <a:t>cacheKey</a:t>
            </a:r>
            <a:r>
              <a:rPr lang="en-US" sz="1200" dirty="0"/>
              <a:t>, entry =&gt;</a:t>
            </a:r>
          </a:p>
          <a:p>
            <a:r>
              <a:rPr lang="en-US" sz="1200" dirty="0"/>
              <a:t>        {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entry.SlidingExpiration</a:t>
            </a:r>
            <a:r>
              <a:rPr lang="en-US" sz="1200" dirty="0"/>
              <a:t> = </a:t>
            </a:r>
            <a:r>
              <a:rPr lang="en-US" sz="1200" dirty="0" err="1"/>
              <a:t>TimeSpan.FromMinutes</a:t>
            </a:r>
            <a:r>
              <a:rPr lang="en-US" sz="1200" dirty="0"/>
              <a:t>(30);</a:t>
            </a:r>
          </a:p>
          <a:p>
            <a:r>
              <a:rPr lang="en-US" sz="1200" dirty="0"/>
              <a:t>            // REPLACE: Call your actual database logic here</a:t>
            </a:r>
          </a:p>
          <a:p>
            <a:r>
              <a:rPr lang="en-US" sz="1200" dirty="0"/>
              <a:t>            return </a:t>
            </a:r>
            <a:r>
              <a:rPr lang="en-US" sz="1200" dirty="0" err="1"/>
              <a:t>Task.FromResult</a:t>
            </a:r>
            <a:r>
              <a:rPr lang="en-US" sz="1200" dirty="0"/>
              <a:t>(new List&lt;string&gt; { "</a:t>
            </a:r>
            <a:r>
              <a:rPr lang="en-US" sz="1200" dirty="0" err="1"/>
              <a:t>User.Read</a:t>
            </a:r>
            <a:r>
              <a:rPr lang="en-US" sz="1200" dirty="0"/>
              <a:t>", "</a:t>
            </a:r>
            <a:r>
              <a:rPr lang="en-US" sz="1200" dirty="0" err="1"/>
              <a:t>Tenant.Admin</a:t>
            </a:r>
            <a:r>
              <a:rPr lang="en-US" sz="1200" dirty="0"/>
              <a:t>" }); </a:t>
            </a:r>
          </a:p>
          <a:p>
            <a:r>
              <a:rPr lang="en-US" sz="1200" dirty="0"/>
              <a:t>        });</a:t>
            </a:r>
          </a:p>
          <a:p>
            <a:endParaRPr lang="en-US" sz="1200" dirty="0"/>
          </a:p>
          <a:p>
            <a:r>
              <a:rPr lang="en-US" sz="1200" dirty="0"/>
              <a:t>        // 4. "Hydrate" the identity with the full list</a:t>
            </a:r>
          </a:p>
          <a:p>
            <a:r>
              <a:rPr lang="en-US" sz="1200" dirty="0"/>
              <a:t>        foreach (var permission in permissions)</a:t>
            </a:r>
          </a:p>
          <a:p>
            <a:r>
              <a:rPr lang="en-US" sz="1200" dirty="0"/>
              <a:t>        {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newIdentity.AddClaim</a:t>
            </a:r>
            <a:r>
              <a:rPr lang="en-US" sz="1200" dirty="0"/>
              <a:t>(new Claim("perm", permission));</a:t>
            </a:r>
          </a:p>
          <a:p>
            <a:r>
              <a:rPr lang="en-US" sz="1200" dirty="0"/>
              <a:t>        }</a:t>
            </a:r>
          </a:p>
          <a:p>
            <a:endParaRPr lang="en-US" sz="1200" dirty="0"/>
          </a:p>
          <a:p>
            <a:r>
              <a:rPr lang="en-US" sz="1200" dirty="0"/>
              <a:t>        // Mark as loaded so we don't repeat this in the same request pipe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newIdentity.AddClaim</a:t>
            </a:r>
            <a:r>
              <a:rPr lang="en-US" sz="1200" dirty="0"/>
              <a:t>(new Claim("</a:t>
            </a:r>
            <a:r>
              <a:rPr lang="en-US" sz="1200" dirty="0" err="1"/>
              <a:t>permissions_loaded</a:t>
            </a:r>
            <a:r>
              <a:rPr lang="en-US" sz="1200" dirty="0"/>
              <a:t>", "true"));</a:t>
            </a:r>
          </a:p>
          <a:p>
            <a:endParaRPr lang="en-US" sz="1200" dirty="0"/>
          </a:p>
          <a:p>
            <a:r>
              <a:rPr lang="en-US" sz="1200" dirty="0"/>
              <a:t>        return clone;</a:t>
            </a:r>
          </a:p>
          <a:p>
            <a:r>
              <a:rPr lang="en-US" sz="1200" dirty="0"/>
              <a:t>    }</a:t>
            </a:r>
          </a:p>
          <a:p>
            <a:r>
              <a:rPr 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9877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F0DAC2-F734-BEF2-3254-C576A1A30E65}"/>
              </a:ext>
            </a:extLst>
          </p:cNvPr>
          <p:cNvSpPr txBox="1"/>
          <p:nvPr/>
        </p:nvSpPr>
        <p:spPr>
          <a:xfrm>
            <a:off x="601580" y="-83458"/>
            <a:ext cx="10840452" cy="858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using </a:t>
            </a:r>
            <a:r>
              <a:rPr lang="en-US" sz="1200" dirty="0" err="1"/>
              <a:t>Microsoft.AspNetCore.Authentication.JwtBearer</a:t>
            </a:r>
            <a:r>
              <a:rPr lang="en-US" sz="1200" dirty="0"/>
              <a:t>;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Microsoft.IdentityModel.Tokens</a:t>
            </a:r>
            <a:r>
              <a:rPr lang="en-US" sz="1200" dirty="0"/>
              <a:t>;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System.Text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var builder = </a:t>
            </a:r>
            <a:r>
              <a:rPr lang="en-US" sz="1200" dirty="0" err="1"/>
              <a:t>WebApplication.CreateBuilder</a:t>
            </a:r>
            <a:r>
              <a:rPr lang="en-US" sz="1200" dirty="0"/>
              <a:t>(</a:t>
            </a:r>
            <a:r>
              <a:rPr lang="en-US" sz="1200" dirty="0" err="1"/>
              <a:t>args</a:t>
            </a:r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n-US" sz="1200" dirty="0"/>
              <a:t>// Add Caching</a:t>
            </a:r>
          </a:p>
          <a:p>
            <a:r>
              <a:rPr lang="en-US" sz="1200" dirty="0" err="1"/>
              <a:t>builder.Services.AddMemoryCache</a:t>
            </a:r>
            <a:r>
              <a:rPr lang="en-US" sz="1200" dirty="0"/>
              <a:t>();</a:t>
            </a:r>
          </a:p>
          <a:p>
            <a:endParaRPr lang="en-US" sz="1200" dirty="0"/>
          </a:p>
          <a:p>
            <a:r>
              <a:rPr lang="en-US" sz="1200" dirty="0"/>
              <a:t>// Register our Hydration Service</a:t>
            </a:r>
          </a:p>
          <a:p>
            <a:r>
              <a:rPr lang="en-US" sz="1200" dirty="0" err="1"/>
              <a:t>builder.Services.AddScoped</a:t>
            </a:r>
            <a:r>
              <a:rPr lang="en-US" sz="1200" dirty="0"/>
              <a:t>&lt;</a:t>
            </a:r>
            <a:r>
              <a:rPr lang="en-US" sz="1200" dirty="0" err="1"/>
              <a:t>IClaimsTransformation</a:t>
            </a:r>
            <a:r>
              <a:rPr lang="en-US" sz="1200" dirty="0"/>
              <a:t>, </a:t>
            </a:r>
            <a:r>
              <a:rPr lang="en-US" sz="1200" dirty="0" err="1"/>
              <a:t>TenantPermissionTransformer</a:t>
            </a:r>
            <a:r>
              <a:rPr lang="en-US" sz="1200" dirty="0"/>
              <a:t>&gt;();</a:t>
            </a:r>
          </a:p>
          <a:p>
            <a:endParaRPr lang="en-US" sz="1200" dirty="0"/>
          </a:p>
          <a:p>
            <a:r>
              <a:rPr lang="en-US" sz="1200" dirty="0" err="1"/>
              <a:t>builder.Services.AddAuthentication</a:t>
            </a:r>
            <a:r>
              <a:rPr lang="en-US" sz="1200" dirty="0"/>
              <a:t>(</a:t>
            </a:r>
            <a:r>
              <a:rPr lang="en-US" sz="1200" dirty="0" err="1"/>
              <a:t>JwtBearerDefaults.AuthenticationScheme</a:t>
            </a:r>
            <a:r>
              <a:rPr lang="en-US" sz="1200" dirty="0"/>
              <a:t>)</a:t>
            </a:r>
          </a:p>
          <a:p>
            <a:r>
              <a:rPr lang="en-US" sz="1200" dirty="0"/>
              <a:t>    .</a:t>
            </a:r>
            <a:r>
              <a:rPr lang="en-US" sz="1200" dirty="0" err="1"/>
              <a:t>AddJwtBearer</a:t>
            </a:r>
            <a:r>
              <a:rPr lang="en-US" sz="1200" dirty="0"/>
              <a:t>(options =&gt;</a:t>
            </a:r>
          </a:p>
          <a:p>
            <a:r>
              <a:rPr lang="en-US" sz="1200" dirty="0"/>
              <a:t>    {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options.TokenValidationParameters</a:t>
            </a:r>
            <a:r>
              <a:rPr lang="en-US" sz="1200" dirty="0"/>
              <a:t> = new </a:t>
            </a:r>
            <a:r>
              <a:rPr lang="en-US" sz="1200" dirty="0" err="1"/>
              <a:t>TokenValidationParameters</a:t>
            </a:r>
            <a:endParaRPr lang="en-US" sz="1200" dirty="0"/>
          </a:p>
          <a:p>
            <a:r>
              <a:rPr lang="en-US" sz="1200" dirty="0"/>
              <a:t>        {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ValidateIssuer</a:t>
            </a:r>
            <a:r>
              <a:rPr lang="en-US" sz="1200" dirty="0"/>
              <a:t> = true,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ValidIssuer</a:t>
            </a:r>
            <a:r>
              <a:rPr lang="en-US" sz="1200" dirty="0"/>
              <a:t> = "your-app-name",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ValidateAudience</a:t>
            </a:r>
            <a:r>
              <a:rPr lang="en-US" sz="1200" dirty="0"/>
              <a:t> = true,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ValidAudience</a:t>
            </a:r>
            <a:r>
              <a:rPr lang="en-US" sz="1200" dirty="0"/>
              <a:t> = "your-spa-client",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ValidateLifetime</a:t>
            </a:r>
            <a:r>
              <a:rPr lang="en-US" sz="1200" dirty="0"/>
              <a:t> = true,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IssuerSigningKey</a:t>
            </a:r>
            <a:r>
              <a:rPr lang="en-US" sz="1200" dirty="0"/>
              <a:t> = new </a:t>
            </a:r>
            <a:r>
              <a:rPr lang="en-US" sz="1200" dirty="0" err="1"/>
              <a:t>SymmetricSecurityKey</a:t>
            </a:r>
            <a:r>
              <a:rPr lang="en-US" sz="1200" dirty="0"/>
              <a:t>(</a:t>
            </a:r>
          </a:p>
          <a:p>
            <a:r>
              <a:rPr lang="en-US" sz="1200" dirty="0"/>
              <a:t>                Encoding.UTF8.GetBytes("YourSuperSecretKey_MustBeAtLeast32Chars!")),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ClockSkew</a:t>
            </a:r>
            <a:r>
              <a:rPr lang="en-US" sz="1200" dirty="0"/>
              <a:t> = </a:t>
            </a:r>
            <a:r>
              <a:rPr lang="en-US" sz="1200" dirty="0" err="1"/>
              <a:t>TimeSpan.Zero</a:t>
            </a:r>
            <a:endParaRPr lang="en-US" sz="1200" dirty="0"/>
          </a:p>
          <a:p>
            <a:r>
              <a:rPr lang="en-US" sz="1200" dirty="0"/>
              <a:t>        };</a:t>
            </a:r>
          </a:p>
          <a:p>
            <a:endParaRPr lang="en-US" sz="1200" dirty="0"/>
          </a:p>
          <a:p>
            <a:r>
              <a:rPr lang="en-US" sz="1200" dirty="0"/>
              <a:t>        // If the SPA sends the token in a COOKIE instead of a Header: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options.Events</a:t>
            </a:r>
            <a:r>
              <a:rPr lang="en-US" sz="1200" dirty="0"/>
              <a:t> = new </a:t>
            </a:r>
            <a:r>
              <a:rPr lang="en-US" sz="1200" dirty="0" err="1"/>
              <a:t>JwtBearerEvents</a:t>
            </a:r>
            <a:endParaRPr lang="en-US" sz="1200" dirty="0"/>
          </a:p>
          <a:p>
            <a:r>
              <a:rPr lang="en-US" sz="1200" dirty="0"/>
              <a:t>        {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OnMessageReceived</a:t>
            </a:r>
            <a:r>
              <a:rPr lang="en-US" sz="1200" dirty="0"/>
              <a:t> = context =&gt;</a:t>
            </a:r>
          </a:p>
          <a:p>
            <a:r>
              <a:rPr lang="en-US" sz="1200" dirty="0"/>
              <a:t>            {</a:t>
            </a:r>
          </a:p>
          <a:p>
            <a:r>
              <a:rPr lang="en-US" sz="1200" dirty="0"/>
              <a:t>                </a:t>
            </a:r>
            <a:r>
              <a:rPr lang="en-US" sz="1200" dirty="0" err="1"/>
              <a:t>context.Token</a:t>
            </a:r>
            <a:r>
              <a:rPr lang="en-US" sz="1200" dirty="0"/>
              <a:t> = </a:t>
            </a:r>
            <a:r>
              <a:rPr lang="en-US" sz="1200" dirty="0" err="1"/>
              <a:t>context.Request.Cookies</a:t>
            </a:r>
            <a:r>
              <a:rPr lang="en-US" sz="1200" dirty="0"/>
              <a:t>["</a:t>
            </a:r>
            <a:r>
              <a:rPr lang="en-US" sz="1200" dirty="0" err="1"/>
              <a:t>UserTenantToken</a:t>
            </a:r>
            <a:r>
              <a:rPr lang="en-US" sz="1200" dirty="0"/>
              <a:t>"];</a:t>
            </a:r>
          </a:p>
          <a:p>
            <a:r>
              <a:rPr lang="en-US" sz="1200" dirty="0"/>
              <a:t>                return </a:t>
            </a:r>
            <a:r>
              <a:rPr lang="en-US" sz="1200" dirty="0" err="1"/>
              <a:t>Task.CompletedTask</a:t>
            </a:r>
            <a:r>
              <a:rPr lang="en-US" sz="1200" dirty="0"/>
              <a:t>;</a:t>
            </a:r>
          </a:p>
          <a:p>
            <a:r>
              <a:rPr lang="en-US" sz="1200" dirty="0"/>
              <a:t>            }</a:t>
            </a:r>
          </a:p>
          <a:p>
            <a:r>
              <a:rPr lang="en-US" sz="1200" dirty="0"/>
              <a:t>        };</a:t>
            </a:r>
          </a:p>
          <a:p>
            <a:r>
              <a:rPr lang="en-US" sz="1200" dirty="0"/>
              <a:t>    });</a:t>
            </a:r>
          </a:p>
          <a:p>
            <a:endParaRPr lang="en-US" sz="1200" dirty="0"/>
          </a:p>
          <a:p>
            <a:r>
              <a:rPr lang="en-US" sz="1200" dirty="0" err="1"/>
              <a:t>builder.Services.AddAuthorization</a:t>
            </a:r>
            <a:r>
              <a:rPr lang="en-US" sz="1200" dirty="0"/>
              <a:t>();</a:t>
            </a:r>
          </a:p>
          <a:p>
            <a:endParaRPr lang="en-US" sz="1200" dirty="0"/>
          </a:p>
          <a:p>
            <a:r>
              <a:rPr lang="en-US" sz="1200" dirty="0"/>
              <a:t>var app = </a:t>
            </a:r>
            <a:r>
              <a:rPr lang="en-US" sz="1200" dirty="0" err="1"/>
              <a:t>builder.Build</a:t>
            </a:r>
            <a:r>
              <a:rPr lang="en-US" sz="1200" dirty="0"/>
              <a:t>();</a:t>
            </a:r>
          </a:p>
          <a:p>
            <a:endParaRPr lang="en-US" sz="1200" dirty="0"/>
          </a:p>
          <a:p>
            <a:r>
              <a:rPr lang="en-US" sz="1200" dirty="0" err="1"/>
              <a:t>app.UseAuthentication</a:t>
            </a:r>
            <a:r>
              <a:rPr lang="en-US" sz="1200" dirty="0"/>
              <a:t>();</a:t>
            </a:r>
          </a:p>
          <a:p>
            <a:r>
              <a:rPr lang="en-US" sz="1200" dirty="0" err="1"/>
              <a:t>app.UseAuthorization</a:t>
            </a:r>
            <a:r>
              <a:rPr lang="en-US" sz="1200" dirty="0"/>
              <a:t>();</a:t>
            </a:r>
          </a:p>
          <a:p>
            <a:endParaRPr lang="en-US" sz="1200" dirty="0"/>
          </a:p>
          <a:p>
            <a:r>
              <a:rPr lang="en-US" sz="1200" dirty="0"/>
              <a:t>// ... rest of your pipeline</a:t>
            </a:r>
          </a:p>
        </p:txBody>
      </p:sp>
    </p:spTree>
    <p:extLst>
      <p:ext uri="{BB962C8B-B14F-4D97-AF65-F5344CB8AC3E}">
        <p14:creationId xmlns:p14="http://schemas.microsoft.com/office/powerpoint/2010/main" val="33533634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95C4FE-0694-F07D-8FB7-FCA37E894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69903"/>
            <a:ext cx="609399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Here are the steps that were applied to transform the small icon into the more complex figure, exactly as shown in the deck.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1. Login → Create a minimal identity (the “small icon”)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At login time, the system intentionally creates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very small JWT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with only essential identifiers: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User identifier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Tenant identifier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Auth provider identifier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This keeps the token tiny (≈500 bytes) and avoids embedding roles or permissions up front.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result is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lightweight authentication cookie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with no authorization data yet.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2. Request → SPA sends only the minimal token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When the SPA calls the API: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browser sends the small cookie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Network traffic stays light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 role or permission data is transmitted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At this point, the identity is authenticated but still not “enriched.”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3. Auth → JWT signature validation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authentication middleware: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Validates the JWT signature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Confirms issuer, audience, and lifetime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Establishes that the user is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who they claim to be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Importantly,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 roles or permissions are checked yet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 The identity is valid but intentionally incomplete.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AE504-B321-9615-AB4A-BF6B26BDF78F}"/>
              </a:ext>
            </a:extLst>
          </p:cNvPr>
          <p:cNvSpPr txBox="1"/>
          <p:nvPr/>
        </p:nvSpPr>
        <p:spPr>
          <a:xfrm>
            <a:off x="6096000" y="2166522"/>
            <a:ext cx="609399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4. Hydrate → Transform the identity (key transformation step)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This is where the visual transformation happens.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 claims transformation step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Segoe UI" panose="020B0502040204020203" pitchFamily="34" charset="0"/>
              </a:rPr>
              <a:t>TenantPermissionTransformer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runs: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Reads the minimal claims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UserId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TenantId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Looks up permissions for that user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 that tenant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Uses in‑memory cache (RAM) to avoid database hits after first load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Injects the full permission/role claims into the identity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After this step, the identity is now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fully hydrated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and context‑aware.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5. Action → Authorization now works with the enriched identity (the “complex figure”)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Finally: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Standard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Segoe UI" panose="020B0502040204020203" pitchFamily="34" charset="0"/>
              </a:rPr>
              <a:t>[Authorize(Roles = "Admin")]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or permission checks run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They succeed because the identity now contains full role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Performance remains high (zero DB hits after cache warm‑up)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This final state is what the “complex figure on the right” represents: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rich, tenant‑aware, permission‑complete identity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built from a tiny starting token.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 short (visual metaphor)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Left icon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Minimal JWT → authenticated but empty identity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Middle steps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Validation + claims transformation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Right figure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Fully hydrated identity → roles, permissions, tenant context </a:t>
            </a:r>
          </a:p>
        </p:txBody>
      </p:sp>
    </p:spTree>
    <p:extLst>
      <p:ext uri="{BB962C8B-B14F-4D97-AF65-F5344CB8AC3E}">
        <p14:creationId xmlns:p14="http://schemas.microsoft.com/office/powerpoint/2010/main" val="3385591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8BC0B-18F9-59CC-AA75-510DFA0DFA80}"/>
              </a:ext>
            </a:extLst>
          </p:cNvPr>
          <p:cNvSpPr txBox="1"/>
          <p:nvPr/>
        </p:nvSpPr>
        <p:spPr>
          <a:xfrm>
            <a:off x="8697310" y="116570"/>
            <a:ext cx="698937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┌─────────────────────────────┐</a:t>
            </a:r>
          </a:p>
          <a:p>
            <a:r>
              <a:rPr lang="en-US" dirty="0"/>
              <a:t>│        </a:t>
            </a:r>
            <a:r>
              <a:rPr lang="en-US" dirty="0" err="1"/>
              <a:t>CacheWarmingService</a:t>
            </a:r>
            <a:r>
              <a:rPr lang="en-US" dirty="0"/>
              <a:t>            			</a:t>
            </a:r>
          </a:p>
          <a:p>
            <a:r>
              <a:rPr lang="en-US" dirty="0"/>
              <a:t>│        (</a:t>
            </a:r>
            <a:r>
              <a:rPr lang="en-US" dirty="0" err="1"/>
              <a:t>BackgroundService</a:t>
            </a:r>
            <a:r>
              <a:rPr lang="en-US" dirty="0"/>
              <a:t>)               			</a:t>
            </a:r>
          </a:p>
          <a:p>
            <a:r>
              <a:rPr lang="en-US" dirty="0"/>
              <a:t>│                                            				</a:t>
            </a:r>
          </a:p>
          <a:p>
            <a:r>
              <a:rPr lang="en-US" dirty="0"/>
              <a:t>│  Timer fires every N minutes              			 </a:t>
            </a:r>
          </a:p>
          <a:p>
            <a:r>
              <a:rPr lang="en-US" dirty="0"/>
              <a:t>│       │                                     				</a:t>
            </a:r>
          </a:p>
          <a:p>
            <a:r>
              <a:rPr lang="en-US" dirty="0"/>
              <a:t>│      ▼                                   				 </a:t>
            </a:r>
          </a:p>
          <a:p>
            <a:r>
              <a:rPr lang="en-US" dirty="0"/>
              <a:t>│  Calls your API / DB                        				</a:t>
            </a:r>
          </a:p>
          <a:p>
            <a:r>
              <a:rPr lang="en-US" dirty="0"/>
              <a:t>│       │                                     				</a:t>
            </a:r>
          </a:p>
          <a:p>
            <a:r>
              <a:rPr lang="en-US" dirty="0"/>
              <a:t>│      ▼                                    				</a:t>
            </a:r>
          </a:p>
          <a:p>
            <a:r>
              <a:rPr lang="en-US" dirty="0"/>
              <a:t>│  Writes to </a:t>
            </a:r>
            <a:r>
              <a:rPr lang="en-US" dirty="0" err="1"/>
              <a:t>IMemoryCache</a:t>
            </a:r>
            <a:r>
              <a:rPr lang="en-US" dirty="0"/>
              <a:t>                    			</a:t>
            </a:r>
          </a:p>
          <a:p>
            <a:r>
              <a:rPr lang="en-US" dirty="0"/>
              <a:t>└────────────────────────────┘</a:t>
            </a:r>
          </a:p>
          <a:p>
            <a:r>
              <a:rPr lang="en-US" dirty="0"/>
              <a:t>        ▲</a:t>
            </a:r>
          </a:p>
          <a:p>
            <a:r>
              <a:rPr lang="en-US" dirty="0"/>
              <a:t>         │  reads</a:t>
            </a:r>
          </a:p>
          <a:p>
            <a:r>
              <a:rPr lang="en-US" dirty="0"/>
              <a:t>┌──────────────────────────────┐</a:t>
            </a:r>
          </a:p>
          <a:p>
            <a:r>
              <a:rPr lang="en-US" dirty="0"/>
              <a:t>│      Your API Controllers / Services     			</a:t>
            </a:r>
          </a:p>
          <a:p>
            <a:r>
              <a:rPr lang="en-US" dirty="0"/>
              <a:t>└──────────────────────────────┘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CF820B-6F1E-89BE-0F28-4B02FCEEB158}"/>
              </a:ext>
            </a:extLst>
          </p:cNvPr>
          <p:cNvSpPr txBox="1"/>
          <p:nvPr/>
        </p:nvSpPr>
        <p:spPr>
          <a:xfrm>
            <a:off x="157656" y="0"/>
            <a:ext cx="4277710" cy="772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public class </a:t>
            </a:r>
            <a:r>
              <a:rPr lang="en-US" sz="800" dirty="0" err="1"/>
              <a:t>CacheWarmingService</a:t>
            </a:r>
            <a:r>
              <a:rPr lang="en-US" sz="800" dirty="0"/>
              <a:t> : </a:t>
            </a:r>
            <a:r>
              <a:rPr lang="en-US" sz="800" dirty="0" err="1"/>
              <a:t>BackgroundService</a:t>
            </a:r>
            <a:endParaRPr lang="en-US" sz="800" dirty="0"/>
          </a:p>
          <a:p>
            <a:r>
              <a:rPr lang="en-US" sz="800" dirty="0"/>
              <a:t>{</a:t>
            </a:r>
          </a:p>
          <a:p>
            <a:r>
              <a:rPr lang="en-US" sz="800" dirty="0"/>
              <a:t>    private </a:t>
            </a:r>
            <a:r>
              <a:rPr lang="en-US" sz="800" dirty="0" err="1"/>
              <a:t>readonly</a:t>
            </a:r>
            <a:r>
              <a:rPr lang="en-US" sz="800" dirty="0"/>
              <a:t> </a:t>
            </a:r>
            <a:r>
              <a:rPr lang="en-US" sz="800" dirty="0" err="1"/>
              <a:t>IServiceScopeFactory</a:t>
            </a:r>
            <a:r>
              <a:rPr lang="en-US" sz="800" dirty="0"/>
              <a:t> _</a:t>
            </a:r>
            <a:r>
              <a:rPr lang="en-US" sz="800" dirty="0" err="1"/>
              <a:t>scopeFactory</a:t>
            </a:r>
            <a:r>
              <a:rPr lang="en-US" sz="800" dirty="0"/>
              <a:t>;</a:t>
            </a:r>
          </a:p>
          <a:p>
            <a:r>
              <a:rPr lang="en-US" sz="800" dirty="0"/>
              <a:t>    private </a:t>
            </a:r>
            <a:r>
              <a:rPr lang="en-US" sz="800" dirty="0" err="1"/>
              <a:t>readonly</a:t>
            </a:r>
            <a:r>
              <a:rPr lang="en-US" sz="800" dirty="0"/>
              <a:t> </a:t>
            </a:r>
            <a:r>
              <a:rPr lang="en-US" sz="800" dirty="0" err="1"/>
              <a:t>IMemoryCache</a:t>
            </a:r>
            <a:r>
              <a:rPr lang="en-US" sz="800" dirty="0"/>
              <a:t> _cache;</a:t>
            </a:r>
          </a:p>
          <a:p>
            <a:r>
              <a:rPr lang="en-US" sz="800" dirty="0"/>
              <a:t>    private </a:t>
            </a:r>
            <a:r>
              <a:rPr lang="en-US" sz="800" dirty="0" err="1"/>
              <a:t>readonly</a:t>
            </a:r>
            <a:r>
              <a:rPr lang="en-US" sz="800" dirty="0"/>
              <a:t> </a:t>
            </a:r>
            <a:r>
              <a:rPr lang="en-US" sz="800" dirty="0" err="1"/>
              <a:t>ILogger</a:t>
            </a:r>
            <a:r>
              <a:rPr lang="en-US" sz="800" dirty="0"/>
              <a:t>&lt;</a:t>
            </a:r>
            <a:r>
              <a:rPr lang="en-US" sz="800" dirty="0" err="1"/>
              <a:t>CacheWarmingService</a:t>
            </a:r>
            <a:r>
              <a:rPr lang="en-US" sz="800" dirty="0"/>
              <a:t>&gt; _logger;</a:t>
            </a:r>
          </a:p>
          <a:p>
            <a:endParaRPr lang="en-US" sz="800" dirty="0"/>
          </a:p>
          <a:p>
            <a:r>
              <a:rPr lang="en-US" sz="800" dirty="0"/>
              <a:t>    // How often to refresh the cache</a:t>
            </a:r>
          </a:p>
          <a:p>
            <a:r>
              <a:rPr lang="en-US" sz="800" dirty="0"/>
              <a:t>    private </a:t>
            </a:r>
            <a:r>
              <a:rPr lang="en-US" sz="800" dirty="0" err="1"/>
              <a:t>readonly</a:t>
            </a:r>
            <a:r>
              <a:rPr lang="en-US" sz="800" dirty="0"/>
              <a:t> </a:t>
            </a:r>
            <a:r>
              <a:rPr lang="en-US" sz="800" dirty="0" err="1"/>
              <a:t>TimeSpan</a:t>
            </a:r>
            <a:r>
              <a:rPr lang="en-US" sz="800" dirty="0"/>
              <a:t> _</a:t>
            </a:r>
            <a:r>
              <a:rPr lang="en-US" sz="800" dirty="0" err="1"/>
              <a:t>refreshInterval</a:t>
            </a:r>
            <a:r>
              <a:rPr lang="en-US" sz="800" dirty="0"/>
              <a:t> = </a:t>
            </a:r>
            <a:r>
              <a:rPr lang="en-US" sz="800" dirty="0" err="1"/>
              <a:t>TimeSpan.FromMinutes</a:t>
            </a:r>
            <a:r>
              <a:rPr lang="en-US" sz="800" dirty="0"/>
              <a:t>(5);</a:t>
            </a:r>
          </a:p>
          <a:p>
            <a:endParaRPr lang="en-US" sz="800" dirty="0"/>
          </a:p>
          <a:p>
            <a:r>
              <a:rPr lang="en-US" sz="800" dirty="0"/>
              <a:t>    public </a:t>
            </a:r>
            <a:r>
              <a:rPr lang="en-US" sz="800" dirty="0" err="1"/>
              <a:t>CacheWarmingService</a:t>
            </a:r>
            <a:r>
              <a:rPr lang="en-US" sz="800" dirty="0"/>
              <a:t>(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IServiceScopeFactory</a:t>
            </a:r>
            <a:r>
              <a:rPr lang="en-US" sz="800" dirty="0"/>
              <a:t> </a:t>
            </a:r>
            <a:r>
              <a:rPr lang="en-US" sz="800" dirty="0" err="1"/>
              <a:t>scopeFactory</a:t>
            </a:r>
            <a:r>
              <a:rPr lang="en-US" sz="800" dirty="0"/>
              <a:t>,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IMemoryCache</a:t>
            </a:r>
            <a:r>
              <a:rPr lang="en-US" sz="800" dirty="0"/>
              <a:t> cache,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ILogger</a:t>
            </a:r>
            <a:r>
              <a:rPr lang="en-US" sz="800" dirty="0"/>
              <a:t>&lt;</a:t>
            </a:r>
            <a:r>
              <a:rPr lang="en-US" sz="800" dirty="0" err="1"/>
              <a:t>CacheWarmingService</a:t>
            </a:r>
            <a:r>
              <a:rPr lang="en-US" sz="800" dirty="0"/>
              <a:t>&gt; logger)</a:t>
            </a:r>
          </a:p>
          <a:p>
            <a:r>
              <a:rPr lang="en-US" sz="800" dirty="0"/>
              <a:t>    {</a:t>
            </a:r>
          </a:p>
          <a:p>
            <a:r>
              <a:rPr lang="en-US" sz="800" dirty="0"/>
              <a:t>        _</a:t>
            </a:r>
            <a:r>
              <a:rPr lang="en-US" sz="800" dirty="0" err="1"/>
              <a:t>scopeFactory</a:t>
            </a:r>
            <a:r>
              <a:rPr lang="en-US" sz="800" dirty="0"/>
              <a:t> = </a:t>
            </a:r>
            <a:r>
              <a:rPr lang="en-US" sz="800" dirty="0" err="1"/>
              <a:t>scopeFactory</a:t>
            </a:r>
            <a:r>
              <a:rPr lang="en-US" sz="800" dirty="0"/>
              <a:t>;</a:t>
            </a:r>
          </a:p>
          <a:p>
            <a:r>
              <a:rPr lang="en-US" sz="800" dirty="0"/>
              <a:t>        _cache = cache;</a:t>
            </a:r>
          </a:p>
          <a:p>
            <a:r>
              <a:rPr lang="en-US" sz="800" dirty="0"/>
              <a:t>        _logger = logger;</a:t>
            </a:r>
          </a:p>
          <a:p>
            <a:r>
              <a:rPr lang="en-US" sz="800" dirty="0"/>
              <a:t>    }</a:t>
            </a:r>
          </a:p>
          <a:p>
            <a:endParaRPr lang="en-US" sz="800" dirty="0"/>
          </a:p>
          <a:p>
            <a:r>
              <a:rPr lang="en-US" sz="800" dirty="0"/>
              <a:t>    protected override async Task </a:t>
            </a:r>
            <a:r>
              <a:rPr lang="en-US" sz="800" dirty="0" err="1"/>
              <a:t>ExecuteAsync</a:t>
            </a:r>
            <a:r>
              <a:rPr lang="en-US" sz="800" dirty="0"/>
              <a:t>(</a:t>
            </a:r>
            <a:r>
              <a:rPr lang="en-US" sz="800" dirty="0" err="1"/>
              <a:t>CancellationToken</a:t>
            </a:r>
            <a:r>
              <a:rPr lang="en-US" sz="800" dirty="0"/>
              <a:t> </a:t>
            </a:r>
            <a:r>
              <a:rPr lang="en-US" sz="800" dirty="0" err="1"/>
              <a:t>stoppingToken</a:t>
            </a:r>
            <a:r>
              <a:rPr lang="en-US" sz="800" dirty="0"/>
              <a:t>)</a:t>
            </a:r>
          </a:p>
          <a:p>
            <a:r>
              <a:rPr lang="en-US" sz="800" dirty="0"/>
              <a:t>    {</a:t>
            </a:r>
          </a:p>
          <a:p>
            <a:r>
              <a:rPr lang="en-US" sz="800" dirty="0"/>
              <a:t>        // Warm immediately on startup — don't wait for first timer tick</a:t>
            </a:r>
          </a:p>
          <a:p>
            <a:r>
              <a:rPr lang="en-US" sz="800" dirty="0"/>
              <a:t>        await </a:t>
            </a:r>
            <a:r>
              <a:rPr lang="en-US" sz="800" dirty="0" err="1"/>
              <a:t>LoadDataIntoCache</a:t>
            </a:r>
            <a:r>
              <a:rPr lang="en-US" sz="800" dirty="0"/>
              <a:t>(</a:t>
            </a:r>
            <a:r>
              <a:rPr lang="en-US" sz="800" dirty="0" err="1"/>
              <a:t>stoppingToken</a:t>
            </a:r>
            <a:r>
              <a:rPr lang="en-US" sz="800" dirty="0"/>
              <a:t>);</a:t>
            </a:r>
          </a:p>
          <a:p>
            <a:endParaRPr lang="en-US" sz="800" dirty="0"/>
          </a:p>
          <a:p>
            <a:r>
              <a:rPr lang="en-US" sz="800" dirty="0"/>
              <a:t>        using var timer = new </a:t>
            </a:r>
            <a:r>
              <a:rPr lang="en-US" sz="800" dirty="0" err="1"/>
              <a:t>PeriodicTimer</a:t>
            </a:r>
            <a:r>
              <a:rPr lang="en-US" sz="800" dirty="0"/>
              <a:t>(_</a:t>
            </a:r>
            <a:r>
              <a:rPr lang="en-US" sz="800" dirty="0" err="1"/>
              <a:t>refreshInterval</a:t>
            </a:r>
            <a:r>
              <a:rPr lang="en-US" sz="800" dirty="0"/>
              <a:t>);</a:t>
            </a:r>
          </a:p>
          <a:p>
            <a:endParaRPr lang="en-US" sz="800" dirty="0"/>
          </a:p>
          <a:p>
            <a:r>
              <a:rPr lang="en-US" sz="800" dirty="0"/>
              <a:t>        while (!</a:t>
            </a:r>
            <a:r>
              <a:rPr lang="en-US" sz="800" dirty="0" err="1"/>
              <a:t>stoppingToken.IsCancellationRequested</a:t>
            </a:r>
            <a:endParaRPr lang="en-US" sz="800" dirty="0"/>
          </a:p>
          <a:p>
            <a:r>
              <a:rPr lang="en-US" sz="800" dirty="0"/>
              <a:t>               &amp;&amp; await </a:t>
            </a:r>
            <a:r>
              <a:rPr lang="en-US" sz="800" dirty="0" err="1"/>
              <a:t>timer.WaitForNextTickAsync</a:t>
            </a:r>
            <a:r>
              <a:rPr lang="en-US" sz="800" dirty="0"/>
              <a:t>(</a:t>
            </a:r>
            <a:r>
              <a:rPr lang="en-US" sz="800" dirty="0" err="1"/>
              <a:t>stoppingToken</a:t>
            </a:r>
            <a:r>
              <a:rPr lang="en-US" sz="800" dirty="0"/>
              <a:t>))</a:t>
            </a:r>
          </a:p>
          <a:p>
            <a:r>
              <a:rPr lang="en-US" sz="800" dirty="0"/>
              <a:t>        {</a:t>
            </a:r>
          </a:p>
          <a:p>
            <a:r>
              <a:rPr lang="en-US" sz="800" dirty="0"/>
              <a:t>            await </a:t>
            </a:r>
            <a:r>
              <a:rPr lang="en-US" sz="800" dirty="0" err="1"/>
              <a:t>LoadDataIntoCache</a:t>
            </a:r>
            <a:r>
              <a:rPr lang="en-US" sz="800" dirty="0"/>
              <a:t>(</a:t>
            </a:r>
            <a:r>
              <a:rPr lang="en-US" sz="800" dirty="0" err="1"/>
              <a:t>stoppingToken</a:t>
            </a:r>
            <a:r>
              <a:rPr lang="en-US" sz="800" dirty="0"/>
              <a:t>);</a:t>
            </a:r>
          </a:p>
          <a:p>
            <a:r>
              <a:rPr lang="en-US" sz="800" dirty="0"/>
              <a:t>        }</a:t>
            </a:r>
          </a:p>
          <a:p>
            <a:r>
              <a:rPr lang="en-US" sz="800" dirty="0"/>
              <a:t>    }</a:t>
            </a:r>
          </a:p>
          <a:p>
            <a:endParaRPr lang="en-US" sz="800" dirty="0"/>
          </a:p>
          <a:p>
            <a:r>
              <a:rPr lang="en-US" sz="800" dirty="0"/>
              <a:t>    private async Task </a:t>
            </a:r>
            <a:r>
              <a:rPr lang="en-US" sz="800" dirty="0" err="1"/>
              <a:t>LoadDataIntoCache</a:t>
            </a:r>
            <a:r>
              <a:rPr lang="en-US" sz="800" dirty="0"/>
              <a:t>(</a:t>
            </a:r>
            <a:r>
              <a:rPr lang="en-US" sz="800" dirty="0" err="1"/>
              <a:t>CancellationToken</a:t>
            </a:r>
            <a:r>
              <a:rPr lang="en-US" sz="800" dirty="0"/>
              <a:t> </a:t>
            </a:r>
            <a:r>
              <a:rPr lang="en-US" sz="800" dirty="0" err="1"/>
              <a:t>ct</a:t>
            </a:r>
            <a:r>
              <a:rPr lang="en-US" sz="800" dirty="0"/>
              <a:t>)</a:t>
            </a:r>
          </a:p>
          <a:p>
            <a:r>
              <a:rPr lang="en-US" sz="800" dirty="0"/>
              <a:t>    {</a:t>
            </a:r>
          </a:p>
          <a:p>
            <a:r>
              <a:rPr lang="en-US" sz="800" dirty="0"/>
              <a:t>        try</a:t>
            </a:r>
          </a:p>
          <a:p>
            <a:r>
              <a:rPr lang="en-US" sz="800" dirty="0"/>
              <a:t>        {</a:t>
            </a:r>
          </a:p>
          <a:p>
            <a:r>
              <a:rPr lang="en-US" sz="800" dirty="0"/>
              <a:t>            // Use a scope because your data service is likely scoped/transient</a:t>
            </a:r>
          </a:p>
          <a:p>
            <a:r>
              <a:rPr lang="en-US" sz="800" dirty="0"/>
              <a:t>            using var scope = _</a:t>
            </a:r>
            <a:r>
              <a:rPr lang="en-US" sz="800" dirty="0" err="1"/>
              <a:t>scopeFactory.CreateScope</a:t>
            </a:r>
            <a:r>
              <a:rPr lang="en-US" sz="800" dirty="0"/>
              <a:t>();</a:t>
            </a:r>
          </a:p>
          <a:p>
            <a:r>
              <a:rPr lang="en-US" sz="800" dirty="0"/>
              <a:t>            var </a:t>
            </a:r>
            <a:r>
              <a:rPr lang="en-US" sz="800" dirty="0" err="1"/>
              <a:t>dataService</a:t>
            </a:r>
            <a:r>
              <a:rPr lang="en-US" sz="800" dirty="0"/>
              <a:t> = </a:t>
            </a:r>
            <a:r>
              <a:rPr lang="en-US" sz="800" dirty="0" err="1"/>
              <a:t>scope.ServiceProvider.GetRequiredService</a:t>
            </a:r>
            <a:r>
              <a:rPr lang="en-US" sz="800" dirty="0"/>
              <a:t>&lt;</a:t>
            </a:r>
            <a:r>
              <a:rPr lang="en-US" sz="800" dirty="0" err="1"/>
              <a:t>IMyDataService</a:t>
            </a:r>
            <a:r>
              <a:rPr lang="en-US" sz="800" dirty="0"/>
              <a:t>&gt;();</a:t>
            </a:r>
          </a:p>
          <a:p>
            <a:endParaRPr lang="en-US" sz="800" dirty="0"/>
          </a:p>
          <a:p>
            <a:r>
              <a:rPr lang="en-US" sz="800" dirty="0"/>
              <a:t>            var data = await </a:t>
            </a:r>
            <a:r>
              <a:rPr lang="en-US" sz="800" dirty="0" err="1"/>
              <a:t>dataService.FetchDataAsync</a:t>
            </a:r>
            <a:r>
              <a:rPr lang="en-US" sz="800" dirty="0"/>
              <a:t>(</a:t>
            </a:r>
            <a:r>
              <a:rPr lang="en-US" sz="800" dirty="0" err="1"/>
              <a:t>ct</a:t>
            </a:r>
            <a:r>
              <a:rPr lang="en-US" sz="800" dirty="0"/>
              <a:t>);</a:t>
            </a:r>
          </a:p>
          <a:p>
            <a:endParaRPr lang="en-US" sz="800" dirty="0"/>
          </a:p>
          <a:p>
            <a:r>
              <a:rPr lang="en-US" sz="800" dirty="0"/>
              <a:t>            var options = new </a:t>
            </a:r>
            <a:r>
              <a:rPr lang="en-US" sz="800" dirty="0" err="1"/>
              <a:t>MemoryCacheEntryOptions</a:t>
            </a:r>
            <a:endParaRPr lang="en-US" sz="800" dirty="0"/>
          </a:p>
          <a:p>
            <a:r>
              <a:rPr lang="en-US" sz="800" dirty="0"/>
              <a:t>            {</a:t>
            </a:r>
          </a:p>
          <a:p>
            <a:r>
              <a:rPr lang="en-US" sz="800" dirty="0"/>
              <a:t>                // Safety net: if background service dies, cache expires</a:t>
            </a:r>
          </a:p>
          <a:p>
            <a:r>
              <a:rPr lang="en-US" sz="800" dirty="0"/>
              <a:t>                // rather than serving stale data forever</a:t>
            </a:r>
          </a:p>
          <a:p>
            <a:r>
              <a:rPr lang="en-US" sz="800" dirty="0"/>
              <a:t>                </a:t>
            </a:r>
            <a:r>
              <a:rPr lang="en-US" sz="800" dirty="0" err="1"/>
              <a:t>AbsoluteExpirationRelativeToNow</a:t>
            </a:r>
            <a:r>
              <a:rPr lang="en-US" sz="800" dirty="0"/>
              <a:t> = _</a:t>
            </a:r>
            <a:r>
              <a:rPr lang="en-US" sz="800" dirty="0" err="1"/>
              <a:t>refreshInterval</a:t>
            </a:r>
            <a:r>
              <a:rPr lang="en-US" sz="800" dirty="0"/>
              <a:t> * 3,</a:t>
            </a:r>
          </a:p>
          <a:p>
            <a:r>
              <a:rPr lang="en-US" sz="800" dirty="0"/>
              <a:t>                Priority = </a:t>
            </a:r>
            <a:r>
              <a:rPr lang="en-US" sz="800" dirty="0" err="1"/>
              <a:t>CacheItemPriority.NeverRemove</a:t>
            </a:r>
            <a:endParaRPr lang="en-US" sz="800" dirty="0"/>
          </a:p>
          <a:p>
            <a:r>
              <a:rPr lang="en-US" sz="800" dirty="0"/>
              <a:t>            };</a:t>
            </a:r>
          </a:p>
          <a:p>
            <a:endParaRPr lang="en-US" sz="800" dirty="0"/>
          </a:p>
          <a:p>
            <a:r>
              <a:rPr lang="en-US" sz="800" dirty="0"/>
              <a:t>            _</a:t>
            </a:r>
            <a:r>
              <a:rPr lang="en-US" sz="800" dirty="0" err="1"/>
              <a:t>cache.Set</a:t>
            </a:r>
            <a:r>
              <a:rPr lang="en-US" sz="800" dirty="0"/>
              <a:t>(</a:t>
            </a:r>
            <a:r>
              <a:rPr lang="en-US" sz="800" dirty="0" err="1"/>
              <a:t>CacheKeys.MyData</a:t>
            </a:r>
            <a:r>
              <a:rPr lang="en-US" sz="800" dirty="0"/>
              <a:t>, data, options);</a:t>
            </a:r>
          </a:p>
          <a:p>
            <a:endParaRPr lang="en-US" sz="800" dirty="0"/>
          </a:p>
          <a:p>
            <a:r>
              <a:rPr lang="en-US" sz="800" dirty="0"/>
              <a:t>            _</a:t>
            </a:r>
            <a:r>
              <a:rPr lang="en-US" sz="800" dirty="0" err="1"/>
              <a:t>logger.LogInformation</a:t>
            </a:r>
            <a:r>
              <a:rPr lang="en-US" sz="800" dirty="0"/>
              <a:t>("Cache refreshed at {Time}", </a:t>
            </a:r>
            <a:r>
              <a:rPr lang="en-US" sz="800" dirty="0" err="1"/>
              <a:t>DateTimeOffset.UtcNow</a:t>
            </a:r>
            <a:r>
              <a:rPr lang="en-US" sz="800" dirty="0"/>
              <a:t>);</a:t>
            </a:r>
          </a:p>
          <a:p>
            <a:r>
              <a:rPr lang="en-US" sz="800" dirty="0"/>
              <a:t>        }</a:t>
            </a:r>
          </a:p>
          <a:p>
            <a:r>
              <a:rPr lang="en-US" sz="800" dirty="0"/>
              <a:t>        catch (Exception ex)</a:t>
            </a:r>
          </a:p>
          <a:p>
            <a:r>
              <a:rPr lang="en-US" sz="800" dirty="0"/>
              <a:t>        {</a:t>
            </a:r>
          </a:p>
          <a:p>
            <a:r>
              <a:rPr lang="en-US" sz="800" dirty="0"/>
              <a:t>            // Don't crash the service — log and keep old cached value</a:t>
            </a:r>
          </a:p>
          <a:p>
            <a:r>
              <a:rPr lang="en-US" sz="800" dirty="0"/>
              <a:t>            _</a:t>
            </a:r>
            <a:r>
              <a:rPr lang="en-US" sz="800" dirty="0" err="1"/>
              <a:t>logger.LogError</a:t>
            </a:r>
            <a:r>
              <a:rPr lang="en-US" sz="800" dirty="0"/>
              <a:t>(ex, "Failed to refresh cache. Serving stale data.");</a:t>
            </a:r>
          </a:p>
          <a:p>
            <a:r>
              <a:rPr lang="en-US" sz="800" dirty="0"/>
              <a:t>        }</a:t>
            </a:r>
          </a:p>
          <a:p>
            <a:r>
              <a:rPr lang="en-US" sz="800" dirty="0"/>
              <a:t>    }</a:t>
            </a:r>
          </a:p>
          <a:p>
            <a:r>
              <a:rPr lang="en-US" sz="800" dirty="0"/>
              <a:t>}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27E665-4A8E-0177-273B-991425F55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487046"/>
              </p:ext>
            </p:extLst>
          </p:nvPr>
        </p:nvGraphicFramePr>
        <p:xfrm>
          <a:off x="4435365" y="4971487"/>
          <a:ext cx="7231117" cy="1828800"/>
        </p:xfrm>
        <a:graphic>
          <a:graphicData uri="http://schemas.openxmlformats.org/drawingml/2006/table">
            <a:tbl>
              <a:tblPr/>
              <a:tblGrid>
                <a:gridCol w="2416930">
                  <a:extLst>
                    <a:ext uri="{9D8B030D-6E8A-4147-A177-3AD203B41FA5}">
                      <a16:colId xmlns:a16="http://schemas.microsoft.com/office/drawing/2014/main" val="1342185484"/>
                    </a:ext>
                  </a:extLst>
                </a:gridCol>
                <a:gridCol w="4814187">
                  <a:extLst>
                    <a:ext uri="{9D8B030D-6E8A-4147-A177-3AD203B41FA5}">
                      <a16:colId xmlns:a16="http://schemas.microsoft.com/office/drawing/2014/main" val="39417745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Recommendation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906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First load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Warm on startup, before timer fires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124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Refresh failure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Log + keep stale value (don't crash)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086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Expiry on cache entry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Set as a safety net (3× refresh interval)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519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Scoped services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Use </a:t>
                      </a:r>
                      <a:r>
                        <a:rPr lang="en-AU" sz="1200">
                          <a:latin typeface="Courier New" panose="02070309020205020404" pitchFamily="49" charset="0"/>
                        </a:rPr>
                        <a:t>IServiceScopeFactory</a:t>
                      </a:r>
                      <a:r>
                        <a:rPr lang="en-AU" sz="1200"/>
                        <a:t> inside the singleton </a:t>
                      </a:r>
                      <a:r>
                        <a:rPr lang="en-AU" sz="1200">
                          <a:latin typeface="Courier New" panose="02070309020205020404" pitchFamily="49" charset="0"/>
                        </a:rPr>
                        <a:t>BackgroundService</a:t>
                      </a:r>
                      <a:endParaRPr lang="en-AU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508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Courier New" panose="02070309020205020404" pitchFamily="49" charset="0"/>
                        </a:rPr>
                        <a:t>PeriodicTimer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/>
                        <a:t>Prefer over </a:t>
                      </a:r>
                      <a:r>
                        <a:rPr lang="en-AU" sz="1200" dirty="0">
                          <a:latin typeface="Courier New" panose="02070309020205020404" pitchFamily="49" charset="0"/>
                        </a:rPr>
                        <a:t>Timer</a:t>
                      </a:r>
                      <a:r>
                        <a:rPr lang="en-AU" sz="1200" dirty="0"/>
                        <a:t> — it's async-native and won't overlap ticks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219495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1E13A2BE-ED9F-380D-F50A-AD9CB7FF5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9249" y="1421794"/>
            <a:ext cx="31767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Design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1867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9AC83A-23B9-E7E4-0BE0-3FEC60E6D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186" y="535119"/>
            <a:ext cx="581141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Core Problem: Lifetime Mismatch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.NET DI, every service has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lifetime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</a:rPr>
              <a:t>Singleton ── one instance for the entire app lifetime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</a:rPr>
              <a:t>Scoped ── one instance per HTTP request (or per scope)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</a:rPr>
              <a:t>Transient ── new instance every time it's resolved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BackgroundService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(registered via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AddHostedService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is always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Singleton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data/DB services (e.g.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DbContext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IMyDataService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are typically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</a:rPr>
              <a:t>❌ Singleton cannot directly inject a Scoped service Singleton lives forever Scoped lives for a short time → DI will throw an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</a:rPr>
              <a:t>InvalidOperationException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</a:rPr>
              <a:t> at startup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BD6427-ECE1-4FFF-F776-EE4518763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98" y="3919340"/>
            <a:ext cx="5022337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App Lifetime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├── </a:t>
            </a:r>
            <a:r>
              <a:rPr lang="en-US" altLang="en-US" sz="1200" b="1" dirty="0" err="1"/>
              <a:t>CacheWarmingService</a:t>
            </a:r>
            <a:r>
              <a:rPr lang="en-US" altLang="en-US" sz="1200" b="1" dirty="0"/>
              <a:t> (Singleton) ← holds </a:t>
            </a:r>
            <a:r>
              <a:rPr lang="en-US" altLang="en-US" sz="1200" b="1" dirty="0" err="1"/>
              <a:t>IServiceScopeFactory</a:t>
            </a:r>
            <a:endParaRPr lang="en-US" altLang="en-US" sz="12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│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│   [Timer tick #1]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│   ├── </a:t>
            </a:r>
            <a:r>
              <a:rPr lang="en-US" altLang="en-US" sz="1200" b="1" dirty="0" err="1"/>
              <a:t>CreateScope</a:t>
            </a:r>
            <a:r>
              <a:rPr lang="en-US" altLang="en-US" sz="1200" b="1" dirty="0"/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│   │   └── Resolve </a:t>
            </a:r>
            <a:r>
              <a:rPr lang="en-US" altLang="en-US" sz="1200" b="1" dirty="0" err="1"/>
              <a:t>IMyDataService</a:t>
            </a:r>
            <a:r>
              <a:rPr lang="en-US" altLang="en-US" sz="1200" b="1" dirty="0"/>
              <a:t>  ← fresh scoped instance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│   │   └── Call </a:t>
            </a:r>
            <a:r>
              <a:rPr lang="en-US" altLang="en-US" sz="1200" b="1" dirty="0" err="1"/>
              <a:t>FetchDataAsync</a:t>
            </a:r>
            <a:r>
              <a:rPr lang="en-US" altLang="en-US" sz="1200" b="1" dirty="0"/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│   └── </a:t>
            </a:r>
            <a:r>
              <a:rPr lang="en-US" altLang="en-US" sz="1200" b="1" dirty="0" err="1"/>
              <a:t>scope.Dispose</a:t>
            </a:r>
            <a:r>
              <a:rPr lang="en-US" altLang="en-US" sz="1200" b="1" dirty="0"/>
              <a:t>()             ← scoped instance cleaned up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│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│   [Timer tick #2]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│   ├── </a:t>
            </a:r>
            <a:r>
              <a:rPr lang="en-US" altLang="en-US" sz="1200" b="1" dirty="0" err="1"/>
              <a:t>CreateScope</a:t>
            </a:r>
            <a:r>
              <a:rPr lang="en-US" altLang="en-US" sz="1200" b="1" dirty="0"/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│   │   └── Resolve </a:t>
            </a:r>
            <a:r>
              <a:rPr lang="en-US" altLang="en-US" sz="1200" b="1" dirty="0" err="1"/>
              <a:t>IMyDataService</a:t>
            </a:r>
            <a:r>
              <a:rPr lang="en-US" altLang="en-US" sz="1200" b="1" dirty="0"/>
              <a:t>  ← another fresh instance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│   └── </a:t>
            </a:r>
            <a:r>
              <a:rPr lang="en-US" altLang="en-US" sz="1200" b="1" dirty="0" err="1"/>
              <a:t>scope.Dispose</a:t>
            </a:r>
            <a:r>
              <a:rPr lang="en-US" altLang="en-US" sz="1200" b="1" dirty="0"/>
              <a:t>()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B4E4F-5E31-1AB8-4B6C-890DDFFBC61B}"/>
              </a:ext>
            </a:extLst>
          </p:cNvPr>
          <p:cNvSpPr txBox="1"/>
          <p:nvPr/>
        </p:nvSpPr>
        <p:spPr>
          <a:xfrm>
            <a:off x="6000602" y="258120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 Container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[Singleton]  </a:t>
            </a:r>
            <a:r>
              <a:rPr lang="en-US" dirty="0" err="1"/>
              <a:t>CacheWarmingService</a:t>
            </a:r>
            <a:endParaRPr lang="en-US" dirty="0"/>
          </a:p>
          <a:p>
            <a:r>
              <a:rPr lang="en-US" dirty="0"/>
              <a:t>│       │</a:t>
            </a:r>
          </a:p>
          <a:p>
            <a:r>
              <a:rPr lang="en-US" dirty="0"/>
              <a:t>│       └── holds: </a:t>
            </a:r>
            <a:r>
              <a:rPr lang="en-US" dirty="0" err="1"/>
              <a:t>IServiceScopeFactory</a:t>
            </a:r>
            <a:r>
              <a:rPr lang="en-US" dirty="0"/>
              <a:t>  ← also singleton, safe ✅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[Scope A]  (HTTP Request 1)</a:t>
            </a:r>
          </a:p>
          <a:p>
            <a:r>
              <a:rPr lang="en-US" dirty="0"/>
              <a:t>│       └── </a:t>
            </a:r>
            <a:r>
              <a:rPr lang="en-US" dirty="0" err="1"/>
              <a:t>IMyDataService</a:t>
            </a:r>
            <a:r>
              <a:rPr lang="en-US" dirty="0"/>
              <a:t> → </a:t>
            </a:r>
            <a:r>
              <a:rPr lang="en-US" dirty="0" err="1"/>
              <a:t>MyDataService</a:t>
            </a:r>
            <a:endParaRPr lang="en-US" dirty="0"/>
          </a:p>
          <a:p>
            <a:r>
              <a:rPr lang="en-US" dirty="0"/>
              <a:t>│               └── </a:t>
            </a:r>
            <a:r>
              <a:rPr lang="en-US" dirty="0" err="1"/>
              <a:t>AppDbContext</a:t>
            </a:r>
            <a:r>
              <a:rPr lang="en-US" dirty="0"/>
              <a:t>  (disposed when request ends)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[Scope B]  (HTTP Request 2)</a:t>
            </a:r>
          </a:p>
          <a:p>
            <a:r>
              <a:rPr lang="en-US" dirty="0"/>
              <a:t>│       └── </a:t>
            </a:r>
            <a:r>
              <a:rPr lang="en-US" dirty="0" err="1"/>
              <a:t>IMyDataService</a:t>
            </a:r>
            <a:r>
              <a:rPr lang="en-US" dirty="0"/>
              <a:t> → </a:t>
            </a:r>
            <a:r>
              <a:rPr lang="en-US" dirty="0" err="1"/>
              <a:t>MyDataService</a:t>
            </a:r>
            <a:endParaRPr lang="en-US" dirty="0"/>
          </a:p>
          <a:p>
            <a:r>
              <a:rPr lang="en-US" dirty="0"/>
              <a:t>│               └── </a:t>
            </a:r>
            <a:r>
              <a:rPr lang="en-US" dirty="0" err="1"/>
              <a:t>AppDbContext</a:t>
            </a:r>
            <a:endParaRPr lang="en-US" dirty="0"/>
          </a:p>
          <a:p>
            <a:r>
              <a:rPr lang="en-US" dirty="0"/>
              <a:t>│</a:t>
            </a:r>
          </a:p>
          <a:p>
            <a:r>
              <a:rPr lang="en-US" dirty="0"/>
              <a:t>└── [Scope C]  (manually created by </a:t>
            </a:r>
            <a:r>
              <a:rPr lang="en-US" dirty="0" err="1"/>
              <a:t>CacheWarmingService</a:t>
            </a:r>
            <a:r>
              <a:rPr lang="en-US" dirty="0"/>
              <a:t> timer tick)</a:t>
            </a:r>
          </a:p>
          <a:p>
            <a:r>
              <a:rPr lang="en-US" dirty="0"/>
              <a:t>        └── </a:t>
            </a:r>
            <a:r>
              <a:rPr lang="en-US" dirty="0" err="1"/>
              <a:t>IMyDataService</a:t>
            </a:r>
            <a:r>
              <a:rPr lang="en-US" dirty="0"/>
              <a:t> → </a:t>
            </a:r>
            <a:r>
              <a:rPr lang="en-US" dirty="0" err="1"/>
              <a:t>MyDataService</a:t>
            </a:r>
            <a:r>
              <a:rPr lang="en-US" dirty="0"/>
              <a:t>   ← fresh, isolated</a:t>
            </a:r>
          </a:p>
          <a:p>
            <a:r>
              <a:rPr lang="en-US" dirty="0"/>
              <a:t>                └── </a:t>
            </a:r>
            <a:r>
              <a:rPr lang="en-US" dirty="0" err="1"/>
              <a:t>AppDbContext</a:t>
            </a:r>
            <a:r>
              <a:rPr lang="en-US" dirty="0"/>
              <a:t>             ← disposed after tick ✅</a:t>
            </a:r>
          </a:p>
        </p:txBody>
      </p:sp>
    </p:spTree>
    <p:extLst>
      <p:ext uri="{BB962C8B-B14F-4D97-AF65-F5344CB8AC3E}">
        <p14:creationId xmlns:p14="http://schemas.microsoft.com/office/powerpoint/2010/main" val="9660700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A4181F-2DEC-A829-CBC6-B9B84AE57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128090"/>
              </p:ext>
            </p:extLst>
          </p:nvPr>
        </p:nvGraphicFramePr>
        <p:xfrm>
          <a:off x="94593" y="-68490"/>
          <a:ext cx="11753193" cy="1645920"/>
        </p:xfrm>
        <a:graphic>
          <a:graphicData uri="http://schemas.openxmlformats.org/drawingml/2006/table">
            <a:tbl>
              <a:tblPr/>
              <a:tblGrid>
                <a:gridCol w="2633968">
                  <a:extLst>
                    <a:ext uri="{9D8B030D-6E8A-4147-A177-3AD203B41FA5}">
                      <a16:colId xmlns:a16="http://schemas.microsoft.com/office/drawing/2014/main" val="1028025386"/>
                    </a:ext>
                  </a:extLst>
                </a:gridCol>
                <a:gridCol w="4515695">
                  <a:extLst>
                    <a:ext uri="{9D8B030D-6E8A-4147-A177-3AD203B41FA5}">
                      <a16:colId xmlns:a16="http://schemas.microsoft.com/office/drawing/2014/main" val="3102508683"/>
                    </a:ext>
                  </a:extLst>
                </a:gridCol>
                <a:gridCol w="4603530">
                  <a:extLst>
                    <a:ext uri="{9D8B030D-6E8A-4147-A177-3AD203B41FA5}">
                      <a16:colId xmlns:a16="http://schemas.microsoft.com/office/drawing/2014/main" val="33007235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app.Services.CreateScope()</a:t>
                      </a:r>
                      <a:r>
                        <a:rPr lang="en-US" sz="1200"/>
                        <a:t> in Program.cs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_scopeFactory.CreateScope()</a:t>
                      </a:r>
                      <a:r>
                        <a:rPr lang="en-US" sz="1200"/>
                        <a:t> in BackgroundService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80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Who calls it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App startup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Singleton background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369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When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Once, before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app.Run()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Repeatedly, on each timer tick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671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Scope lifetime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Until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using</a:t>
                      </a:r>
                      <a:r>
                        <a:rPr lang="en-US" sz="1200"/>
                        <a:t> block ends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Until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using</a:t>
                      </a:r>
                      <a:r>
                        <a:rPr lang="en-US" sz="1200"/>
                        <a:t> block ends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425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Scoped services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Fresh instance, then disposed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Fresh instance, then disposed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037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Mechanism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12261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0E6C1F5-2B52-CA17-8814-8B958CFBC54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9840516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532155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446452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AddHostedService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AddSingleton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616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Lifetime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Singleton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Singleton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356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Auto-started by host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833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ourier New" panose="02070309020205020404" pitchFamily="49" charset="0"/>
                        </a:rPr>
                        <a:t>ExecuteAsync</a:t>
                      </a:r>
                      <a:r>
                        <a:rPr lang="en-US" b="1"/>
                        <a:t> runs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86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Graceful shutdown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StopAsync()</a:t>
                      </a:r>
                      <a:r>
                        <a:rPr lang="en-US"/>
                        <a:t> called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Never called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586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Cancellation on stop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stoppingToken</a:t>
                      </a:r>
                      <a:r>
                        <a:rPr lang="en-US"/>
                        <a:t> cancelled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 token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845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Resolvable from DI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⚠️ Only as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IHostedService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 As itself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005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0488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502B9A-7F0D-F54D-C6B9-4F0AAD561585}"/>
              </a:ext>
            </a:extLst>
          </p:cNvPr>
          <p:cNvSpPr txBox="1"/>
          <p:nvPr/>
        </p:nvSpPr>
        <p:spPr>
          <a:xfrm>
            <a:off x="6358757" y="76953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/>
              <a:t>AddHostedService</a:t>
            </a:r>
            <a:r>
              <a:rPr lang="en-US" sz="1400" b="1" dirty="0"/>
              <a:t>&lt;T&gt;  =  </a:t>
            </a:r>
            <a:r>
              <a:rPr lang="en-US" sz="1400" b="1" dirty="0" err="1"/>
              <a:t>AddSingleton</a:t>
            </a:r>
            <a:r>
              <a:rPr lang="en-US" sz="1400" b="1" dirty="0"/>
              <a:t>&lt;</a:t>
            </a:r>
            <a:r>
              <a:rPr lang="en-US" sz="1400" b="1" dirty="0" err="1"/>
              <a:t>IHostedService</a:t>
            </a:r>
            <a:r>
              <a:rPr lang="en-US" sz="1400" b="1" dirty="0"/>
              <a:t>, 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B35F43-4CA2-1CEE-F18E-D0D211AD9BDC}"/>
              </a:ext>
            </a:extLst>
          </p:cNvPr>
          <p:cNvSpPr txBox="1"/>
          <p:nvPr/>
        </p:nvSpPr>
        <p:spPr>
          <a:xfrm>
            <a:off x="6358757" y="19740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sz="1400" b="1" dirty="0" err="1">
                <a:latin typeface="Courier New" panose="02070309020205020404" pitchFamily="49" charset="0"/>
              </a:rPr>
              <a:t>AddHostedService</a:t>
            </a:r>
            <a:endParaRPr lang="en-AU" sz="1400" b="1" dirty="0"/>
          </a:p>
          <a:p>
            <a:pPr>
              <a:buNone/>
            </a:pPr>
            <a:r>
              <a:rPr lang="en-AU" sz="1400" dirty="0"/>
              <a:t>Registers the service as </a:t>
            </a:r>
            <a:r>
              <a:rPr lang="en-AU" sz="1400" b="1" dirty="0"/>
              <a:t>both</a:t>
            </a:r>
            <a:r>
              <a:rPr lang="en-AU" sz="1400" dirty="0"/>
              <a:t> a Singleton </a:t>
            </a:r>
            <a:r>
              <a:rPr lang="en-AU" sz="1400" b="1" dirty="0"/>
              <a:t>and</a:t>
            </a:r>
            <a:r>
              <a:rPr lang="en-AU" sz="1400" dirty="0"/>
              <a:t> an </a:t>
            </a:r>
            <a:r>
              <a:rPr lang="en-AU" sz="1400" dirty="0" err="1">
                <a:latin typeface="Courier New" panose="02070309020205020404" pitchFamily="49" charset="0"/>
              </a:rPr>
              <a:t>IHostedService</a:t>
            </a:r>
            <a:r>
              <a:rPr lang="en-AU" sz="1400" dirty="0"/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5BBC43-9975-269F-4497-223C9DE03D8B}"/>
              </a:ext>
            </a:extLst>
          </p:cNvPr>
          <p:cNvSpPr txBox="1"/>
          <p:nvPr/>
        </p:nvSpPr>
        <p:spPr>
          <a:xfrm>
            <a:off x="6096000" y="1874204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 Startup</a:t>
            </a:r>
          </a:p>
          <a:p>
            <a:r>
              <a:rPr lang="en-US" dirty="0"/>
              <a:t>├── Host resolves all </a:t>
            </a:r>
            <a:r>
              <a:rPr lang="en-US" dirty="0" err="1"/>
              <a:t>IHostedService</a:t>
            </a:r>
            <a:r>
              <a:rPr lang="en-US" dirty="0"/>
              <a:t> registrations</a:t>
            </a:r>
          </a:p>
          <a:p>
            <a:r>
              <a:rPr lang="en-US" dirty="0"/>
              <a:t>├── Calls </a:t>
            </a:r>
            <a:r>
              <a:rPr lang="en-US" dirty="0" err="1"/>
              <a:t>StartAsync</a:t>
            </a:r>
            <a:r>
              <a:rPr lang="en-US" dirty="0"/>
              <a:t>() on each one        ← your </a:t>
            </a:r>
            <a:r>
              <a:rPr lang="en-US" dirty="0" err="1"/>
              <a:t>ExecuteAsync</a:t>
            </a:r>
            <a:r>
              <a:rPr lang="en-US" dirty="0"/>
              <a:t> begins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App Running</a:t>
            </a:r>
          </a:p>
          <a:p>
            <a:r>
              <a:rPr lang="en-US" dirty="0"/>
              <a:t>├── Your timer/loop runs in background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App Shutdown (</a:t>
            </a:r>
            <a:r>
              <a:rPr lang="en-US" dirty="0" err="1"/>
              <a:t>Ctrl+C</a:t>
            </a:r>
            <a:r>
              <a:rPr lang="en-US" dirty="0"/>
              <a:t> / SIGTERM)</a:t>
            </a:r>
          </a:p>
          <a:p>
            <a:r>
              <a:rPr lang="en-US" dirty="0"/>
              <a:t>├── Host calls </a:t>
            </a:r>
            <a:r>
              <a:rPr lang="en-US" dirty="0" err="1"/>
              <a:t>StopAsync</a:t>
            </a:r>
            <a:r>
              <a:rPr lang="en-US" dirty="0"/>
              <a:t>() on each one    ← </a:t>
            </a:r>
            <a:r>
              <a:rPr lang="en-US" dirty="0" err="1"/>
              <a:t>CancellationToken</a:t>
            </a:r>
            <a:r>
              <a:rPr lang="en-US" dirty="0"/>
              <a:t> is cancelled</a:t>
            </a:r>
          </a:p>
          <a:p>
            <a:r>
              <a:rPr lang="en-US" dirty="0"/>
              <a:t>├── Waits for graceful shutdown</a:t>
            </a:r>
          </a:p>
          <a:p>
            <a:r>
              <a:rPr lang="en-US" dirty="0"/>
              <a:t>└── Then disposes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42C3C3-F0BA-1488-9724-816D2B11A8AE}"/>
              </a:ext>
            </a:extLst>
          </p:cNvPr>
          <p:cNvSpPr txBox="1"/>
          <p:nvPr/>
        </p:nvSpPr>
        <p:spPr>
          <a:xfrm>
            <a:off x="94593" y="1874204"/>
            <a:ext cx="626416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 Startup</a:t>
            </a:r>
          </a:p>
          <a:p>
            <a:r>
              <a:rPr lang="en-US" dirty="0"/>
              <a:t>├── </a:t>
            </a:r>
            <a:r>
              <a:rPr lang="en-US" dirty="0" err="1"/>
              <a:t>CacheWarmingService</a:t>
            </a:r>
            <a:r>
              <a:rPr lang="en-US" dirty="0"/>
              <a:t> is NOT started automatically</a:t>
            </a:r>
          </a:p>
          <a:p>
            <a:r>
              <a:rPr lang="en-US" dirty="0"/>
              <a:t>├── Nothing calls </a:t>
            </a:r>
            <a:r>
              <a:rPr lang="en-US" dirty="0" err="1"/>
              <a:t>StartAsync</a:t>
            </a:r>
            <a:r>
              <a:rPr lang="en-US" dirty="0"/>
              <a:t>() / </a:t>
            </a:r>
            <a:r>
              <a:rPr lang="en-US" dirty="0" err="1"/>
              <a:t>ExecuteAsync</a:t>
            </a:r>
            <a:r>
              <a:rPr lang="en-US" dirty="0"/>
              <a:t>()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App Running</a:t>
            </a:r>
          </a:p>
          <a:p>
            <a:r>
              <a:rPr lang="en-US" dirty="0"/>
              <a:t>├── Service only exists if something resolves it from DI</a:t>
            </a:r>
          </a:p>
          <a:p>
            <a:r>
              <a:rPr lang="en-US" dirty="0"/>
              <a:t>├── Your background loop never runs ❌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App Shutdown</a:t>
            </a:r>
          </a:p>
          <a:p>
            <a:r>
              <a:rPr lang="en-US" dirty="0"/>
              <a:t>├── </a:t>
            </a:r>
            <a:r>
              <a:rPr lang="en-US" dirty="0" err="1"/>
              <a:t>StopAsync</a:t>
            </a:r>
            <a:r>
              <a:rPr lang="en-US" dirty="0"/>
              <a:t>() is never called</a:t>
            </a:r>
          </a:p>
          <a:p>
            <a:r>
              <a:rPr lang="en-US" dirty="0"/>
              <a:t>├── No graceful shutdown 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C21CD3-2EA7-4B5E-873B-0CA2FFF9207B}"/>
              </a:ext>
            </a:extLst>
          </p:cNvPr>
          <p:cNvSpPr txBox="1"/>
          <p:nvPr/>
        </p:nvSpPr>
        <p:spPr>
          <a:xfrm>
            <a:off x="94593" y="258844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They Are Not The Same!</a:t>
            </a:r>
          </a:p>
          <a:p>
            <a:endParaRPr lang="en-US" sz="1400" dirty="0"/>
          </a:p>
          <a:p>
            <a:r>
              <a:rPr lang="en-US" sz="1400" dirty="0"/>
              <a:t>// Option A</a:t>
            </a:r>
          </a:p>
          <a:p>
            <a:r>
              <a:rPr lang="en-US" sz="1400" dirty="0" err="1"/>
              <a:t>builder.Services.</a:t>
            </a:r>
            <a:r>
              <a:rPr lang="en-US" sz="1400" b="1" dirty="0" err="1"/>
              <a:t>AddHostedService</a:t>
            </a:r>
            <a:r>
              <a:rPr lang="en-US" sz="1400" dirty="0"/>
              <a:t>&lt;</a:t>
            </a:r>
            <a:r>
              <a:rPr lang="en-US" sz="1400" dirty="0" err="1"/>
              <a:t>CacheWarmingService</a:t>
            </a:r>
            <a:r>
              <a:rPr lang="en-US" sz="1400" dirty="0"/>
              <a:t>&gt;();</a:t>
            </a:r>
          </a:p>
          <a:p>
            <a:endParaRPr lang="en-US" sz="1400" dirty="0"/>
          </a:p>
          <a:p>
            <a:r>
              <a:rPr lang="en-US" sz="1400" dirty="0"/>
              <a:t>// Option B</a:t>
            </a:r>
          </a:p>
          <a:p>
            <a:r>
              <a:rPr lang="en-US" sz="1400" dirty="0" err="1"/>
              <a:t>builder.Services.</a:t>
            </a:r>
            <a:r>
              <a:rPr lang="en-US" sz="1400" b="1" dirty="0" err="1"/>
              <a:t>AddSingleton</a:t>
            </a:r>
            <a:r>
              <a:rPr lang="en-US" sz="1400" dirty="0"/>
              <a:t>&lt;</a:t>
            </a:r>
            <a:r>
              <a:rPr lang="en-US" sz="1400" dirty="0" err="1"/>
              <a:t>CacheWarmingService</a:t>
            </a:r>
            <a:r>
              <a:rPr lang="en-US" sz="1400" dirty="0"/>
              <a:t>&gt;();</a:t>
            </a:r>
          </a:p>
        </p:txBody>
      </p:sp>
    </p:spTree>
    <p:extLst>
      <p:ext uri="{BB962C8B-B14F-4D97-AF65-F5344CB8AC3E}">
        <p14:creationId xmlns:p14="http://schemas.microsoft.com/office/powerpoint/2010/main" val="1821879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DB5A47-5DFA-E547-D8A3-37005F91B208}"/>
              </a:ext>
            </a:extLst>
          </p:cNvPr>
          <p:cNvSpPr txBox="1"/>
          <p:nvPr/>
        </p:nvSpPr>
        <p:spPr>
          <a:xfrm>
            <a:off x="220717" y="995827"/>
            <a:ext cx="76830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builder.Services.AddHostedService</a:t>
            </a:r>
            <a:r>
              <a:rPr lang="en-US" sz="1400" dirty="0"/>
              <a:t>&lt;</a:t>
            </a:r>
            <a:r>
              <a:rPr lang="en-US" sz="1400" dirty="0" err="1"/>
              <a:t>CacheWarmingService</a:t>
            </a:r>
            <a:r>
              <a:rPr lang="en-US" sz="1400" dirty="0"/>
              <a:t>&gt;();</a:t>
            </a:r>
          </a:p>
          <a:p>
            <a:r>
              <a:rPr lang="en-US" sz="1400" dirty="0" err="1"/>
              <a:t>builder.Services.AddHostedService</a:t>
            </a:r>
            <a:r>
              <a:rPr lang="en-US" sz="1400" dirty="0"/>
              <a:t>&lt;</a:t>
            </a:r>
            <a:r>
              <a:rPr lang="en-US" sz="1400" dirty="0" err="1"/>
              <a:t>EmailQueueService</a:t>
            </a:r>
            <a:r>
              <a:rPr lang="en-US" sz="1400" dirty="0"/>
              <a:t>&gt;();</a:t>
            </a:r>
          </a:p>
          <a:p>
            <a:r>
              <a:rPr lang="en-US" sz="1400" dirty="0" err="1"/>
              <a:t>builder.Services.AddHostedService</a:t>
            </a:r>
            <a:r>
              <a:rPr lang="en-US" sz="1400" dirty="0"/>
              <a:t>&lt;</a:t>
            </a:r>
            <a:r>
              <a:rPr lang="en-US" sz="1400" dirty="0" err="1"/>
              <a:t>ReportGeneratorService</a:t>
            </a:r>
            <a:r>
              <a:rPr lang="en-US" sz="1400" dirty="0"/>
              <a:t>&gt;();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B1295-DAD0-56F1-28ED-7D8C3CC82E05}"/>
              </a:ext>
            </a:extLst>
          </p:cNvPr>
          <p:cNvSpPr txBox="1"/>
          <p:nvPr/>
        </p:nvSpPr>
        <p:spPr>
          <a:xfrm>
            <a:off x="4939860" y="2268653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IHostedService</a:t>
            </a:r>
            <a:r>
              <a:rPr lang="en-US" sz="1400" dirty="0"/>
              <a:t>  →  </a:t>
            </a:r>
            <a:r>
              <a:rPr lang="en-US" sz="1400" dirty="0" err="1"/>
              <a:t>CacheWarmingService</a:t>
            </a:r>
            <a:endParaRPr lang="en-US" sz="1400" dirty="0"/>
          </a:p>
          <a:p>
            <a:r>
              <a:rPr lang="en-US" sz="1400" dirty="0" err="1"/>
              <a:t>IHostedService</a:t>
            </a:r>
            <a:r>
              <a:rPr lang="en-US" sz="1400" dirty="0"/>
              <a:t>  →  </a:t>
            </a:r>
            <a:r>
              <a:rPr lang="en-US" sz="1400" dirty="0" err="1"/>
              <a:t>EmailQueueService</a:t>
            </a:r>
            <a:endParaRPr lang="en-US" sz="1400" dirty="0"/>
          </a:p>
          <a:p>
            <a:r>
              <a:rPr lang="en-US" sz="1400" dirty="0" err="1"/>
              <a:t>IHostedService</a:t>
            </a:r>
            <a:r>
              <a:rPr lang="en-US" sz="1400" dirty="0"/>
              <a:t>  →  </a:t>
            </a:r>
            <a:r>
              <a:rPr lang="en-US" sz="1400" dirty="0" err="1"/>
              <a:t>ReportGeneratorService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EFBBB-3B0B-748B-F49D-C7BF651A8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13" y="0"/>
            <a:ext cx="135104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app.Services.GetRequiredService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IHostedService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multiple hosted services,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GetRequiredService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IHostedService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only returns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the last registered.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a real pitfall.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C4B6F-1503-D7A0-AD3E-66EFFE5E4A61}"/>
              </a:ext>
            </a:extLst>
          </p:cNvPr>
          <p:cNvSpPr txBox="1"/>
          <p:nvPr/>
        </p:nvSpPr>
        <p:spPr>
          <a:xfrm>
            <a:off x="220717" y="1899321"/>
            <a:ext cx="6810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Internally DI sees: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FBC856-8771-02F6-3D50-EB02FF30FF67}"/>
              </a:ext>
            </a:extLst>
          </p:cNvPr>
          <p:cNvSpPr txBox="1"/>
          <p:nvPr/>
        </p:nvSpPr>
        <p:spPr>
          <a:xfrm>
            <a:off x="2133598" y="1913237"/>
            <a:ext cx="6810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Multiple registrations for the </a:t>
            </a:r>
            <a:r>
              <a:rPr lang="en-AU" b="1" dirty="0"/>
              <a:t>same interface</a:t>
            </a:r>
            <a:r>
              <a:rPr lang="en-AU" dirty="0"/>
              <a:t>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6B0064-7DBC-4391-D2E3-9F134727EC74}"/>
              </a:ext>
            </a:extLst>
          </p:cNvPr>
          <p:cNvSpPr txBox="1"/>
          <p:nvPr/>
        </p:nvSpPr>
        <p:spPr>
          <a:xfrm>
            <a:off x="115613" y="3237582"/>
            <a:ext cx="114142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// ❌ Returns only the LAST registered — </a:t>
            </a:r>
            <a:r>
              <a:rPr lang="en-US" sz="1600" b="1" dirty="0" err="1"/>
              <a:t>EmailQueueService</a:t>
            </a:r>
            <a:r>
              <a:rPr lang="en-US" sz="1600" b="1" dirty="0"/>
              <a:t> is unreachable</a:t>
            </a:r>
          </a:p>
          <a:p>
            <a:r>
              <a:rPr lang="en-US" sz="1600" b="1" dirty="0"/>
              <a:t>var svc = </a:t>
            </a:r>
            <a:r>
              <a:rPr lang="en-US" sz="1600" b="1" dirty="0" err="1"/>
              <a:t>app.Services.GetRequiredService</a:t>
            </a:r>
            <a:r>
              <a:rPr lang="en-US" sz="1600" b="1" dirty="0"/>
              <a:t>&lt;</a:t>
            </a:r>
            <a:r>
              <a:rPr lang="en-US" sz="1600" b="1" dirty="0" err="1"/>
              <a:t>IHostedService</a:t>
            </a:r>
            <a:r>
              <a:rPr lang="en-US" sz="1600" b="1" dirty="0"/>
              <a:t>&gt;();</a:t>
            </a:r>
          </a:p>
          <a:p>
            <a:endParaRPr lang="en-US" sz="1600" b="1" dirty="0"/>
          </a:p>
          <a:p>
            <a:endParaRPr lang="en-US" sz="1600" b="1" dirty="0"/>
          </a:p>
          <a:p>
            <a:r>
              <a:rPr lang="en-US" sz="1600" b="1" dirty="0"/>
              <a:t>// ✅ Returns ALL of them</a:t>
            </a:r>
          </a:p>
          <a:p>
            <a:r>
              <a:rPr lang="en-US" sz="1600" b="1" dirty="0"/>
              <a:t>var </a:t>
            </a:r>
            <a:r>
              <a:rPr lang="en-US" sz="1600" b="1" dirty="0" err="1"/>
              <a:t>allServices</a:t>
            </a:r>
            <a:r>
              <a:rPr lang="en-US" sz="1600" b="1" dirty="0"/>
              <a:t> = </a:t>
            </a:r>
            <a:r>
              <a:rPr lang="en-US" sz="1600" b="1" dirty="0" err="1"/>
              <a:t>app.Services.GetServices</a:t>
            </a:r>
            <a:r>
              <a:rPr lang="en-US" sz="1600" b="1" dirty="0"/>
              <a:t>&lt;</a:t>
            </a:r>
            <a:r>
              <a:rPr lang="en-US" sz="1600" b="1" dirty="0" err="1"/>
              <a:t>IHostedService</a:t>
            </a:r>
            <a:r>
              <a:rPr lang="en-US" sz="1600" b="1" dirty="0"/>
              <a:t>&gt;();</a:t>
            </a:r>
          </a:p>
          <a:p>
            <a:r>
              <a:rPr lang="en-US" sz="1600" b="1" dirty="0"/>
              <a:t>// → [</a:t>
            </a:r>
            <a:r>
              <a:rPr lang="en-US" sz="1600" b="1" dirty="0" err="1"/>
              <a:t>CacheWarmingService</a:t>
            </a:r>
            <a:r>
              <a:rPr lang="en-US" sz="1600" b="1" dirty="0"/>
              <a:t>, </a:t>
            </a:r>
            <a:r>
              <a:rPr lang="en-US" sz="1600" b="1" dirty="0" err="1"/>
              <a:t>EmailQueueService</a:t>
            </a:r>
            <a:r>
              <a:rPr lang="en-US" sz="1600" b="1" dirty="0"/>
              <a:t>, </a:t>
            </a:r>
            <a:r>
              <a:rPr lang="en-US" sz="1600" b="1" dirty="0" err="1"/>
              <a:t>ReportGeneratorService</a:t>
            </a:r>
            <a:r>
              <a:rPr lang="en-US" sz="1600" b="1" dirty="0"/>
              <a:t>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4BC72C-3AE4-D075-FE72-241C0E3981C3}"/>
              </a:ext>
            </a:extLst>
          </p:cNvPr>
          <p:cNvSpPr txBox="1"/>
          <p:nvPr/>
        </p:nvSpPr>
        <p:spPr>
          <a:xfrm>
            <a:off x="262758" y="5145229"/>
            <a:ext cx="97039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/>
              <a:t>The .NET Host itself uses </a:t>
            </a:r>
            <a:r>
              <a:rPr lang="en-AU" sz="1200" dirty="0" err="1">
                <a:latin typeface="Courier New" panose="02070309020205020404" pitchFamily="49" charset="0"/>
              </a:rPr>
              <a:t>GetServices</a:t>
            </a:r>
            <a:r>
              <a:rPr lang="en-AU" sz="1200" dirty="0">
                <a:latin typeface="Courier New" panose="02070309020205020404" pitchFamily="49" charset="0"/>
              </a:rPr>
              <a:t>&lt;</a:t>
            </a:r>
            <a:r>
              <a:rPr lang="en-AU" sz="1200" dirty="0" err="1">
                <a:latin typeface="Courier New" panose="02070309020205020404" pitchFamily="49" charset="0"/>
              </a:rPr>
              <a:t>IHostedService</a:t>
            </a:r>
            <a:r>
              <a:rPr lang="en-AU" sz="1200" dirty="0">
                <a:latin typeface="Courier New" panose="02070309020205020404" pitchFamily="49" charset="0"/>
              </a:rPr>
              <a:t>&gt;()</a:t>
            </a:r>
            <a:r>
              <a:rPr lang="en-AU" sz="1200" dirty="0"/>
              <a:t> internally — that's how it starts </a:t>
            </a:r>
            <a:r>
              <a:rPr lang="en-AU" sz="1200" b="1" dirty="0"/>
              <a:t>all</a:t>
            </a:r>
            <a:r>
              <a:rPr lang="en-AU" sz="1200" dirty="0"/>
              <a:t> of them: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3C4D43-3EA7-2B68-894D-85EC91D4A642}"/>
              </a:ext>
            </a:extLst>
          </p:cNvPr>
          <p:cNvSpPr txBox="1"/>
          <p:nvPr/>
        </p:nvSpPr>
        <p:spPr>
          <a:xfrm>
            <a:off x="220717" y="5598568"/>
            <a:ext cx="68107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// Simplified — what the .NET Host does internally</a:t>
            </a:r>
          </a:p>
          <a:p>
            <a:r>
              <a:rPr lang="en-US" sz="1200" dirty="0"/>
              <a:t>var </a:t>
            </a:r>
            <a:r>
              <a:rPr lang="en-US" sz="1200" dirty="0" err="1"/>
              <a:t>hostedServices</a:t>
            </a:r>
            <a:r>
              <a:rPr lang="en-US" sz="1200" dirty="0"/>
              <a:t> = </a:t>
            </a:r>
            <a:r>
              <a:rPr lang="en-US" sz="1200" dirty="0" err="1"/>
              <a:t>serviceProvider.GetServices</a:t>
            </a:r>
            <a:r>
              <a:rPr lang="en-US" sz="1200" dirty="0"/>
              <a:t>&lt;</a:t>
            </a:r>
            <a:r>
              <a:rPr lang="en-US" sz="1200" dirty="0" err="1"/>
              <a:t>IHostedService</a:t>
            </a:r>
            <a:r>
              <a:rPr lang="en-US" sz="1200" dirty="0"/>
              <a:t>&gt;();</a:t>
            </a:r>
          </a:p>
          <a:p>
            <a:endParaRPr lang="en-US" sz="1200" dirty="0"/>
          </a:p>
          <a:p>
            <a:r>
              <a:rPr lang="en-US" sz="1200" dirty="0"/>
              <a:t>foreach (var service in </a:t>
            </a:r>
            <a:r>
              <a:rPr lang="en-US" sz="1200" dirty="0" err="1"/>
              <a:t>hostedServices</a:t>
            </a:r>
            <a:r>
              <a:rPr lang="en-US" sz="1200" dirty="0"/>
              <a:t>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 await </a:t>
            </a:r>
            <a:r>
              <a:rPr lang="en-US" sz="1200" dirty="0" err="1"/>
              <a:t>service.StartAsync</a:t>
            </a:r>
            <a:r>
              <a:rPr lang="en-US" sz="1200" dirty="0"/>
              <a:t>(</a:t>
            </a:r>
            <a:r>
              <a:rPr lang="en-US" sz="1200" dirty="0" err="1"/>
              <a:t>cancellationToken</a:t>
            </a:r>
            <a:r>
              <a:rPr lang="en-US" sz="1200" dirty="0"/>
              <a:t>); // starts ALL of them</a:t>
            </a:r>
          </a:p>
          <a:p>
            <a:r>
              <a:rPr 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95558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E9B0EA-7665-CB13-3FA3-5E04D2965710}"/>
              </a:ext>
            </a:extLst>
          </p:cNvPr>
          <p:cNvSpPr txBox="1"/>
          <p:nvPr/>
        </p:nvSpPr>
        <p:spPr>
          <a:xfrm>
            <a:off x="136634" y="1065469"/>
            <a:ext cx="1147729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// Register each as Singleton AND as </a:t>
            </a:r>
            <a:r>
              <a:rPr lang="en-US" sz="1600" dirty="0" err="1"/>
              <a:t>IHostedService</a:t>
            </a:r>
            <a:endParaRPr lang="en-US" sz="1600" dirty="0"/>
          </a:p>
          <a:p>
            <a:r>
              <a:rPr lang="en-US" sz="1600" dirty="0" err="1"/>
              <a:t>builder.Services.AddSingleton</a:t>
            </a:r>
            <a:r>
              <a:rPr lang="en-US" sz="1600" dirty="0"/>
              <a:t>&lt;</a:t>
            </a:r>
            <a:r>
              <a:rPr lang="en-US" sz="1600" dirty="0" err="1"/>
              <a:t>CacheWarmingService</a:t>
            </a:r>
            <a:r>
              <a:rPr lang="en-US" sz="1600" dirty="0"/>
              <a:t>&gt;();</a:t>
            </a:r>
          </a:p>
          <a:p>
            <a:r>
              <a:rPr lang="en-US" sz="1600" dirty="0" err="1"/>
              <a:t>builder.Services.AddSingleton</a:t>
            </a:r>
            <a:r>
              <a:rPr lang="en-US" sz="1600" dirty="0"/>
              <a:t>&lt;</a:t>
            </a:r>
            <a:r>
              <a:rPr lang="en-US" sz="1600" dirty="0" err="1"/>
              <a:t>EmailQueueService</a:t>
            </a:r>
            <a:r>
              <a:rPr lang="en-US" sz="1600" dirty="0"/>
              <a:t>&gt;();</a:t>
            </a:r>
          </a:p>
          <a:p>
            <a:endParaRPr lang="en-US" sz="1600" dirty="0"/>
          </a:p>
          <a:p>
            <a:r>
              <a:rPr lang="en-US" sz="1600" dirty="0" err="1"/>
              <a:t>builder.Services.AddHostedService</a:t>
            </a:r>
            <a:r>
              <a:rPr lang="en-US" sz="1600" dirty="0"/>
              <a:t>(</a:t>
            </a:r>
            <a:r>
              <a:rPr lang="en-US" sz="1600" dirty="0" err="1"/>
              <a:t>sp</a:t>
            </a:r>
            <a:r>
              <a:rPr lang="en-US" sz="1600" dirty="0"/>
              <a:t> =&gt; </a:t>
            </a:r>
            <a:r>
              <a:rPr lang="en-US" sz="1600" dirty="0" err="1"/>
              <a:t>sp.GetRequiredService</a:t>
            </a:r>
            <a:r>
              <a:rPr lang="en-US" sz="1600" dirty="0"/>
              <a:t>&lt;</a:t>
            </a:r>
            <a:r>
              <a:rPr lang="en-US" sz="1600" dirty="0" err="1"/>
              <a:t>CacheWarmingService</a:t>
            </a:r>
            <a:r>
              <a:rPr lang="en-US" sz="1600" dirty="0"/>
              <a:t>&gt;());</a:t>
            </a:r>
          </a:p>
          <a:p>
            <a:r>
              <a:rPr lang="en-US" sz="1600" dirty="0" err="1"/>
              <a:t>builder.Services.AddHostedService</a:t>
            </a:r>
            <a:r>
              <a:rPr lang="en-US" sz="1600" dirty="0"/>
              <a:t>(</a:t>
            </a:r>
            <a:r>
              <a:rPr lang="en-US" sz="1600" dirty="0" err="1"/>
              <a:t>sp</a:t>
            </a:r>
            <a:r>
              <a:rPr lang="en-US" sz="1600" dirty="0"/>
              <a:t> =&gt; </a:t>
            </a:r>
            <a:r>
              <a:rPr lang="en-US" sz="1600" dirty="0" err="1"/>
              <a:t>sp.GetRequiredService</a:t>
            </a:r>
            <a:r>
              <a:rPr lang="en-US" sz="1600" dirty="0"/>
              <a:t>&lt;</a:t>
            </a:r>
            <a:r>
              <a:rPr lang="en-US" sz="1600" dirty="0" err="1"/>
              <a:t>EmailQueueService</a:t>
            </a:r>
            <a:r>
              <a:rPr lang="en-US" sz="1600" dirty="0"/>
              <a:t>&gt;());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// Now you can resolve each specifically by its own type</a:t>
            </a:r>
          </a:p>
          <a:p>
            <a:r>
              <a:rPr lang="en-US" sz="1600" dirty="0"/>
              <a:t>var </a:t>
            </a:r>
            <a:r>
              <a:rPr lang="en-US" sz="1600" dirty="0" err="1"/>
              <a:t>cacheSvc</a:t>
            </a:r>
            <a:r>
              <a:rPr lang="en-US" sz="1600" dirty="0"/>
              <a:t> = </a:t>
            </a:r>
            <a:r>
              <a:rPr lang="en-US" sz="1600" dirty="0" err="1"/>
              <a:t>app.Services.GetRequiredService</a:t>
            </a:r>
            <a:r>
              <a:rPr lang="en-US" sz="1600" dirty="0"/>
              <a:t>&lt;</a:t>
            </a:r>
            <a:r>
              <a:rPr lang="en-US" sz="1600" dirty="0" err="1"/>
              <a:t>CacheWarmingService</a:t>
            </a:r>
            <a:r>
              <a:rPr lang="en-US" sz="1600" dirty="0"/>
              <a:t>&gt;();  // ✅</a:t>
            </a:r>
          </a:p>
          <a:p>
            <a:r>
              <a:rPr lang="en-US" sz="1600" dirty="0"/>
              <a:t>var </a:t>
            </a:r>
            <a:r>
              <a:rPr lang="en-US" sz="1600" dirty="0" err="1"/>
              <a:t>emailSvc</a:t>
            </a:r>
            <a:r>
              <a:rPr lang="en-US" sz="1600" dirty="0"/>
              <a:t> = </a:t>
            </a:r>
            <a:r>
              <a:rPr lang="en-US" sz="1600" dirty="0" err="1"/>
              <a:t>app.Services.GetRequiredService</a:t>
            </a:r>
            <a:r>
              <a:rPr lang="en-US" sz="1600" dirty="0"/>
              <a:t>&lt;</a:t>
            </a:r>
            <a:r>
              <a:rPr lang="en-US" sz="1600" dirty="0" err="1"/>
              <a:t>EmailQueueService</a:t>
            </a:r>
            <a:r>
              <a:rPr lang="en-US" sz="1600" dirty="0"/>
              <a:t>&gt;();    // ✅</a:t>
            </a:r>
          </a:p>
          <a:p>
            <a:endParaRPr lang="en-US" sz="1600" dirty="0"/>
          </a:p>
          <a:p>
            <a:r>
              <a:rPr lang="en-US" sz="1600" dirty="0"/>
              <a:t>// Or get all hosted services</a:t>
            </a:r>
          </a:p>
          <a:p>
            <a:r>
              <a:rPr lang="en-US" sz="1600" dirty="0"/>
              <a:t>var all = </a:t>
            </a:r>
            <a:r>
              <a:rPr lang="en-US" sz="1600" dirty="0" err="1"/>
              <a:t>app.Services.GetServices</a:t>
            </a:r>
            <a:r>
              <a:rPr lang="en-US" sz="1600" dirty="0"/>
              <a:t>&lt;</a:t>
            </a:r>
            <a:r>
              <a:rPr lang="en-US" sz="1600" dirty="0" err="1"/>
              <a:t>IHostedService</a:t>
            </a:r>
            <a:r>
              <a:rPr lang="en-US" sz="1600" dirty="0"/>
              <a:t>&gt;();                   // ✅ all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D7BA2-A3BD-A624-B9E0-CA72EEA7E828}"/>
              </a:ext>
            </a:extLst>
          </p:cNvPr>
          <p:cNvSpPr txBox="1"/>
          <p:nvPr/>
        </p:nvSpPr>
        <p:spPr>
          <a:xfrm>
            <a:off x="136634" y="247783"/>
            <a:ext cx="120553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b="1" dirty="0"/>
              <a:t>Resolving a Specific Service by Type</a:t>
            </a:r>
          </a:p>
          <a:p>
            <a:pPr>
              <a:buNone/>
            </a:pPr>
            <a:r>
              <a:rPr lang="en-AU" dirty="0"/>
              <a:t>If you need one specific service directly, use the pattern from before — register as Singleton first:</a:t>
            </a:r>
          </a:p>
        </p:txBody>
      </p:sp>
    </p:spTree>
    <p:extLst>
      <p:ext uri="{BB962C8B-B14F-4D97-AF65-F5344CB8AC3E}">
        <p14:creationId xmlns:p14="http://schemas.microsoft.com/office/powerpoint/2010/main" val="13988977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D5A66-11F8-6DE5-299D-C9089DC28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5" y="10509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CC70A8C-75DF-F0A6-02C6-6F44DBF8D8D9}"/>
              </a:ext>
            </a:extLst>
          </p:cNvPr>
          <p:cNvSpPr/>
          <p:nvPr/>
        </p:nvSpPr>
        <p:spPr>
          <a:xfrm>
            <a:off x="4016829" y="3842657"/>
            <a:ext cx="1415142" cy="4245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186A3FE-F229-39A1-E355-13C2BEBD5DDE}"/>
              </a:ext>
            </a:extLst>
          </p:cNvPr>
          <p:cNvSpPr/>
          <p:nvPr/>
        </p:nvSpPr>
        <p:spPr>
          <a:xfrm>
            <a:off x="4810358" y="221848"/>
            <a:ext cx="1415142" cy="4245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CD3FB1F-72C1-94A4-A6AB-5C0C548B6738}"/>
              </a:ext>
            </a:extLst>
          </p:cNvPr>
          <p:cNvSpPr/>
          <p:nvPr/>
        </p:nvSpPr>
        <p:spPr>
          <a:xfrm>
            <a:off x="1460938" y="1262375"/>
            <a:ext cx="2315657" cy="6084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418774-9AB3-2D54-F40C-082054CC2D92}"/>
              </a:ext>
            </a:extLst>
          </p:cNvPr>
          <p:cNvSpPr/>
          <p:nvPr/>
        </p:nvSpPr>
        <p:spPr>
          <a:xfrm>
            <a:off x="210207" y="3429000"/>
            <a:ext cx="2554014" cy="12796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4242</TotalTime>
  <Words>3301</Words>
  <Application>Microsoft Office PowerPoint</Application>
  <PresentationFormat>Widescreen</PresentationFormat>
  <Paragraphs>530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Aptos</vt:lpstr>
      <vt:lpstr>Aptos Display</vt:lpstr>
      <vt:lpstr>Arial</vt:lpstr>
      <vt:lpstr>Arial Unicode MS</vt:lpstr>
      <vt:lpstr>Courier New</vt:lpstr>
      <vt:lpstr>Google Sans</vt:lpstr>
      <vt:lpstr>Google Sans Text</vt:lpstr>
      <vt:lpstr>Segoe UI</vt:lpstr>
      <vt:lpstr>var(--font-mono)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Suzette Antony</dc:creator>
  <cp:lastModifiedBy>Suzette Antony</cp:lastModifiedBy>
  <cp:revision>23</cp:revision>
  <dcterms:created xsi:type="dcterms:W3CDTF">2026-03-11T12:38:46Z</dcterms:created>
  <dcterms:modified xsi:type="dcterms:W3CDTF">2026-09-26T15:56:29Z</dcterms:modified>
</cp:coreProperties>
</file>