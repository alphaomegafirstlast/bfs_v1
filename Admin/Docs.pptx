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3" r:id="rId3"/>
    <p:sldId id="268" r:id="rId4"/>
    <p:sldId id="264" r:id="rId5"/>
    <p:sldId id="267" r:id="rId6"/>
    <p:sldId id="266" r:id="rId7"/>
    <p:sldId id="269" r:id="rId8"/>
    <p:sldId id="273" r:id="rId9"/>
    <p:sldId id="274" r:id="rId10"/>
    <p:sldId id="279" r:id="rId11"/>
    <p:sldId id="282" r:id="rId12"/>
    <p:sldId id="275" r:id="rId13"/>
    <p:sldId id="281" r:id="rId14"/>
    <p:sldId id="272" r:id="rId15"/>
    <p:sldId id="276" r:id="rId16"/>
    <p:sldId id="278" r:id="rId17"/>
    <p:sldId id="270" r:id="rId18"/>
    <p:sldId id="271" r:id="rId19"/>
    <p:sldId id="280" r:id="rId20"/>
    <p:sldId id="277" r:id="rId21"/>
    <p:sldId id="256" r:id="rId22"/>
    <p:sldId id="257" r:id="rId23"/>
    <p:sldId id="258" r:id="rId24"/>
    <p:sldId id="259" r:id="rId25"/>
    <p:sldId id="260" r:id="rId26"/>
    <p:sldId id="261" r:id="rId27"/>
    <p:sldId id="265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5F9A"/>
    <a:srgbClr val="0B76A0"/>
    <a:srgbClr val="9966FF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0" autoAdjust="0"/>
    <p:restoredTop sz="94660"/>
  </p:normalViewPr>
  <p:slideViewPr>
    <p:cSldViewPr snapToGrid="0">
      <p:cViewPr varScale="1">
        <p:scale>
          <a:sx n="53" d="100"/>
          <a:sy n="53" d="100"/>
        </p:scale>
        <p:origin x="448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C1C6E-F090-64B1-E943-BFF5B3EED1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9B47F2-204D-712B-0B82-E58DF83241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3B20C-9960-C85E-FFD3-C5F3BB560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4501-8691-4646-B472-1139202FB98B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D2AE04-6F98-FBF1-96D9-E719D3452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E449C-BFA5-082F-5348-C95E0E9DB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37E9F-3903-4106-AC98-76A5037B0C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417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1A8BB-9829-126F-DE73-9197B8E4C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3BE76-CB62-45D4-EA18-AC8846DA3E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F1DC9A-0EDD-A77E-940D-A5F868D1D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4501-8691-4646-B472-1139202FB98B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63C72B-08DD-3C52-DE8F-E9F73A67B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512C9B-44B2-9FD9-95F1-504B556AD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37E9F-3903-4106-AC98-76A5037B0C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648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24808-7B16-50BC-4DFF-6B740BC7F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4BD912-BD28-B4DB-C070-C8C9F6AD66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F07A92-622F-65BD-CEE9-95FC58A60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4501-8691-4646-B472-1139202FB98B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812131-3789-0A29-AF9F-52D1F3834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8EB82B-D298-D604-FDFC-F34487379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37E9F-3903-4106-AC98-76A5037B0C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651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6A2E3-0F2F-8D66-35A7-62F09E1C0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1CA1C-827C-1EDE-2F30-3A66694E0E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6EF4D3-3C92-8E2B-1605-006DD0D9E2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CFAABF-D8F7-F49C-1685-54E430E5C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4501-8691-4646-B472-1139202FB98B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2F5EBA-6BCA-3620-2C39-4DBEFE2F8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52E62-71F5-E388-C77F-E08FB6365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37E9F-3903-4106-AC98-76A5037B0C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599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C243D-BE8B-6BAA-87DE-382EAFDF0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9CA77F-890F-B7F7-003C-BD0305A8F7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B745DC-BE58-4E60-4BD5-A2988B1A8F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A1485C-C2C5-DAEC-EE36-F6FB4B48D9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8A06AE-A2E1-3D1C-ED77-5A35D463D0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35B976-526F-2316-38BA-A71AA6135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4501-8691-4646-B472-1139202FB98B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2C9E70-D69E-1FFE-43FE-2E79D0D3E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677917-5193-6128-B589-E3C54E155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37E9F-3903-4106-AC98-76A5037B0C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837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41838-977A-CA8D-83AF-C6EBA1CDE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ECF4E9-B39E-F6CC-2197-EC3022E83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4501-8691-4646-B472-1139202FB98B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50C42C-BAC9-38ED-0062-6EBF05E79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E5CDFE-EB4C-727B-CE6F-8863A4C1A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37E9F-3903-4106-AC98-76A5037B0C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389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4D15AF-C0AC-56A3-C887-1C35EFB72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4501-8691-4646-B472-1139202FB98B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D8F222-B4EB-4A29-263D-9C44D6E59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22D74E-1EA9-EFF3-7F3F-16F8BA276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37E9F-3903-4106-AC98-76A5037B0C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789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3D3CE-D3B5-6929-5372-996575904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52619-DA5C-7BFF-1CAC-DB1ACD0254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1795C3-3A1D-E50F-BE37-66EEBE34F7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4BFD92-163E-038D-81F0-1FC5292F4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4501-8691-4646-B472-1139202FB98B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484D3C-F211-5C61-1594-4A7D8D5ED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81F566-4237-2B0F-C3AB-D6D02404D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37E9F-3903-4106-AC98-76A5037B0C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79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718F4-06A4-ADED-7A7B-D559E6F26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9DFFD0-631F-263D-63AB-9D6DDF6CCD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FCE890-CCDE-CEF9-EDCF-ACA9AF8F34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5095D2-B3BE-E3BB-BDAD-FC82292C6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4501-8691-4646-B472-1139202FB98B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D595E5-89DB-9E53-C88E-A3DA10AE1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1745D1-EF09-42A5-42B9-BA5494C54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37E9F-3903-4106-AC98-76A5037B0C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383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62969-A623-73B9-579F-5DB9ACD85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6799E0-2FC6-864B-6B11-6510750210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A33CB2-C7A9-37B3-B385-5DBB335DA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4501-8691-4646-B472-1139202FB98B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BF9C24-5274-AA81-5B36-A111228A0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73F1C5-D2CF-77B6-858E-266296E04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37E9F-3903-4106-AC98-76A5037B0C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397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256C3C-D1D0-E91F-79B2-E0532E7A55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24849C-1C86-8909-E0AE-EFB963A6C0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66FBCE-755D-0FFD-4943-8210141BC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4501-8691-4646-B472-1139202FB98B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CD775-5148-FDE6-1AB6-EA7166336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3B8D1-2E0E-F4FA-E055-7C62344AC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37E9F-3903-4106-AC98-76A5037B0C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764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BCB974-091A-7740-5BAB-ACD27B38E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E9B4EB-1C06-2CE8-DACB-81CC5F8095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DBFEFE-41AD-3593-61D6-5C5EDA2FF1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D74501-8691-4646-B472-1139202FB98B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31143-16BA-57CC-DEDD-15DA10A52A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DDD248-CABF-64A3-5A7E-E5D1D050CE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E37E9F-3903-4106-AC98-76A5037B0C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716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18" Type="http://schemas.openxmlformats.org/officeDocument/2006/relationships/image" Target="../media/image17.sv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17" Type="http://schemas.openxmlformats.org/officeDocument/2006/relationships/image" Target="../media/image16.svg"/><Relationship Id="rId2" Type="http://schemas.openxmlformats.org/officeDocument/2006/relationships/image" Target="../media/image1.svg"/><Relationship Id="rId16" Type="http://schemas.openxmlformats.org/officeDocument/2006/relationships/image" Target="../media/image15.svg"/><Relationship Id="rId20" Type="http://schemas.openxmlformats.org/officeDocument/2006/relationships/image" Target="../media/image1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svg"/><Relationship Id="rId19" Type="http://schemas.openxmlformats.org/officeDocument/2006/relationships/image" Target="../media/image18.sv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svg"/><Relationship Id="rId7" Type="http://schemas.openxmlformats.org/officeDocument/2006/relationships/image" Target="../media/image28.svg"/><Relationship Id="rId2" Type="http://schemas.openxmlformats.org/officeDocument/2006/relationships/image" Target="../media/image2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svg"/><Relationship Id="rId5" Type="http://schemas.openxmlformats.org/officeDocument/2006/relationships/image" Target="../media/image26.svg"/><Relationship Id="rId4" Type="http://schemas.openxmlformats.org/officeDocument/2006/relationships/image" Target="../media/image25.svg"/><Relationship Id="rId9" Type="http://schemas.openxmlformats.org/officeDocument/2006/relationships/image" Target="../media/image30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sv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sv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sv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 descr="Bar graph with upward trend outline">
            <a:extLst>
              <a:ext uri="{FF2B5EF4-FFF2-40B4-BE49-F238E27FC236}">
                <a16:creationId xmlns:a16="http://schemas.microsoft.com/office/drawing/2014/main" id="{9319D6AB-12E8-1C6C-C8CD-D00F53FDE4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2750" y="949706"/>
            <a:ext cx="914400" cy="914400"/>
          </a:xfrm>
          <a:prstGeom prst="rect">
            <a:avLst/>
          </a:prstGeom>
        </p:spPr>
      </p:pic>
      <p:pic>
        <p:nvPicPr>
          <p:cNvPr id="9" name="Graphic 8" descr="Safe outline">
            <a:extLst>
              <a:ext uri="{FF2B5EF4-FFF2-40B4-BE49-F238E27FC236}">
                <a16:creationId xmlns:a16="http://schemas.microsoft.com/office/drawing/2014/main" id="{3B13AFE1-EAA2-53CE-3AFF-4DF00A4781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17591" y="949706"/>
            <a:ext cx="914400" cy="914400"/>
          </a:xfrm>
          <a:prstGeom prst="rect">
            <a:avLst/>
          </a:prstGeom>
        </p:spPr>
      </p:pic>
      <p:pic>
        <p:nvPicPr>
          <p:cNvPr id="11" name="Graphic 10" descr="Money outline">
            <a:extLst>
              <a:ext uri="{FF2B5EF4-FFF2-40B4-BE49-F238E27FC236}">
                <a16:creationId xmlns:a16="http://schemas.microsoft.com/office/drawing/2014/main" id="{250D3CC7-C146-7851-DA01-3218FD0DC7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0843" y="5208095"/>
            <a:ext cx="914400" cy="914400"/>
          </a:xfrm>
          <a:prstGeom prst="rect">
            <a:avLst/>
          </a:prstGeom>
        </p:spPr>
      </p:pic>
      <p:pic>
        <p:nvPicPr>
          <p:cNvPr id="13" name="Graphic 12" descr="Box trolley outline">
            <a:extLst>
              <a:ext uri="{FF2B5EF4-FFF2-40B4-BE49-F238E27FC236}">
                <a16:creationId xmlns:a16="http://schemas.microsoft.com/office/drawing/2014/main" id="{B7677CDD-FC0D-E0CC-FA3D-071CE59112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79427" y="3472105"/>
            <a:ext cx="914400" cy="914400"/>
          </a:xfrm>
          <a:prstGeom prst="rect">
            <a:avLst/>
          </a:prstGeom>
        </p:spPr>
      </p:pic>
      <p:pic>
        <p:nvPicPr>
          <p:cNvPr id="19" name="Graphic 18" descr="Gears outline">
            <a:extLst>
              <a:ext uri="{FF2B5EF4-FFF2-40B4-BE49-F238E27FC236}">
                <a16:creationId xmlns:a16="http://schemas.microsoft.com/office/drawing/2014/main" id="{0FE9C919-D0B5-6EBD-13D6-39F63B6D5B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1382" y="3316888"/>
            <a:ext cx="914400" cy="914400"/>
          </a:xfrm>
          <a:prstGeom prst="rect">
            <a:avLst/>
          </a:prstGeom>
        </p:spPr>
      </p:pic>
      <p:pic>
        <p:nvPicPr>
          <p:cNvPr id="45" name="Graphic 44" descr="Programmer male outline">
            <a:extLst>
              <a:ext uri="{FF2B5EF4-FFF2-40B4-BE49-F238E27FC236}">
                <a16:creationId xmlns:a16="http://schemas.microsoft.com/office/drawing/2014/main" id="{AD64E529-55A1-89E6-614C-32967B57EE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27313" y="2443779"/>
            <a:ext cx="914400" cy="914400"/>
          </a:xfrm>
          <a:prstGeom prst="rect">
            <a:avLst/>
          </a:prstGeom>
        </p:spPr>
      </p:pic>
      <p:pic>
        <p:nvPicPr>
          <p:cNvPr id="47" name="Graphic 46" descr="Programmer female outline">
            <a:extLst>
              <a:ext uri="{FF2B5EF4-FFF2-40B4-BE49-F238E27FC236}">
                <a16:creationId xmlns:a16="http://schemas.microsoft.com/office/drawing/2014/main" id="{22879E9B-440C-4380-CFB4-1826E3C458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04556" y="2402488"/>
            <a:ext cx="914400" cy="914400"/>
          </a:xfrm>
          <a:prstGeom prst="rect">
            <a:avLst/>
          </a:prstGeom>
        </p:spPr>
      </p:pic>
      <p:pic>
        <p:nvPicPr>
          <p:cNvPr id="49" name="Graphic 48" descr="Cloud Computing outline">
            <a:extLst>
              <a:ext uri="{FF2B5EF4-FFF2-40B4-BE49-F238E27FC236}">
                <a16:creationId xmlns:a16="http://schemas.microsoft.com/office/drawing/2014/main" id="{DF1251D9-CCFF-EE79-D051-F99B1DC326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57349" y="1099895"/>
            <a:ext cx="914400" cy="914400"/>
          </a:xfrm>
          <a:prstGeom prst="rect">
            <a:avLst/>
          </a:prstGeom>
        </p:spPr>
      </p:pic>
      <p:pic>
        <p:nvPicPr>
          <p:cNvPr id="51" name="Graphic 50" descr="Laptop outline">
            <a:extLst>
              <a:ext uri="{FF2B5EF4-FFF2-40B4-BE49-F238E27FC236}">
                <a16:creationId xmlns:a16="http://schemas.microsoft.com/office/drawing/2014/main" id="{F812DC0F-948E-2D52-41C0-0C3B22E4BB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808241" y="4278893"/>
            <a:ext cx="914400" cy="914400"/>
          </a:xfrm>
          <a:prstGeom prst="rect">
            <a:avLst/>
          </a:prstGeom>
        </p:spPr>
      </p:pic>
      <p:pic>
        <p:nvPicPr>
          <p:cNvPr id="53" name="Graphic 52" descr="Hierarchy outline">
            <a:extLst>
              <a:ext uri="{FF2B5EF4-FFF2-40B4-BE49-F238E27FC236}">
                <a16:creationId xmlns:a16="http://schemas.microsoft.com/office/drawing/2014/main" id="{4B7FD792-AC35-D53F-D1A5-E0845F6DC2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232142" y="5531803"/>
            <a:ext cx="914400" cy="914400"/>
          </a:xfrm>
          <a:prstGeom prst="rect">
            <a:avLst/>
          </a:prstGeom>
        </p:spPr>
      </p:pic>
      <p:pic>
        <p:nvPicPr>
          <p:cNvPr id="55" name="Graphic 54" descr="Upward trend outline">
            <a:extLst>
              <a:ext uri="{FF2B5EF4-FFF2-40B4-BE49-F238E27FC236}">
                <a16:creationId xmlns:a16="http://schemas.microsoft.com/office/drawing/2014/main" id="{2A8DDF75-7A9D-F0CE-0A36-421A4E64C1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638800" y="5075487"/>
            <a:ext cx="914400" cy="914400"/>
          </a:xfrm>
          <a:prstGeom prst="rect">
            <a:avLst/>
          </a:prstGeom>
        </p:spPr>
      </p:pic>
      <p:pic>
        <p:nvPicPr>
          <p:cNvPr id="59" name="Graphic 58" descr="Office worker female outline">
            <a:extLst>
              <a:ext uri="{FF2B5EF4-FFF2-40B4-BE49-F238E27FC236}">
                <a16:creationId xmlns:a16="http://schemas.microsoft.com/office/drawing/2014/main" id="{E6DBE0BD-218F-0999-4E32-0FAE8E505A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055160" y="2402488"/>
            <a:ext cx="914400" cy="914400"/>
          </a:xfrm>
          <a:prstGeom prst="rect">
            <a:avLst/>
          </a:prstGeom>
        </p:spPr>
      </p:pic>
      <p:pic>
        <p:nvPicPr>
          <p:cNvPr id="61" name="Graphic 60" descr="Office worker male outline">
            <a:extLst>
              <a:ext uri="{FF2B5EF4-FFF2-40B4-BE49-F238E27FC236}">
                <a16:creationId xmlns:a16="http://schemas.microsoft.com/office/drawing/2014/main" id="{CF2C3399-2123-9D89-8394-24C29FB303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980158" y="2528978"/>
            <a:ext cx="914400" cy="914400"/>
          </a:xfrm>
          <a:prstGeom prst="rect">
            <a:avLst/>
          </a:prstGeom>
        </p:spPr>
      </p:pic>
      <p:pic>
        <p:nvPicPr>
          <p:cNvPr id="65" name="Graphic 64" descr="Medical outline">
            <a:extLst>
              <a:ext uri="{FF2B5EF4-FFF2-40B4-BE49-F238E27FC236}">
                <a16:creationId xmlns:a16="http://schemas.microsoft.com/office/drawing/2014/main" id="{3F13009F-07B0-B4A4-58BE-6FC90C6702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033379" y="5222809"/>
            <a:ext cx="914400" cy="914400"/>
          </a:xfrm>
          <a:prstGeom prst="rect">
            <a:avLst/>
          </a:prstGeom>
        </p:spPr>
      </p:pic>
      <p:pic>
        <p:nvPicPr>
          <p:cNvPr id="67" name="Graphic 66" descr="Stethoscope outline">
            <a:extLst>
              <a:ext uri="{FF2B5EF4-FFF2-40B4-BE49-F238E27FC236}">
                <a16:creationId xmlns:a16="http://schemas.microsoft.com/office/drawing/2014/main" id="{64593343-9EA8-471D-1020-A6D5FDBF66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267488" y="5222809"/>
            <a:ext cx="914400" cy="914400"/>
          </a:xfrm>
          <a:prstGeom prst="rect">
            <a:avLst/>
          </a:prstGeom>
        </p:spPr>
      </p:pic>
      <p:pic>
        <p:nvPicPr>
          <p:cNvPr id="69" name="Graphic 68" descr="Clipboard Checked outline">
            <a:extLst>
              <a:ext uri="{FF2B5EF4-FFF2-40B4-BE49-F238E27FC236}">
                <a16:creationId xmlns:a16="http://schemas.microsoft.com/office/drawing/2014/main" id="{68CD3164-0AD3-1A01-46AE-01EEB305DA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288570" y="949706"/>
            <a:ext cx="914400" cy="914400"/>
          </a:xfrm>
          <a:prstGeom prst="rect">
            <a:avLst/>
          </a:prstGeom>
        </p:spPr>
      </p:pic>
      <p:pic>
        <p:nvPicPr>
          <p:cNvPr id="71" name="Graphic 70" descr="Handshake outline">
            <a:extLst>
              <a:ext uri="{FF2B5EF4-FFF2-40B4-BE49-F238E27FC236}">
                <a16:creationId xmlns:a16="http://schemas.microsoft.com/office/drawing/2014/main" id="{D13D95FE-039A-E0B9-A748-C09E8EE2C1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606082" y="4561749"/>
            <a:ext cx="914400" cy="914400"/>
          </a:xfrm>
          <a:prstGeom prst="rect">
            <a:avLst/>
          </a:prstGeom>
        </p:spPr>
      </p:pic>
      <p:pic>
        <p:nvPicPr>
          <p:cNvPr id="73" name="Graphic 72" descr="Monthly calendar outline">
            <a:extLst>
              <a:ext uri="{FF2B5EF4-FFF2-40B4-BE49-F238E27FC236}">
                <a16:creationId xmlns:a16="http://schemas.microsoft.com/office/drawing/2014/main" id="{662344A3-E292-490A-550A-C8CF827CB0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1012304" y="5836200"/>
            <a:ext cx="914400" cy="914400"/>
          </a:xfrm>
          <a:prstGeom prst="rect">
            <a:avLst/>
          </a:prstGeom>
        </p:spPr>
      </p:pic>
      <p:pic>
        <p:nvPicPr>
          <p:cNvPr id="75" name="Graphic 74" descr="Unlock outline">
            <a:extLst>
              <a:ext uri="{FF2B5EF4-FFF2-40B4-BE49-F238E27FC236}">
                <a16:creationId xmlns:a16="http://schemas.microsoft.com/office/drawing/2014/main" id="{468485E0-3E41-21AE-7402-01D70A34CA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528410" y="3647349"/>
            <a:ext cx="914400" cy="914400"/>
          </a:xfrm>
          <a:prstGeom prst="rect">
            <a:avLst/>
          </a:prstGeom>
        </p:spPr>
      </p:pic>
      <p:pic>
        <p:nvPicPr>
          <p:cNvPr id="77" name="Graphic 76" descr="Lock outline">
            <a:extLst>
              <a:ext uri="{FF2B5EF4-FFF2-40B4-BE49-F238E27FC236}">
                <a16:creationId xmlns:a16="http://schemas.microsoft.com/office/drawing/2014/main" id="{10871F3B-2629-C43B-68B6-9CAFC5CE6C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977394" y="38862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265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raphic 20">
            <a:extLst>
              <a:ext uri="{FF2B5EF4-FFF2-40B4-BE49-F238E27FC236}">
                <a16:creationId xmlns:a16="http://schemas.microsoft.com/office/drawing/2014/main" id="{231CCD0D-C8D9-9647-5BA4-1BA74972F3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02245" y="0"/>
            <a:ext cx="7535732" cy="685800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C0601813-09BB-43EE-B72C-DEC8D1E1FE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268" y="0"/>
            <a:ext cx="75357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7762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B43AD-031E-AABA-87B7-0DFE983B7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 descr="Safe outline">
            <a:extLst>
              <a:ext uri="{FF2B5EF4-FFF2-40B4-BE49-F238E27FC236}">
                <a16:creationId xmlns:a16="http://schemas.microsoft.com/office/drawing/2014/main" id="{9433A916-5DDC-A8B9-349B-FDD3B154D4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423829" y="-1102600"/>
            <a:ext cx="5029200" cy="5029200"/>
          </a:xfrm>
          <a:prstGeom prst="rect">
            <a:avLst/>
          </a:prstGeom>
          <a:effectLst>
            <a:outerShdw blurRad="50800" dist="127000" dir="2700000" algn="tl" rotWithShape="0">
              <a:schemeClr val="accent1">
                <a:alpha val="40000"/>
              </a:schemeClr>
            </a:outerShdw>
          </a:effectLst>
        </p:spPr>
      </p:pic>
      <p:pic>
        <p:nvPicPr>
          <p:cNvPr id="45" name="Graphic 44" descr="Programmer male outline">
            <a:extLst>
              <a:ext uri="{FF2B5EF4-FFF2-40B4-BE49-F238E27FC236}">
                <a16:creationId xmlns:a16="http://schemas.microsoft.com/office/drawing/2014/main" id="{7245DDCE-7488-DDC0-0D80-0F12ADADB4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45536" y="-1351460"/>
            <a:ext cx="5029200" cy="5029200"/>
          </a:xfrm>
          <a:prstGeom prst="rect">
            <a:avLst/>
          </a:prstGeom>
          <a:effectLst>
            <a:outerShdw blurRad="50800" dist="127000" dir="2700000" algn="tl" rotWithShape="0">
              <a:schemeClr val="accent1">
                <a:alpha val="40000"/>
              </a:schemeClr>
            </a:outerShdw>
          </a:effectLst>
        </p:spPr>
      </p:pic>
      <p:pic>
        <p:nvPicPr>
          <p:cNvPr id="49" name="Graphic 48" descr="Cloud Computing outline">
            <a:extLst>
              <a:ext uri="{FF2B5EF4-FFF2-40B4-BE49-F238E27FC236}">
                <a16:creationId xmlns:a16="http://schemas.microsoft.com/office/drawing/2014/main" id="{8A1C7369-C3F1-0757-0639-917AE63CDF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57349" y="1099895"/>
            <a:ext cx="5029200" cy="5029200"/>
          </a:xfrm>
          <a:prstGeom prst="rect">
            <a:avLst/>
          </a:prstGeom>
          <a:effectLst>
            <a:outerShdw blurRad="50800" dist="127000" dir="2700000" algn="tl" rotWithShape="0">
              <a:schemeClr val="accent1">
                <a:alpha val="40000"/>
              </a:schemeClr>
            </a:outerShdw>
          </a:effectLst>
        </p:spPr>
      </p:pic>
      <p:pic>
        <p:nvPicPr>
          <p:cNvPr id="55" name="Graphic 54" descr="Upward trend outline">
            <a:extLst>
              <a:ext uri="{FF2B5EF4-FFF2-40B4-BE49-F238E27FC236}">
                <a16:creationId xmlns:a16="http://schemas.microsoft.com/office/drawing/2014/main" id="{CEC7D6D7-AB60-776B-D50E-4B17BE18AD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95411" y="2849644"/>
            <a:ext cx="5029200" cy="5029200"/>
          </a:xfrm>
          <a:prstGeom prst="rect">
            <a:avLst/>
          </a:prstGeom>
          <a:effectLst>
            <a:outerShdw blurRad="50800" dist="127000" dir="2700000" algn="tl" rotWithShape="0">
              <a:schemeClr val="accent1">
                <a:alpha val="40000"/>
              </a:schemeClr>
            </a:outerShdw>
          </a:effectLst>
        </p:spPr>
      </p:pic>
      <p:pic>
        <p:nvPicPr>
          <p:cNvPr id="59" name="Graphic 58" descr="Office worker female outline">
            <a:extLst>
              <a:ext uri="{FF2B5EF4-FFF2-40B4-BE49-F238E27FC236}">
                <a16:creationId xmlns:a16="http://schemas.microsoft.com/office/drawing/2014/main" id="{95E01869-BDAB-36E4-A246-0561A5C376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02512" y="2789805"/>
            <a:ext cx="5029200" cy="5029200"/>
          </a:xfrm>
          <a:prstGeom prst="rect">
            <a:avLst/>
          </a:prstGeom>
          <a:effectLst>
            <a:outerShdw blurRad="50800" dist="127000" dir="2700000" algn="tl" rotWithShape="0">
              <a:schemeClr val="accent1">
                <a:alpha val="40000"/>
              </a:schemeClr>
            </a:outerShdw>
          </a:effectLst>
        </p:spPr>
      </p:pic>
      <p:pic>
        <p:nvPicPr>
          <p:cNvPr id="65" name="Graphic 64" descr="Medical outline">
            <a:extLst>
              <a:ext uri="{FF2B5EF4-FFF2-40B4-BE49-F238E27FC236}">
                <a16:creationId xmlns:a16="http://schemas.microsoft.com/office/drawing/2014/main" id="{29F65D68-DD71-AB6F-36A0-B587A35FEF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73499" y="-450647"/>
            <a:ext cx="5029200" cy="5029200"/>
          </a:xfrm>
          <a:prstGeom prst="rect">
            <a:avLst/>
          </a:prstGeom>
          <a:effectLst>
            <a:outerShdw blurRad="50800" dist="127000" dir="2700000" algn="tl" rotWithShape="0">
              <a:schemeClr val="accent1">
                <a:alpha val="40000"/>
              </a:schemeClr>
            </a:outerShdw>
          </a:effectLst>
        </p:spPr>
      </p:pic>
      <p:pic>
        <p:nvPicPr>
          <p:cNvPr id="69" name="Graphic 68" descr="Clipboard Checked outline">
            <a:extLst>
              <a:ext uri="{FF2B5EF4-FFF2-40B4-BE49-F238E27FC236}">
                <a16:creationId xmlns:a16="http://schemas.microsoft.com/office/drawing/2014/main" id="{EF76AA7E-427F-8C93-280B-CB05CDFD37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745043" y="2454443"/>
            <a:ext cx="5029200" cy="5029200"/>
          </a:xfrm>
          <a:prstGeom prst="rect">
            <a:avLst/>
          </a:prstGeom>
          <a:effectLst>
            <a:outerShdw blurRad="50800" dist="127000" dir="2700000" algn="tl" rotWithShape="0">
              <a:schemeClr val="accent1">
                <a:alpha val="40000"/>
              </a:schemeClr>
            </a:outerShdw>
          </a:effectLst>
        </p:spPr>
      </p:pic>
      <p:pic>
        <p:nvPicPr>
          <p:cNvPr id="73" name="Graphic 72" descr="Monthly calendar outline">
            <a:extLst>
              <a:ext uri="{FF2B5EF4-FFF2-40B4-BE49-F238E27FC236}">
                <a16:creationId xmlns:a16="http://schemas.microsoft.com/office/drawing/2014/main" id="{7BD280F1-CFC6-88C1-91A8-D1DA4C076B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685058" y="881385"/>
            <a:ext cx="5029200" cy="5029200"/>
          </a:xfrm>
          <a:prstGeom prst="rect">
            <a:avLst/>
          </a:prstGeom>
          <a:effectLst>
            <a:outerShdw blurRad="50800" dist="127000" dir="2700000" algn="tl" rotWithShape="0">
              <a:schemeClr val="accent1">
                <a:alpha val="4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505737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 descr="Bar graph with upward trend outline">
            <a:extLst>
              <a:ext uri="{FF2B5EF4-FFF2-40B4-BE49-F238E27FC236}">
                <a16:creationId xmlns:a16="http://schemas.microsoft.com/office/drawing/2014/main" id="{FEE85814-5306-11DC-F261-8BFABBBAC3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3631" b="-3631"/>
          <a:stretch>
            <a:fillRect/>
          </a:stretch>
        </p:blipFill>
        <p:spPr>
          <a:xfrm>
            <a:off x="6791264" y="1165420"/>
            <a:ext cx="5029200" cy="5029200"/>
          </a:xfrm>
          <a:prstGeom prst="rect">
            <a:avLst/>
          </a:prstGeom>
          <a:effectLst>
            <a:outerShdw blurRad="50800" dist="127000" dir="2700000" algn="tl" rotWithShape="0">
              <a:schemeClr val="tx2">
                <a:lumMod val="75000"/>
                <a:lumOff val="25000"/>
                <a:alpha val="40000"/>
              </a:schemeClr>
            </a:outerShdw>
          </a:effec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0FA68DF-1218-FC8B-D48B-91945C08D13D}"/>
              </a:ext>
            </a:extLst>
          </p:cNvPr>
          <p:cNvSpPr txBox="1"/>
          <p:nvPr/>
        </p:nvSpPr>
        <p:spPr>
          <a:xfrm>
            <a:off x="300789" y="0"/>
            <a:ext cx="4499812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For Systems</a:t>
            </a:r>
          </a:p>
          <a:p>
            <a:r>
              <a:rPr lang="en-AU" dirty="0"/>
              <a:t>-------------------</a:t>
            </a:r>
          </a:p>
          <a:p>
            <a:r>
              <a:rPr lang="en-AU" dirty="0"/>
              <a:t>Format Graphics:</a:t>
            </a:r>
            <a:br>
              <a:rPr lang="en-AU" dirty="0"/>
            </a:br>
            <a:r>
              <a:rPr lang="en-AU" dirty="0"/>
              <a:t>- Fill \ Transparency = 10%</a:t>
            </a:r>
          </a:p>
          <a:p>
            <a:pPr marL="285750" indent="-285750">
              <a:buFontTx/>
              <a:buChar char="-"/>
            </a:pPr>
            <a:r>
              <a:rPr lang="en-AU" dirty="0"/>
              <a:t>Fill \ </a:t>
            </a:r>
            <a:r>
              <a:rPr lang="en-AU" dirty="0" err="1"/>
              <a:t>color</a:t>
            </a:r>
            <a:r>
              <a:rPr lang="en-AU" dirty="0"/>
              <a:t> = #215F9A</a:t>
            </a:r>
            <a:br>
              <a:rPr lang="en-AU" dirty="0"/>
            </a:br>
            <a:r>
              <a:rPr lang="en-AU" dirty="0"/>
              <a:t>- size </a:t>
            </a:r>
            <a:r>
              <a:rPr lang="en-AU" dirty="0" err="1"/>
              <a:t>hight</a:t>
            </a:r>
            <a:r>
              <a:rPr lang="en-AU" dirty="0"/>
              <a:t>, width = 5.5“</a:t>
            </a:r>
          </a:p>
          <a:p>
            <a:endParaRPr lang="en-AU" dirty="0"/>
          </a:p>
          <a:p>
            <a:r>
              <a:rPr lang="en-AU" dirty="0"/>
              <a:t>shadow: </a:t>
            </a:r>
          </a:p>
          <a:p>
            <a:pPr marL="285750" indent="-285750">
              <a:buFontTx/>
              <a:buChar char="-"/>
            </a:pPr>
            <a:r>
              <a:rPr lang="en-AU" dirty="0"/>
              <a:t>preset = outer</a:t>
            </a:r>
          </a:p>
          <a:p>
            <a:pPr marL="285750" indent="-285750">
              <a:buFontTx/>
              <a:buChar char="-"/>
            </a:pPr>
            <a:r>
              <a:rPr lang="en-AU" dirty="0"/>
              <a:t> </a:t>
            </a:r>
            <a:r>
              <a:rPr lang="en-AU" dirty="0" err="1"/>
              <a:t>color</a:t>
            </a:r>
            <a:r>
              <a:rPr lang="en-AU" dirty="0"/>
              <a:t> = same </a:t>
            </a:r>
            <a:r>
              <a:rPr lang="en-AU" dirty="0" err="1"/>
              <a:t>color</a:t>
            </a:r>
            <a:r>
              <a:rPr lang="en-AU" dirty="0"/>
              <a:t> like fill </a:t>
            </a:r>
            <a:r>
              <a:rPr lang="en-AU" dirty="0" err="1"/>
              <a:t>color</a:t>
            </a:r>
            <a:endParaRPr lang="en-AU" dirty="0"/>
          </a:p>
          <a:p>
            <a:pPr marL="285750" indent="-285750">
              <a:buFontTx/>
              <a:buChar char="-"/>
            </a:pPr>
            <a:r>
              <a:rPr lang="en-AU" dirty="0"/>
              <a:t>distance 10 pt</a:t>
            </a:r>
          </a:p>
          <a:p>
            <a:pPr marL="285750" indent="-285750">
              <a:buFontTx/>
              <a:buChar char="-"/>
            </a:pPr>
            <a:r>
              <a:rPr lang="en-AU" dirty="0"/>
              <a:t>Blur = 4</a:t>
            </a:r>
          </a:p>
          <a:p>
            <a:pPr marL="285750" indent="-285750">
              <a:buFontTx/>
              <a:buChar char="-"/>
            </a:pPr>
            <a:r>
              <a:rPr lang="en-AU" dirty="0"/>
              <a:t>Angle = 45</a:t>
            </a:r>
          </a:p>
          <a:p>
            <a:pPr marL="285750" indent="-285750">
              <a:buFontTx/>
              <a:buChar char="-"/>
            </a:pPr>
            <a:r>
              <a:rPr lang="en-AU" dirty="0"/>
              <a:t>Transparency = 60%</a:t>
            </a:r>
          </a:p>
          <a:p>
            <a:pPr marL="285750" indent="-285750">
              <a:buFontTx/>
              <a:buChar char="-"/>
            </a:pPr>
            <a:endParaRPr lang="en-AU" dirty="0"/>
          </a:p>
          <a:p>
            <a:pPr marL="285750" indent="-285750">
              <a:buFontTx/>
              <a:buChar char="-"/>
            </a:pPr>
            <a:r>
              <a:rPr lang="en-AU" dirty="0"/>
              <a:t>Then align </a:t>
            </a:r>
            <a:r>
              <a:rPr lang="en-AU" dirty="0" err="1"/>
              <a:t>center</a:t>
            </a:r>
            <a:endParaRPr lang="en-AU" dirty="0"/>
          </a:p>
          <a:p>
            <a:pPr marL="285750" indent="-285750">
              <a:buFontTx/>
              <a:buChar char="-"/>
            </a:pPr>
            <a:r>
              <a:rPr lang="en-AU" dirty="0"/>
              <a:t>With circles</a:t>
            </a:r>
          </a:p>
          <a:p>
            <a:pPr marL="285750" indent="-285750">
              <a:buFontTx/>
              <a:buChar char="-"/>
            </a:pPr>
            <a:endParaRPr lang="en-AU" dirty="0"/>
          </a:p>
          <a:p>
            <a:pPr marL="285750" indent="-285750">
              <a:buFontTx/>
              <a:buChar char="-"/>
            </a:pPr>
            <a:r>
              <a:rPr lang="en-AU" dirty="0"/>
              <a:t>For Applications</a:t>
            </a:r>
            <a:br>
              <a:rPr lang="en-AU" dirty="0"/>
            </a:br>
            <a:r>
              <a:rPr lang="en-AU" dirty="0"/>
              <a:t>----------------------</a:t>
            </a:r>
            <a:br>
              <a:rPr lang="en-AU" dirty="0"/>
            </a:br>
            <a:r>
              <a:rPr lang="en-AU" dirty="0"/>
              <a:t>just set the circles </a:t>
            </a:r>
            <a:r>
              <a:rPr lang="en-AU" dirty="0" err="1"/>
              <a:t>color</a:t>
            </a:r>
            <a:r>
              <a:rPr lang="en-AU" dirty="0"/>
              <a:t> to : #163E64</a:t>
            </a:r>
            <a:br>
              <a:rPr lang="en-AU" dirty="0"/>
            </a:br>
            <a:r>
              <a:rPr lang="en-AU" dirty="0"/>
              <a:t>For companies:</a:t>
            </a:r>
            <a:br>
              <a:rPr lang="en-AU" dirty="0"/>
            </a:br>
            <a:r>
              <a:rPr lang="en-AU" dirty="0"/>
              <a:t>just set the circles </a:t>
            </a:r>
            <a:r>
              <a:rPr lang="en-AU" dirty="0" err="1"/>
              <a:t>color</a:t>
            </a:r>
            <a:r>
              <a:rPr lang="en-AU" dirty="0"/>
              <a:t> to #0B76A0</a:t>
            </a:r>
          </a:p>
        </p:txBody>
      </p:sp>
      <p:pic>
        <p:nvPicPr>
          <p:cNvPr id="19" name="Graphic 18" descr="Unlock outline">
            <a:extLst>
              <a:ext uri="{FF2B5EF4-FFF2-40B4-BE49-F238E27FC236}">
                <a16:creationId xmlns:a16="http://schemas.microsoft.com/office/drawing/2014/main" id="{19C1AFD8-DE9D-7BFD-6DD1-1BFDD5B7B0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38732" y="3680020"/>
            <a:ext cx="5029200" cy="5029200"/>
          </a:xfrm>
          <a:prstGeom prst="rect">
            <a:avLst/>
          </a:prstGeom>
          <a:effectLst>
            <a:outerShdw blurRad="50800" dist="127000" dir="2700000" algn="tl" rotWithShape="0">
              <a:srgbClr val="215F9A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65856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66B79-0479-2F18-4253-778BD603B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37B07347-1948-8AC3-9088-8C5A339986C7}"/>
              </a:ext>
            </a:extLst>
          </p:cNvPr>
          <p:cNvGrpSpPr/>
          <p:nvPr/>
        </p:nvGrpSpPr>
        <p:grpSpPr>
          <a:xfrm>
            <a:off x="2510322" y="72185"/>
            <a:ext cx="7229139" cy="6709406"/>
            <a:chOff x="2510322" y="72185"/>
            <a:chExt cx="7229139" cy="6709406"/>
          </a:xfrm>
        </p:grpSpPr>
        <p:sp>
          <p:nvSpPr>
            <p:cNvPr id="2" name="Freeform: Shape 1">
              <a:extLst>
                <a:ext uri="{FF2B5EF4-FFF2-40B4-BE49-F238E27FC236}">
                  <a16:creationId xmlns:a16="http://schemas.microsoft.com/office/drawing/2014/main" id="{2E802575-5581-30B6-0BA8-F13B2E2FA0D6}"/>
                </a:ext>
              </a:extLst>
            </p:cNvPr>
            <p:cNvSpPr/>
            <p:nvPr/>
          </p:nvSpPr>
          <p:spPr>
            <a:xfrm>
              <a:off x="2510322" y="552917"/>
              <a:ext cx="7229138" cy="6228674"/>
            </a:xfrm>
            <a:custGeom>
              <a:avLst/>
              <a:gdLst>
                <a:gd name="csX0" fmla="*/ -1 w 7229138"/>
                <a:gd name="csY0" fmla="*/ 3114376 h 6228674"/>
                <a:gd name="csX1" fmla="*/ 3614568 w 7229138"/>
                <a:gd name="csY1" fmla="*/ 40 h 6228674"/>
                <a:gd name="csX2" fmla="*/ 7229137 w 7229138"/>
                <a:gd name="csY2" fmla="*/ 3114376 h 6228674"/>
                <a:gd name="csX3" fmla="*/ 3614568 w 7229138"/>
                <a:gd name="csY3" fmla="*/ 6228715 h 6228674"/>
                <a:gd name="csX4" fmla="*/ -1 w 7229138"/>
                <a:gd name="csY4" fmla="*/ 3114376 h 62286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229138" h="6228674">
                  <a:moveTo>
                    <a:pt x="-1" y="3114376"/>
                  </a:moveTo>
                  <a:cubicBezTo>
                    <a:pt x="-1" y="1394373"/>
                    <a:pt x="1618301" y="40"/>
                    <a:pt x="3614568" y="40"/>
                  </a:cubicBezTo>
                  <a:cubicBezTo>
                    <a:pt x="5610843" y="40"/>
                    <a:pt x="7229137" y="1394373"/>
                    <a:pt x="7229137" y="3114376"/>
                  </a:cubicBezTo>
                  <a:cubicBezTo>
                    <a:pt x="7229137" y="4834378"/>
                    <a:pt x="5610843" y="6228715"/>
                    <a:pt x="3614568" y="6228715"/>
                  </a:cubicBezTo>
                  <a:cubicBezTo>
                    <a:pt x="1618301" y="6228715"/>
                    <a:pt x="-1" y="4834378"/>
                    <a:pt x="-1" y="3114376"/>
                  </a:cubicBezTo>
                  <a:close/>
                </a:path>
              </a:pathLst>
            </a:custGeom>
            <a:solidFill>
              <a:srgbClr val="4472C4">
                <a:alpha val="15000"/>
              </a:srgbClr>
            </a:solidFill>
            <a:ln w="806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1F797A2-52A6-8C41-5C37-51A48C204E11}"/>
                </a:ext>
              </a:extLst>
            </p:cNvPr>
            <p:cNvSpPr/>
            <p:nvPr/>
          </p:nvSpPr>
          <p:spPr>
            <a:xfrm>
              <a:off x="2510322" y="72185"/>
              <a:ext cx="7229139" cy="6228677"/>
            </a:xfrm>
            <a:custGeom>
              <a:avLst/>
              <a:gdLst>
                <a:gd name="csX0" fmla="*/ -1371 w 7229139"/>
                <a:gd name="csY0" fmla="*/ 3112940 h 6228677"/>
                <a:gd name="csX1" fmla="*/ 3613199 w 7229139"/>
                <a:gd name="csY1" fmla="*/ -1399 h 6228677"/>
                <a:gd name="csX2" fmla="*/ 7227768 w 7229139"/>
                <a:gd name="csY2" fmla="*/ 3112940 h 6228677"/>
                <a:gd name="csX3" fmla="*/ 3613199 w 7229139"/>
                <a:gd name="csY3" fmla="*/ 6227279 h 6228677"/>
                <a:gd name="csX4" fmla="*/ -1371 w 7229139"/>
                <a:gd name="csY4" fmla="*/ 3112940 h 62286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229139" h="6228677">
                  <a:moveTo>
                    <a:pt x="-1371" y="3112940"/>
                  </a:moveTo>
                  <a:cubicBezTo>
                    <a:pt x="-1371" y="1392953"/>
                    <a:pt x="1616955" y="-1399"/>
                    <a:pt x="3613199" y="-1399"/>
                  </a:cubicBezTo>
                  <a:cubicBezTo>
                    <a:pt x="5609441" y="-1399"/>
                    <a:pt x="7227768" y="1392953"/>
                    <a:pt x="7227768" y="3112940"/>
                  </a:cubicBezTo>
                  <a:cubicBezTo>
                    <a:pt x="7227768" y="4832927"/>
                    <a:pt x="5609441" y="6227279"/>
                    <a:pt x="3613199" y="6227279"/>
                  </a:cubicBezTo>
                  <a:cubicBezTo>
                    <a:pt x="1616955" y="6227279"/>
                    <a:pt x="-1371" y="4832927"/>
                    <a:pt x="-1371" y="3112940"/>
                  </a:cubicBezTo>
                  <a:close/>
                </a:path>
              </a:pathLst>
            </a:custGeom>
            <a:solidFill>
              <a:srgbClr val="4472C4">
                <a:alpha val="15000"/>
              </a:srgbClr>
            </a:solidFill>
            <a:ln w="806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3" name="Graphic 2" descr="Bar graph with upward trend outline">
              <a:extLst>
                <a:ext uri="{FF2B5EF4-FFF2-40B4-BE49-F238E27FC236}">
                  <a16:creationId xmlns:a16="http://schemas.microsoft.com/office/drawing/2014/main" id="{A3AC0982-B600-E8D8-7481-7A7186DF3E7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t="3631" b="-3631"/>
            <a:stretch>
              <a:fillRect/>
            </a:stretch>
          </p:blipFill>
          <p:spPr>
            <a:xfrm>
              <a:off x="3610291" y="914400"/>
              <a:ext cx="5029200" cy="5029200"/>
            </a:xfrm>
            <a:prstGeom prst="rect">
              <a:avLst/>
            </a:prstGeom>
            <a:effectLst>
              <a:outerShdw blurRad="50800" dist="127000" dir="2700000" algn="tl" rotWithShape="0">
                <a:schemeClr val="tx2">
                  <a:lumMod val="75000"/>
                  <a:lumOff val="25000"/>
                  <a:alpha val="40000"/>
                </a:scheme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2352918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B24AA7C-BBFA-C0BC-AEAD-273C1A91BD62}"/>
              </a:ext>
            </a:extLst>
          </p:cNvPr>
          <p:cNvGrpSpPr/>
          <p:nvPr/>
        </p:nvGrpSpPr>
        <p:grpSpPr>
          <a:xfrm>
            <a:off x="3003618" y="72185"/>
            <a:ext cx="7229139" cy="6709406"/>
            <a:chOff x="3003618" y="72185"/>
            <a:chExt cx="7229139" cy="6709406"/>
          </a:xfrm>
        </p:grpSpPr>
        <p:sp>
          <p:nvSpPr>
            <p:cNvPr id="2" name="Freeform: Shape 1">
              <a:extLst>
                <a:ext uri="{FF2B5EF4-FFF2-40B4-BE49-F238E27FC236}">
                  <a16:creationId xmlns:a16="http://schemas.microsoft.com/office/drawing/2014/main" id="{E6AA923B-25D4-8585-60A0-9846BDA72CB5}"/>
                </a:ext>
              </a:extLst>
            </p:cNvPr>
            <p:cNvSpPr/>
            <p:nvPr/>
          </p:nvSpPr>
          <p:spPr>
            <a:xfrm>
              <a:off x="3003618" y="552917"/>
              <a:ext cx="7229138" cy="6228674"/>
            </a:xfrm>
            <a:custGeom>
              <a:avLst/>
              <a:gdLst>
                <a:gd name="csX0" fmla="*/ -1 w 7229138"/>
                <a:gd name="csY0" fmla="*/ 3114376 h 6228674"/>
                <a:gd name="csX1" fmla="*/ 3614568 w 7229138"/>
                <a:gd name="csY1" fmla="*/ 40 h 6228674"/>
                <a:gd name="csX2" fmla="*/ 7229137 w 7229138"/>
                <a:gd name="csY2" fmla="*/ 3114376 h 6228674"/>
                <a:gd name="csX3" fmla="*/ 3614568 w 7229138"/>
                <a:gd name="csY3" fmla="*/ 6228715 h 6228674"/>
                <a:gd name="csX4" fmla="*/ -1 w 7229138"/>
                <a:gd name="csY4" fmla="*/ 3114376 h 62286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229138" h="6228674">
                  <a:moveTo>
                    <a:pt x="-1" y="3114376"/>
                  </a:moveTo>
                  <a:cubicBezTo>
                    <a:pt x="-1" y="1394373"/>
                    <a:pt x="1618301" y="40"/>
                    <a:pt x="3614568" y="40"/>
                  </a:cubicBezTo>
                  <a:cubicBezTo>
                    <a:pt x="5610843" y="40"/>
                    <a:pt x="7229137" y="1394373"/>
                    <a:pt x="7229137" y="3114376"/>
                  </a:cubicBezTo>
                  <a:cubicBezTo>
                    <a:pt x="7229137" y="4834378"/>
                    <a:pt x="5610843" y="6228715"/>
                    <a:pt x="3614568" y="6228715"/>
                  </a:cubicBezTo>
                  <a:cubicBezTo>
                    <a:pt x="1618301" y="6228715"/>
                    <a:pt x="-1" y="4834378"/>
                    <a:pt x="-1" y="3114376"/>
                  </a:cubicBezTo>
                  <a:close/>
                </a:path>
              </a:pathLst>
            </a:custGeom>
            <a:solidFill>
              <a:srgbClr val="4472C4">
                <a:alpha val="15000"/>
              </a:srgbClr>
            </a:solidFill>
            <a:ln w="806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350DA18-4175-F04E-BEAB-4BE5F80D03BE}"/>
                </a:ext>
              </a:extLst>
            </p:cNvPr>
            <p:cNvSpPr/>
            <p:nvPr/>
          </p:nvSpPr>
          <p:spPr>
            <a:xfrm>
              <a:off x="3003618" y="72185"/>
              <a:ext cx="7229139" cy="6228677"/>
            </a:xfrm>
            <a:custGeom>
              <a:avLst/>
              <a:gdLst>
                <a:gd name="csX0" fmla="*/ -1371 w 7229139"/>
                <a:gd name="csY0" fmla="*/ 3112940 h 6228677"/>
                <a:gd name="csX1" fmla="*/ 3613199 w 7229139"/>
                <a:gd name="csY1" fmla="*/ -1399 h 6228677"/>
                <a:gd name="csX2" fmla="*/ 7227768 w 7229139"/>
                <a:gd name="csY2" fmla="*/ 3112940 h 6228677"/>
                <a:gd name="csX3" fmla="*/ 3613199 w 7229139"/>
                <a:gd name="csY3" fmla="*/ 6227279 h 6228677"/>
                <a:gd name="csX4" fmla="*/ -1371 w 7229139"/>
                <a:gd name="csY4" fmla="*/ 3112940 h 62286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229139" h="6228677">
                  <a:moveTo>
                    <a:pt x="-1371" y="3112940"/>
                  </a:moveTo>
                  <a:cubicBezTo>
                    <a:pt x="-1371" y="1392953"/>
                    <a:pt x="1616955" y="-1399"/>
                    <a:pt x="3613199" y="-1399"/>
                  </a:cubicBezTo>
                  <a:cubicBezTo>
                    <a:pt x="5609441" y="-1399"/>
                    <a:pt x="7227768" y="1392953"/>
                    <a:pt x="7227768" y="3112940"/>
                  </a:cubicBezTo>
                  <a:cubicBezTo>
                    <a:pt x="7227768" y="4832927"/>
                    <a:pt x="5609441" y="6227279"/>
                    <a:pt x="3613199" y="6227279"/>
                  </a:cubicBezTo>
                  <a:cubicBezTo>
                    <a:pt x="1616955" y="6227279"/>
                    <a:pt x="-1371" y="4832927"/>
                    <a:pt x="-1371" y="3112940"/>
                  </a:cubicBezTo>
                  <a:close/>
                </a:path>
              </a:pathLst>
            </a:custGeom>
            <a:solidFill>
              <a:srgbClr val="4472C4">
                <a:alpha val="15000"/>
              </a:srgbClr>
            </a:solidFill>
            <a:ln w="806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9" name="Graphic 18" descr="Gears outline">
              <a:extLst>
                <a:ext uri="{FF2B5EF4-FFF2-40B4-BE49-F238E27FC236}">
                  <a16:creationId xmlns:a16="http://schemas.microsoft.com/office/drawing/2014/main" id="{48394366-DA7B-8178-A154-59EC4443FEC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103587" y="914400"/>
              <a:ext cx="5029200" cy="5029200"/>
            </a:xfrm>
            <a:prstGeom prst="rect">
              <a:avLst/>
            </a:prstGeom>
            <a:effectLst>
              <a:outerShdw blurRad="50800" dist="127000" dir="2700000" algn="tl" rotWithShape="0">
                <a:schemeClr val="accent1">
                  <a:alpha val="40000"/>
                </a:scheme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1894579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6EA00-395F-4F04-189F-D4DFD2699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154373E5-8028-72A9-9F42-FEABA5A247A7}"/>
              </a:ext>
            </a:extLst>
          </p:cNvPr>
          <p:cNvGrpSpPr/>
          <p:nvPr/>
        </p:nvGrpSpPr>
        <p:grpSpPr>
          <a:xfrm>
            <a:off x="3003618" y="72185"/>
            <a:ext cx="7229139" cy="6709406"/>
            <a:chOff x="3003618" y="72185"/>
            <a:chExt cx="7229139" cy="6709406"/>
          </a:xfrm>
        </p:grpSpPr>
        <p:sp>
          <p:nvSpPr>
            <p:cNvPr id="2" name="Freeform: Shape 1">
              <a:extLst>
                <a:ext uri="{FF2B5EF4-FFF2-40B4-BE49-F238E27FC236}">
                  <a16:creationId xmlns:a16="http://schemas.microsoft.com/office/drawing/2014/main" id="{86178146-9F13-C930-0D6C-0906244F2958}"/>
                </a:ext>
              </a:extLst>
            </p:cNvPr>
            <p:cNvSpPr/>
            <p:nvPr/>
          </p:nvSpPr>
          <p:spPr>
            <a:xfrm>
              <a:off x="3003618" y="552917"/>
              <a:ext cx="7229138" cy="6228674"/>
            </a:xfrm>
            <a:custGeom>
              <a:avLst/>
              <a:gdLst>
                <a:gd name="csX0" fmla="*/ -1 w 7229138"/>
                <a:gd name="csY0" fmla="*/ 3114376 h 6228674"/>
                <a:gd name="csX1" fmla="*/ 3614568 w 7229138"/>
                <a:gd name="csY1" fmla="*/ 40 h 6228674"/>
                <a:gd name="csX2" fmla="*/ 7229137 w 7229138"/>
                <a:gd name="csY2" fmla="*/ 3114376 h 6228674"/>
                <a:gd name="csX3" fmla="*/ 3614568 w 7229138"/>
                <a:gd name="csY3" fmla="*/ 6228715 h 6228674"/>
                <a:gd name="csX4" fmla="*/ -1 w 7229138"/>
                <a:gd name="csY4" fmla="*/ 3114376 h 62286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229138" h="6228674">
                  <a:moveTo>
                    <a:pt x="-1" y="3114376"/>
                  </a:moveTo>
                  <a:cubicBezTo>
                    <a:pt x="-1" y="1394373"/>
                    <a:pt x="1618301" y="40"/>
                    <a:pt x="3614568" y="40"/>
                  </a:cubicBezTo>
                  <a:cubicBezTo>
                    <a:pt x="5610843" y="40"/>
                    <a:pt x="7229137" y="1394373"/>
                    <a:pt x="7229137" y="3114376"/>
                  </a:cubicBezTo>
                  <a:cubicBezTo>
                    <a:pt x="7229137" y="4834378"/>
                    <a:pt x="5610843" y="6228715"/>
                    <a:pt x="3614568" y="6228715"/>
                  </a:cubicBezTo>
                  <a:cubicBezTo>
                    <a:pt x="1618301" y="6228715"/>
                    <a:pt x="-1" y="4834378"/>
                    <a:pt x="-1" y="3114376"/>
                  </a:cubicBezTo>
                  <a:close/>
                </a:path>
              </a:pathLst>
            </a:custGeom>
            <a:solidFill>
              <a:srgbClr val="4472C4">
                <a:alpha val="15000"/>
              </a:srgbClr>
            </a:solidFill>
            <a:ln w="806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8D2A8E2-C8DB-4C1D-D5C1-19E1AC8B81BD}"/>
                </a:ext>
              </a:extLst>
            </p:cNvPr>
            <p:cNvSpPr/>
            <p:nvPr/>
          </p:nvSpPr>
          <p:spPr>
            <a:xfrm>
              <a:off x="3003618" y="72185"/>
              <a:ext cx="7229139" cy="6228677"/>
            </a:xfrm>
            <a:custGeom>
              <a:avLst/>
              <a:gdLst>
                <a:gd name="csX0" fmla="*/ -1371 w 7229139"/>
                <a:gd name="csY0" fmla="*/ 3112940 h 6228677"/>
                <a:gd name="csX1" fmla="*/ 3613199 w 7229139"/>
                <a:gd name="csY1" fmla="*/ -1399 h 6228677"/>
                <a:gd name="csX2" fmla="*/ 7227768 w 7229139"/>
                <a:gd name="csY2" fmla="*/ 3112940 h 6228677"/>
                <a:gd name="csX3" fmla="*/ 3613199 w 7229139"/>
                <a:gd name="csY3" fmla="*/ 6227279 h 6228677"/>
                <a:gd name="csX4" fmla="*/ -1371 w 7229139"/>
                <a:gd name="csY4" fmla="*/ 3112940 h 62286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229139" h="6228677">
                  <a:moveTo>
                    <a:pt x="-1371" y="3112940"/>
                  </a:moveTo>
                  <a:cubicBezTo>
                    <a:pt x="-1371" y="1392953"/>
                    <a:pt x="1616955" y="-1399"/>
                    <a:pt x="3613199" y="-1399"/>
                  </a:cubicBezTo>
                  <a:cubicBezTo>
                    <a:pt x="5609441" y="-1399"/>
                    <a:pt x="7227768" y="1392953"/>
                    <a:pt x="7227768" y="3112940"/>
                  </a:cubicBezTo>
                  <a:cubicBezTo>
                    <a:pt x="7227768" y="4832927"/>
                    <a:pt x="5609441" y="6227279"/>
                    <a:pt x="3613199" y="6227279"/>
                  </a:cubicBezTo>
                  <a:cubicBezTo>
                    <a:pt x="1616955" y="6227279"/>
                    <a:pt x="-1371" y="4832927"/>
                    <a:pt x="-1371" y="3112940"/>
                  </a:cubicBezTo>
                  <a:close/>
                </a:path>
              </a:pathLst>
            </a:custGeom>
            <a:solidFill>
              <a:srgbClr val="4472C4">
                <a:alpha val="15000"/>
              </a:srgbClr>
            </a:solidFill>
            <a:ln w="806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3" name="Graphic 12" descr="Box trolley outline">
              <a:extLst>
                <a:ext uri="{FF2B5EF4-FFF2-40B4-BE49-F238E27FC236}">
                  <a16:creationId xmlns:a16="http://schemas.microsoft.com/office/drawing/2014/main" id="{7275BC7D-87F6-AB21-BA6B-E5CE9EE95F8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103587" y="914400"/>
              <a:ext cx="5029200" cy="5029200"/>
            </a:xfrm>
            <a:prstGeom prst="rect">
              <a:avLst/>
            </a:prstGeom>
            <a:effectLst>
              <a:outerShdw blurRad="50800" dist="127000" dir="2700000" algn="tl" rotWithShape="0">
                <a:schemeClr val="accent1">
                  <a:alpha val="40000"/>
                </a:scheme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2230716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D913F-6FA5-4064-46CB-41445AA40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2059E4C9-AE06-C2EC-EE01-65CAD14BDA93}"/>
              </a:ext>
            </a:extLst>
          </p:cNvPr>
          <p:cNvSpPr/>
          <p:nvPr/>
        </p:nvSpPr>
        <p:spPr>
          <a:xfrm>
            <a:off x="3003618" y="552917"/>
            <a:ext cx="7229138" cy="6228674"/>
          </a:xfrm>
          <a:custGeom>
            <a:avLst/>
            <a:gdLst>
              <a:gd name="csX0" fmla="*/ -1 w 7229138"/>
              <a:gd name="csY0" fmla="*/ 3114376 h 6228674"/>
              <a:gd name="csX1" fmla="*/ 3614568 w 7229138"/>
              <a:gd name="csY1" fmla="*/ 40 h 6228674"/>
              <a:gd name="csX2" fmla="*/ 7229137 w 7229138"/>
              <a:gd name="csY2" fmla="*/ 3114376 h 6228674"/>
              <a:gd name="csX3" fmla="*/ 3614568 w 7229138"/>
              <a:gd name="csY3" fmla="*/ 6228715 h 6228674"/>
              <a:gd name="csX4" fmla="*/ -1 w 7229138"/>
              <a:gd name="csY4" fmla="*/ 3114376 h 62286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229138" h="6228674">
                <a:moveTo>
                  <a:pt x="-1" y="3114376"/>
                </a:moveTo>
                <a:cubicBezTo>
                  <a:pt x="-1" y="1394373"/>
                  <a:pt x="1618301" y="40"/>
                  <a:pt x="3614568" y="40"/>
                </a:cubicBezTo>
                <a:cubicBezTo>
                  <a:pt x="5610843" y="40"/>
                  <a:pt x="7229137" y="1394373"/>
                  <a:pt x="7229137" y="3114376"/>
                </a:cubicBezTo>
                <a:cubicBezTo>
                  <a:pt x="7229137" y="4834378"/>
                  <a:pt x="5610843" y="6228715"/>
                  <a:pt x="3614568" y="6228715"/>
                </a:cubicBezTo>
                <a:cubicBezTo>
                  <a:pt x="1618301" y="6228715"/>
                  <a:pt x="-1" y="4834378"/>
                  <a:pt x="-1" y="3114376"/>
                </a:cubicBezTo>
                <a:close/>
              </a:path>
            </a:pathLst>
          </a:custGeom>
          <a:solidFill>
            <a:srgbClr val="4472C4">
              <a:alpha val="15000"/>
            </a:srgbClr>
          </a:solidFill>
          <a:ln w="8067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F82AC9D-6D4C-795E-455F-E89F2575BEEF}"/>
              </a:ext>
            </a:extLst>
          </p:cNvPr>
          <p:cNvSpPr/>
          <p:nvPr/>
        </p:nvSpPr>
        <p:spPr>
          <a:xfrm>
            <a:off x="3003618" y="72185"/>
            <a:ext cx="7229139" cy="6228677"/>
          </a:xfrm>
          <a:custGeom>
            <a:avLst/>
            <a:gdLst>
              <a:gd name="csX0" fmla="*/ -1371 w 7229139"/>
              <a:gd name="csY0" fmla="*/ 3112940 h 6228677"/>
              <a:gd name="csX1" fmla="*/ 3613199 w 7229139"/>
              <a:gd name="csY1" fmla="*/ -1399 h 6228677"/>
              <a:gd name="csX2" fmla="*/ 7227768 w 7229139"/>
              <a:gd name="csY2" fmla="*/ 3112940 h 6228677"/>
              <a:gd name="csX3" fmla="*/ 3613199 w 7229139"/>
              <a:gd name="csY3" fmla="*/ 6227279 h 6228677"/>
              <a:gd name="csX4" fmla="*/ -1371 w 7229139"/>
              <a:gd name="csY4" fmla="*/ 3112940 h 62286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229139" h="6228677">
                <a:moveTo>
                  <a:pt x="-1371" y="3112940"/>
                </a:moveTo>
                <a:cubicBezTo>
                  <a:pt x="-1371" y="1392953"/>
                  <a:pt x="1616955" y="-1399"/>
                  <a:pt x="3613199" y="-1399"/>
                </a:cubicBezTo>
                <a:cubicBezTo>
                  <a:pt x="5609441" y="-1399"/>
                  <a:pt x="7227768" y="1392953"/>
                  <a:pt x="7227768" y="3112940"/>
                </a:cubicBezTo>
                <a:cubicBezTo>
                  <a:pt x="7227768" y="4832927"/>
                  <a:pt x="5609441" y="6227279"/>
                  <a:pt x="3613199" y="6227279"/>
                </a:cubicBezTo>
                <a:cubicBezTo>
                  <a:pt x="1616955" y="6227279"/>
                  <a:pt x="-1371" y="4832927"/>
                  <a:pt x="-1371" y="3112940"/>
                </a:cubicBezTo>
                <a:close/>
              </a:path>
            </a:pathLst>
          </a:custGeom>
          <a:solidFill>
            <a:srgbClr val="4472C4">
              <a:alpha val="15000"/>
            </a:srgbClr>
          </a:solidFill>
          <a:ln w="8067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pic>
        <p:nvPicPr>
          <p:cNvPr id="11" name="Graphic 10" descr="Money outline">
            <a:extLst>
              <a:ext uri="{FF2B5EF4-FFF2-40B4-BE49-F238E27FC236}">
                <a16:creationId xmlns:a16="http://schemas.microsoft.com/office/drawing/2014/main" id="{A307EB66-7D70-3B84-3775-A8A661264B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03587" y="914400"/>
            <a:ext cx="5029200" cy="5029200"/>
          </a:xfrm>
          <a:prstGeom prst="rect">
            <a:avLst/>
          </a:prstGeom>
          <a:effectLst>
            <a:outerShdw blurRad="50800" dist="127000" dir="2700000" algn="tl" rotWithShape="0">
              <a:schemeClr val="accent1">
                <a:alpha val="4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903167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DD460-0CDC-CBA1-F691-25B99B5D6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41D67997-62AD-7FDF-6B3F-99C4F957D144}"/>
              </a:ext>
            </a:extLst>
          </p:cNvPr>
          <p:cNvSpPr/>
          <p:nvPr/>
        </p:nvSpPr>
        <p:spPr>
          <a:xfrm>
            <a:off x="3003618" y="552917"/>
            <a:ext cx="7229138" cy="6228674"/>
          </a:xfrm>
          <a:custGeom>
            <a:avLst/>
            <a:gdLst>
              <a:gd name="csX0" fmla="*/ -1 w 7229138"/>
              <a:gd name="csY0" fmla="*/ 3114376 h 6228674"/>
              <a:gd name="csX1" fmla="*/ 3614568 w 7229138"/>
              <a:gd name="csY1" fmla="*/ 40 h 6228674"/>
              <a:gd name="csX2" fmla="*/ 7229137 w 7229138"/>
              <a:gd name="csY2" fmla="*/ 3114376 h 6228674"/>
              <a:gd name="csX3" fmla="*/ 3614568 w 7229138"/>
              <a:gd name="csY3" fmla="*/ 6228715 h 6228674"/>
              <a:gd name="csX4" fmla="*/ -1 w 7229138"/>
              <a:gd name="csY4" fmla="*/ 3114376 h 62286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229138" h="6228674">
                <a:moveTo>
                  <a:pt x="-1" y="3114376"/>
                </a:moveTo>
                <a:cubicBezTo>
                  <a:pt x="-1" y="1394373"/>
                  <a:pt x="1618301" y="40"/>
                  <a:pt x="3614568" y="40"/>
                </a:cubicBezTo>
                <a:cubicBezTo>
                  <a:pt x="5610843" y="40"/>
                  <a:pt x="7229137" y="1394373"/>
                  <a:pt x="7229137" y="3114376"/>
                </a:cubicBezTo>
                <a:cubicBezTo>
                  <a:pt x="7229137" y="4834378"/>
                  <a:pt x="5610843" y="6228715"/>
                  <a:pt x="3614568" y="6228715"/>
                </a:cubicBezTo>
                <a:cubicBezTo>
                  <a:pt x="1618301" y="6228715"/>
                  <a:pt x="-1" y="4834378"/>
                  <a:pt x="-1" y="3114376"/>
                </a:cubicBezTo>
                <a:close/>
              </a:path>
            </a:pathLst>
          </a:custGeom>
          <a:solidFill>
            <a:srgbClr val="4472C4">
              <a:alpha val="15000"/>
            </a:srgbClr>
          </a:solidFill>
          <a:ln w="8067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9051373-DB3B-F7D0-7E5A-6D3BDD94CD03}"/>
              </a:ext>
            </a:extLst>
          </p:cNvPr>
          <p:cNvSpPr/>
          <p:nvPr/>
        </p:nvSpPr>
        <p:spPr>
          <a:xfrm>
            <a:off x="3003618" y="72185"/>
            <a:ext cx="7229139" cy="6228677"/>
          </a:xfrm>
          <a:custGeom>
            <a:avLst/>
            <a:gdLst>
              <a:gd name="csX0" fmla="*/ -1371 w 7229139"/>
              <a:gd name="csY0" fmla="*/ 3112940 h 6228677"/>
              <a:gd name="csX1" fmla="*/ 3613199 w 7229139"/>
              <a:gd name="csY1" fmla="*/ -1399 h 6228677"/>
              <a:gd name="csX2" fmla="*/ 7227768 w 7229139"/>
              <a:gd name="csY2" fmla="*/ 3112940 h 6228677"/>
              <a:gd name="csX3" fmla="*/ 3613199 w 7229139"/>
              <a:gd name="csY3" fmla="*/ 6227279 h 6228677"/>
              <a:gd name="csX4" fmla="*/ -1371 w 7229139"/>
              <a:gd name="csY4" fmla="*/ 3112940 h 62286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229139" h="6228677">
                <a:moveTo>
                  <a:pt x="-1371" y="3112940"/>
                </a:moveTo>
                <a:cubicBezTo>
                  <a:pt x="-1371" y="1392953"/>
                  <a:pt x="1616955" y="-1399"/>
                  <a:pt x="3613199" y="-1399"/>
                </a:cubicBezTo>
                <a:cubicBezTo>
                  <a:pt x="5609441" y="-1399"/>
                  <a:pt x="7227768" y="1392953"/>
                  <a:pt x="7227768" y="3112940"/>
                </a:cubicBezTo>
                <a:cubicBezTo>
                  <a:pt x="7227768" y="4832927"/>
                  <a:pt x="5609441" y="6227279"/>
                  <a:pt x="3613199" y="6227279"/>
                </a:cubicBezTo>
                <a:cubicBezTo>
                  <a:pt x="1616955" y="6227279"/>
                  <a:pt x="-1371" y="4832927"/>
                  <a:pt x="-1371" y="3112940"/>
                </a:cubicBezTo>
                <a:close/>
              </a:path>
            </a:pathLst>
          </a:custGeom>
          <a:solidFill>
            <a:srgbClr val="4472C4">
              <a:alpha val="15000"/>
            </a:srgbClr>
          </a:solidFill>
          <a:ln w="8067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pic>
        <p:nvPicPr>
          <p:cNvPr id="53" name="Graphic 52" descr="Hierarchy outline">
            <a:extLst>
              <a:ext uri="{FF2B5EF4-FFF2-40B4-BE49-F238E27FC236}">
                <a16:creationId xmlns:a16="http://schemas.microsoft.com/office/drawing/2014/main" id="{B4FA1865-06E0-410E-0884-7ED3E9039D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03587" y="914400"/>
            <a:ext cx="5029200" cy="5029200"/>
          </a:xfrm>
          <a:prstGeom prst="rect">
            <a:avLst/>
          </a:prstGeom>
          <a:effectLst>
            <a:outerShdw blurRad="50800" dist="127000" dir="2700000" algn="tl" rotWithShape="0">
              <a:schemeClr val="accent1">
                <a:alpha val="4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592727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CD65C-E4F3-2590-6D6D-487131E5D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D003F1F-E60B-A2AA-A8D4-FC3F8500180F}"/>
              </a:ext>
            </a:extLst>
          </p:cNvPr>
          <p:cNvGrpSpPr/>
          <p:nvPr/>
        </p:nvGrpSpPr>
        <p:grpSpPr>
          <a:xfrm>
            <a:off x="3071206" y="72185"/>
            <a:ext cx="7229139" cy="6709406"/>
            <a:chOff x="3071206" y="72185"/>
            <a:chExt cx="7229139" cy="6709406"/>
          </a:xfrm>
        </p:grpSpPr>
        <p:sp>
          <p:nvSpPr>
            <p:cNvPr id="2" name="Freeform: Shape 1">
              <a:extLst>
                <a:ext uri="{FF2B5EF4-FFF2-40B4-BE49-F238E27FC236}">
                  <a16:creationId xmlns:a16="http://schemas.microsoft.com/office/drawing/2014/main" id="{726F40EB-F15D-BB35-29E3-E594DBBC5A66}"/>
                </a:ext>
              </a:extLst>
            </p:cNvPr>
            <p:cNvSpPr/>
            <p:nvPr/>
          </p:nvSpPr>
          <p:spPr>
            <a:xfrm>
              <a:off x="3071206" y="552917"/>
              <a:ext cx="7229138" cy="6228674"/>
            </a:xfrm>
            <a:custGeom>
              <a:avLst/>
              <a:gdLst>
                <a:gd name="csX0" fmla="*/ -1 w 7229138"/>
                <a:gd name="csY0" fmla="*/ 3114376 h 6228674"/>
                <a:gd name="csX1" fmla="*/ 3614568 w 7229138"/>
                <a:gd name="csY1" fmla="*/ 40 h 6228674"/>
                <a:gd name="csX2" fmla="*/ 7229137 w 7229138"/>
                <a:gd name="csY2" fmla="*/ 3114376 h 6228674"/>
                <a:gd name="csX3" fmla="*/ 3614568 w 7229138"/>
                <a:gd name="csY3" fmla="*/ 6228715 h 6228674"/>
                <a:gd name="csX4" fmla="*/ -1 w 7229138"/>
                <a:gd name="csY4" fmla="*/ 3114376 h 62286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229138" h="6228674">
                  <a:moveTo>
                    <a:pt x="-1" y="3114376"/>
                  </a:moveTo>
                  <a:cubicBezTo>
                    <a:pt x="-1" y="1394373"/>
                    <a:pt x="1618301" y="40"/>
                    <a:pt x="3614568" y="40"/>
                  </a:cubicBezTo>
                  <a:cubicBezTo>
                    <a:pt x="5610843" y="40"/>
                    <a:pt x="7229137" y="1394373"/>
                    <a:pt x="7229137" y="3114376"/>
                  </a:cubicBezTo>
                  <a:cubicBezTo>
                    <a:pt x="7229137" y="4834378"/>
                    <a:pt x="5610843" y="6228715"/>
                    <a:pt x="3614568" y="6228715"/>
                  </a:cubicBezTo>
                  <a:cubicBezTo>
                    <a:pt x="1618301" y="6228715"/>
                    <a:pt x="-1" y="4834378"/>
                    <a:pt x="-1" y="3114376"/>
                  </a:cubicBezTo>
                  <a:close/>
                </a:path>
              </a:pathLst>
            </a:custGeom>
            <a:solidFill>
              <a:srgbClr val="4472C4">
                <a:alpha val="15000"/>
              </a:srgbClr>
            </a:solidFill>
            <a:ln w="806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9E461BB0-7274-D8DF-665F-F573966C475C}"/>
                </a:ext>
              </a:extLst>
            </p:cNvPr>
            <p:cNvSpPr/>
            <p:nvPr/>
          </p:nvSpPr>
          <p:spPr>
            <a:xfrm>
              <a:off x="3071206" y="72185"/>
              <a:ext cx="7229139" cy="6228677"/>
            </a:xfrm>
            <a:custGeom>
              <a:avLst/>
              <a:gdLst>
                <a:gd name="csX0" fmla="*/ -1371 w 7229139"/>
                <a:gd name="csY0" fmla="*/ 3112940 h 6228677"/>
                <a:gd name="csX1" fmla="*/ 3613199 w 7229139"/>
                <a:gd name="csY1" fmla="*/ -1399 h 6228677"/>
                <a:gd name="csX2" fmla="*/ 7227768 w 7229139"/>
                <a:gd name="csY2" fmla="*/ 3112940 h 6228677"/>
                <a:gd name="csX3" fmla="*/ 3613199 w 7229139"/>
                <a:gd name="csY3" fmla="*/ 6227279 h 6228677"/>
                <a:gd name="csX4" fmla="*/ -1371 w 7229139"/>
                <a:gd name="csY4" fmla="*/ 3112940 h 62286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229139" h="6228677">
                  <a:moveTo>
                    <a:pt x="-1371" y="3112940"/>
                  </a:moveTo>
                  <a:cubicBezTo>
                    <a:pt x="-1371" y="1392953"/>
                    <a:pt x="1616955" y="-1399"/>
                    <a:pt x="3613199" y="-1399"/>
                  </a:cubicBezTo>
                  <a:cubicBezTo>
                    <a:pt x="5609441" y="-1399"/>
                    <a:pt x="7227768" y="1392953"/>
                    <a:pt x="7227768" y="3112940"/>
                  </a:cubicBezTo>
                  <a:cubicBezTo>
                    <a:pt x="7227768" y="4832927"/>
                    <a:pt x="5609441" y="6227279"/>
                    <a:pt x="3613199" y="6227279"/>
                  </a:cubicBezTo>
                  <a:cubicBezTo>
                    <a:pt x="1616955" y="6227279"/>
                    <a:pt x="-1371" y="4832927"/>
                    <a:pt x="-1371" y="3112940"/>
                  </a:cubicBezTo>
                  <a:close/>
                </a:path>
              </a:pathLst>
            </a:custGeom>
            <a:solidFill>
              <a:srgbClr val="4472C4">
                <a:alpha val="15000"/>
              </a:srgbClr>
            </a:solidFill>
            <a:ln w="806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3" name="Graphic 2" descr="Unlock outline">
              <a:extLst>
                <a:ext uri="{FF2B5EF4-FFF2-40B4-BE49-F238E27FC236}">
                  <a16:creationId xmlns:a16="http://schemas.microsoft.com/office/drawing/2014/main" id="{1E612AA6-EDD9-BBDB-257E-BCF40B2777C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171175" y="914400"/>
              <a:ext cx="5029200" cy="5029200"/>
            </a:xfrm>
            <a:prstGeom prst="rect">
              <a:avLst/>
            </a:prstGeom>
            <a:effectLst>
              <a:outerShdw blurRad="50800" dist="127000" dir="2700000" algn="tl" rotWithShape="0">
                <a:srgbClr val="215F9A">
                  <a:alpha val="40000"/>
                </a:srgb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28996143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7D644-0455-D114-1AA3-4A4EC8778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095EC552-E687-B12E-EBBC-A86B31D9E9FB}"/>
              </a:ext>
            </a:extLst>
          </p:cNvPr>
          <p:cNvSpPr/>
          <p:nvPr/>
        </p:nvSpPr>
        <p:spPr>
          <a:xfrm>
            <a:off x="3003618" y="552917"/>
            <a:ext cx="7229138" cy="6228674"/>
          </a:xfrm>
          <a:custGeom>
            <a:avLst/>
            <a:gdLst>
              <a:gd name="csX0" fmla="*/ -1 w 7229138"/>
              <a:gd name="csY0" fmla="*/ 3114376 h 6228674"/>
              <a:gd name="csX1" fmla="*/ 3614568 w 7229138"/>
              <a:gd name="csY1" fmla="*/ 40 h 6228674"/>
              <a:gd name="csX2" fmla="*/ 7229137 w 7229138"/>
              <a:gd name="csY2" fmla="*/ 3114376 h 6228674"/>
              <a:gd name="csX3" fmla="*/ 3614568 w 7229138"/>
              <a:gd name="csY3" fmla="*/ 6228715 h 6228674"/>
              <a:gd name="csX4" fmla="*/ -1 w 7229138"/>
              <a:gd name="csY4" fmla="*/ 3114376 h 62286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229138" h="6228674">
                <a:moveTo>
                  <a:pt x="-1" y="3114376"/>
                </a:moveTo>
                <a:cubicBezTo>
                  <a:pt x="-1" y="1394373"/>
                  <a:pt x="1618301" y="40"/>
                  <a:pt x="3614568" y="40"/>
                </a:cubicBezTo>
                <a:cubicBezTo>
                  <a:pt x="5610843" y="40"/>
                  <a:pt x="7229137" y="1394373"/>
                  <a:pt x="7229137" y="3114376"/>
                </a:cubicBezTo>
                <a:cubicBezTo>
                  <a:pt x="7229137" y="4834378"/>
                  <a:pt x="5610843" y="6228715"/>
                  <a:pt x="3614568" y="6228715"/>
                </a:cubicBezTo>
                <a:cubicBezTo>
                  <a:pt x="1618301" y="6228715"/>
                  <a:pt x="-1" y="4834378"/>
                  <a:pt x="-1" y="3114376"/>
                </a:cubicBezTo>
                <a:close/>
              </a:path>
            </a:pathLst>
          </a:custGeom>
          <a:solidFill>
            <a:srgbClr val="4472C4">
              <a:alpha val="15000"/>
            </a:srgbClr>
          </a:solidFill>
          <a:ln w="8067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4575DF-5E2F-0566-A819-108F753A859C}"/>
              </a:ext>
            </a:extLst>
          </p:cNvPr>
          <p:cNvSpPr/>
          <p:nvPr/>
        </p:nvSpPr>
        <p:spPr>
          <a:xfrm>
            <a:off x="3003618" y="72185"/>
            <a:ext cx="7229139" cy="6228677"/>
          </a:xfrm>
          <a:custGeom>
            <a:avLst/>
            <a:gdLst>
              <a:gd name="csX0" fmla="*/ -1371 w 7229139"/>
              <a:gd name="csY0" fmla="*/ 3112940 h 6228677"/>
              <a:gd name="csX1" fmla="*/ 3613199 w 7229139"/>
              <a:gd name="csY1" fmla="*/ -1399 h 6228677"/>
              <a:gd name="csX2" fmla="*/ 7227768 w 7229139"/>
              <a:gd name="csY2" fmla="*/ 3112940 h 6228677"/>
              <a:gd name="csX3" fmla="*/ 3613199 w 7229139"/>
              <a:gd name="csY3" fmla="*/ 6227279 h 6228677"/>
              <a:gd name="csX4" fmla="*/ -1371 w 7229139"/>
              <a:gd name="csY4" fmla="*/ 3112940 h 62286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229139" h="6228677">
                <a:moveTo>
                  <a:pt x="-1371" y="3112940"/>
                </a:moveTo>
                <a:cubicBezTo>
                  <a:pt x="-1371" y="1392953"/>
                  <a:pt x="1616955" y="-1399"/>
                  <a:pt x="3613199" y="-1399"/>
                </a:cubicBezTo>
                <a:cubicBezTo>
                  <a:pt x="5609441" y="-1399"/>
                  <a:pt x="7227768" y="1392953"/>
                  <a:pt x="7227768" y="3112940"/>
                </a:cubicBezTo>
                <a:cubicBezTo>
                  <a:pt x="7227768" y="4832927"/>
                  <a:pt x="5609441" y="6227279"/>
                  <a:pt x="3613199" y="6227279"/>
                </a:cubicBezTo>
                <a:cubicBezTo>
                  <a:pt x="1616955" y="6227279"/>
                  <a:pt x="-1371" y="4832927"/>
                  <a:pt x="-1371" y="3112940"/>
                </a:cubicBezTo>
                <a:close/>
              </a:path>
            </a:pathLst>
          </a:custGeom>
          <a:solidFill>
            <a:srgbClr val="4472C4">
              <a:alpha val="15000"/>
            </a:srgbClr>
          </a:solidFill>
          <a:ln w="8067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4618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454BD-7283-5076-92AE-BAFE5D9F5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110AE565-4739-03BD-780F-B9923A201162}"/>
              </a:ext>
            </a:extLst>
          </p:cNvPr>
          <p:cNvGrpSpPr/>
          <p:nvPr/>
        </p:nvGrpSpPr>
        <p:grpSpPr>
          <a:xfrm>
            <a:off x="4267106" y="72185"/>
            <a:ext cx="7229139" cy="6709406"/>
            <a:chOff x="4267106" y="72185"/>
            <a:chExt cx="7229139" cy="6709406"/>
          </a:xfrm>
        </p:grpSpPr>
        <p:sp>
          <p:nvSpPr>
            <p:cNvPr id="2" name="Freeform: Shape 1">
              <a:extLst>
                <a:ext uri="{FF2B5EF4-FFF2-40B4-BE49-F238E27FC236}">
                  <a16:creationId xmlns:a16="http://schemas.microsoft.com/office/drawing/2014/main" id="{619EDBEB-2EF7-29A6-1D4C-1CCDD6451866}"/>
                </a:ext>
              </a:extLst>
            </p:cNvPr>
            <p:cNvSpPr/>
            <p:nvPr/>
          </p:nvSpPr>
          <p:spPr>
            <a:xfrm>
              <a:off x="4267106" y="552917"/>
              <a:ext cx="7229138" cy="6228674"/>
            </a:xfrm>
            <a:custGeom>
              <a:avLst/>
              <a:gdLst>
                <a:gd name="csX0" fmla="*/ -1 w 7229138"/>
                <a:gd name="csY0" fmla="*/ 3114376 h 6228674"/>
                <a:gd name="csX1" fmla="*/ 3614568 w 7229138"/>
                <a:gd name="csY1" fmla="*/ 40 h 6228674"/>
                <a:gd name="csX2" fmla="*/ 7229137 w 7229138"/>
                <a:gd name="csY2" fmla="*/ 3114376 h 6228674"/>
                <a:gd name="csX3" fmla="*/ 3614568 w 7229138"/>
                <a:gd name="csY3" fmla="*/ 6228715 h 6228674"/>
                <a:gd name="csX4" fmla="*/ -1 w 7229138"/>
                <a:gd name="csY4" fmla="*/ 3114376 h 62286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229138" h="6228674">
                  <a:moveTo>
                    <a:pt x="-1" y="3114376"/>
                  </a:moveTo>
                  <a:cubicBezTo>
                    <a:pt x="-1" y="1394373"/>
                    <a:pt x="1618301" y="40"/>
                    <a:pt x="3614568" y="40"/>
                  </a:cubicBezTo>
                  <a:cubicBezTo>
                    <a:pt x="5610843" y="40"/>
                    <a:pt x="7229137" y="1394373"/>
                    <a:pt x="7229137" y="3114376"/>
                  </a:cubicBezTo>
                  <a:cubicBezTo>
                    <a:pt x="7229137" y="4834378"/>
                    <a:pt x="5610843" y="6228715"/>
                    <a:pt x="3614568" y="6228715"/>
                  </a:cubicBezTo>
                  <a:cubicBezTo>
                    <a:pt x="1618301" y="6228715"/>
                    <a:pt x="-1" y="4834378"/>
                    <a:pt x="-1" y="3114376"/>
                  </a:cubicBezTo>
                  <a:close/>
                </a:path>
              </a:pathLst>
            </a:custGeom>
            <a:solidFill>
              <a:srgbClr val="4472C4">
                <a:alpha val="15000"/>
              </a:srgbClr>
            </a:solidFill>
            <a:ln w="806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2834690-2282-9A9A-A676-8B35A7AC888B}"/>
                </a:ext>
              </a:extLst>
            </p:cNvPr>
            <p:cNvSpPr/>
            <p:nvPr/>
          </p:nvSpPr>
          <p:spPr>
            <a:xfrm>
              <a:off x="4267106" y="72185"/>
              <a:ext cx="7229139" cy="6228677"/>
            </a:xfrm>
            <a:custGeom>
              <a:avLst/>
              <a:gdLst>
                <a:gd name="csX0" fmla="*/ -1371 w 7229139"/>
                <a:gd name="csY0" fmla="*/ 3112940 h 6228677"/>
                <a:gd name="csX1" fmla="*/ 3613199 w 7229139"/>
                <a:gd name="csY1" fmla="*/ -1399 h 6228677"/>
                <a:gd name="csX2" fmla="*/ 7227768 w 7229139"/>
                <a:gd name="csY2" fmla="*/ 3112940 h 6228677"/>
                <a:gd name="csX3" fmla="*/ 3613199 w 7229139"/>
                <a:gd name="csY3" fmla="*/ 6227279 h 6228677"/>
                <a:gd name="csX4" fmla="*/ -1371 w 7229139"/>
                <a:gd name="csY4" fmla="*/ 3112940 h 62286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229139" h="6228677">
                  <a:moveTo>
                    <a:pt x="-1371" y="3112940"/>
                  </a:moveTo>
                  <a:cubicBezTo>
                    <a:pt x="-1371" y="1392953"/>
                    <a:pt x="1616955" y="-1399"/>
                    <a:pt x="3613199" y="-1399"/>
                  </a:cubicBezTo>
                  <a:cubicBezTo>
                    <a:pt x="5609441" y="-1399"/>
                    <a:pt x="7227768" y="1392953"/>
                    <a:pt x="7227768" y="3112940"/>
                  </a:cubicBezTo>
                  <a:cubicBezTo>
                    <a:pt x="7227768" y="4832927"/>
                    <a:pt x="5609441" y="6227279"/>
                    <a:pt x="3613199" y="6227279"/>
                  </a:cubicBezTo>
                  <a:cubicBezTo>
                    <a:pt x="1616955" y="6227279"/>
                    <a:pt x="-1371" y="4832927"/>
                    <a:pt x="-1371" y="3112940"/>
                  </a:cubicBezTo>
                  <a:close/>
                </a:path>
              </a:pathLst>
            </a:custGeom>
            <a:solidFill>
              <a:srgbClr val="4472C4">
                <a:alpha val="15000"/>
              </a:srgbClr>
            </a:solidFill>
            <a:ln w="806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71" name="Graphic 70" descr="Handshake outline">
              <a:extLst>
                <a:ext uri="{FF2B5EF4-FFF2-40B4-BE49-F238E27FC236}">
                  <a16:creationId xmlns:a16="http://schemas.microsoft.com/office/drawing/2014/main" id="{57D0CE3C-E757-44E0-D226-B6559F6A4E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367075" y="914400"/>
              <a:ext cx="5029200" cy="5029200"/>
            </a:xfrm>
            <a:prstGeom prst="rect">
              <a:avLst/>
            </a:prstGeom>
            <a:effectLst>
              <a:outerShdw blurRad="50800" dist="127000" dir="2700000" algn="tl" rotWithShape="0">
                <a:schemeClr val="accent1">
                  <a:alpha val="40000"/>
                </a:scheme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2916387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2C242-91FF-3183-A946-C3BA3D27B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71EA1A43-1875-A8CC-5892-CACF650673D7}"/>
              </a:ext>
            </a:extLst>
          </p:cNvPr>
          <p:cNvSpPr/>
          <p:nvPr/>
        </p:nvSpPr>
        <p:spPr>
          <a:xfrm>
            <a:off x="4267106" y="552917"/>
            <a:ext cx="7229138" cy="6228674"/>
          </a:xfrm>
          <a:custGeom>
            <a:avLst/>
            <a:gdLst>
              <a:gd name="csX0" fmla="*/ -1 w 7229138"/>
              <a:gd name="csY0" fmla="*/ 3114376 h 6228674"/>
              <a:gd name="csX1" fmla="*/ 3614568 w 7229138"/>
              <a:gd name="csY1" fmla="*/ 40 h 6228674"/>
              <a:gd name="csX2" fmla="*/ 7229137 w 7229138"/>
              <a:gd name="csY2" fmla="*/ 3114376 h 6228674"/>
              <a:gd name="csX3" fmla="*/ 3614568 w 7229138"/>
              <a:gd name="csY3" fmla="*/ 6228715 h 6228674"/>
              <a:gd name="csX4" fmla="*/ -1 w 7229138"/>
              <a:gd name="csY4" fmla="*/ 3114376 h 62286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229138" h="6228674">
                <a:moveTo>
                  <a:pt x="-1" y="3114376"/>
                </a:moveTo>
                <a:cubicBezTo>
                  <a:pt x="-1" y="1394373"/>
                  <a:pt x="1618301" y="40"/>
                  <a:pt x="3614568" y="40"/>
                </a:cubicBezTo>
                <a:cubicBezTo>
                  <a:pt x="5610843" y="40"/>
                  <a:pt x="7229137" y="1394373"/>
                  <a:pt x="7229137" y="3114376"/>
                </a:cubicBezTo>
                <a:cubicBezTo>
                  <a:pt x="7229137" y="4834378"/>
                  <a:pt x="5610843" y="6228715"/>
                  <a:pt x="3614568" y="6228715"/>
                </a:cubicBezTo>
                <a:cubicBezTo>
                  <a:pt x="1618301" y="6228715"/>
                  <a:pt x="-1" y="4834378"/>
                  <a:pt x="-1" y="3114376"/>
                </a:cubicBezTo>
                <a:close/>
              </a:path>
            </a:pathLst>
          </a:custGeom>
          <a:solidFill>
            <a:schemeClr val="accent5">
              <a:lumMod val="50000"/>
              <a:alpha val="15000"/>
            </a:schemeClr>
          </a:solidFill>
          <a:ln w="8067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D9624A8-0D42-F92F-F643-EAA8B2D2EBE8}"/>
              </a:ext>
            </a:extLst>
          </p:cNvPr>
          <p:cNvSpPr/>
          <p:nvPr/>
        </p:nvSpPr>
        <p:spPr>
          <a:xfrm>
            <a:off x="4267106" y="72185"/>
            <a:ext cx="7229139" cy="6228677"/>
          </a:xfrm>
          <a:custGeom>
            <a:avLst/>
            <a:gdLst>
              <a:gd name="csX0" fmla="*/ -1371 w 7229139"/>
              <a:gd name="csY0" fmla="*/ 3112940 h 6228677"/>
              <a:gd name="csX1" fmla="*/ 3613199 w 7229139"/>
              <a:gd name="csY1" fmla="*/ -1399 h 6228677"/>
              <a:gd name="csX2" fmla="*/ 7227768 w 7229139"/>
              <a:gd name="csY2" fmla="*/ 3112940 h 6228677"/>
              <a:gd name="csX3" fmla="*/ 3613199 w 7229139"/>
              <a:gd name="csY3" fmla="*/ 6227279 h 6228677"/>
              <a:gd name="csX4" fmla="*/ -1371 w 7229139"/>
              <a:gd name="csY4" fmla="*/ 3112940 h 62286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229139" h="6228677">
                <a:moveTo>
                  <a:pt x="-1371" y="3112940"/>
                </a:moveTo>
                <a:cubicBezTo>
                  <a:pt x="-1371" y="1392953"/>
                  <a:pt x="1616955" y="-1399"/>
                  <a:pt x="3613199" y="-1399"/>
                </a:cubicBezTo>
                <a:cubicBezTo>
                  <a:pt x="5609441" y="-1399"/>
                  <a:pt x="7227768" y="1392953"/>
                  <a:pt x="7227768" y="3112940"/>
                </a:cubicBezTo>
                <a:cubicBezTo>
                  <a:pt x="7227768" y="4832927"/>
                  <a:pt x="5609441" y="6227279"/>
                  <a:pt x="3613199" y="6227279"/>
                </a:cubicBezTo>
                <a:cubicBezTo>
                  <a:pt x="1616955" y="6227279"/>
                  <a:pt x="-1371" y="4832927"/>
                  <a:pt x="-1371" y="3112940"/>
                </a:cubicBezTo>
                <a:close/>
              </a:path>
            </a:pathLst>
          </a:custGeom>
          <a:solidFill>
            <a:schemeClr val="accent5">
              <a:lumMod val="50000"/>
              <a:alpha val="15000"/>
            </a:schemeClr>
          </a:solidFill>
          <a:ln w="8067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pic>
        <p:nvPicPr>
          <p:cNvPr id="71" name="Graphic 70" descr="Handshake outline">
            <a:extLst>
              <a:ext uri="{FF2B5EF4-FFF2-40B4-BE49-F238E27FC236}">
                <a16:creationId xmlns:a16="http://schemas.microsoft.com/office/drawing/2014/main" id="{AA291953-9BBF-33E0-DF83-D81DD48CB9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67075" y="914400"/>
            <a:ext cx="5029200" cy="5029200"/>
          </a:xfrm>
          <a:prstGeom prst="rect">
            <a:avLst/>
          </a:prstGeom>
          <a:effectLst>
            <a:outerShdw blurRad="50800" dist="127000" dir="2700000" algn="tl" rotWithShape="0">
              <a:schemeClr val="accent1">
                <a:alpha val="4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125912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FFA42-9282-4DA6-2577-574EE4E82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F55316D-705E-69AA-9CE0-A877D1328FA3}"/>
              </a:ext>
            </a:extLst>
          </p:cNvPr>
          <p:cNvGrpSpPr/>
          <p:nvPr/>
        </p:nvGrpSpPr>
        <p:grpSpPr>
          <a:xfrm>
            <a:off x="3597809" y="72185"/>
            <a:ext cx="7229139" cy="6709406"/>
            <a:chOff x="3597809" y="72185"/>
            <a:chExt cx="7229139" cy="6709406"/>
          </a:xfrm>
        </p:grpSpPr>
        <p:sp>
          <p:nvSpPr>
            <p:cNvPr id="2" name="Freeform: Shape 1">
              <a:extLst>
                <a:ext uri="{FF2B5EF4-FFF2-40B4-BE49-F238E27FC236}">
                  <a16:creationId xmlns:a16="http://schemas.microsoft.com/office/drawing/2014/main" id="{51F40FF4-F83E-F952-8E19-144E55CD6A2B}"/>
                </a:ext>
              </a:extLst>
            </p:cNvPr>
            <p:cNvSpPr/>
            <p:nvPr/>
          </p:nvSpPr>
          <p:spPr>
            <a:xfrm>
              <a:off x="3597809" y="552917"/>
              <a:ext cx="7229138" cy="6228674"/>
            </a:xfrm>
            <a:custGeom>
              <a:avLst/>
              <a:gdLst>
                <a:gd name="csX0" fmla="*/ -1 w 7229138"/>
                <a:gd name="csY0" fmla="*/ 3114376 h 6228674"/>
                <a:gd name="csX1" fmla="*/ 3614568 w 7229138"/>
                <a:gd name="csY1" fmla="*/ 40 h 6228674"/>
                <a:gd name="csX2" fmla="*/ 7229137 w 7229138"/>
                <a:gd name="csY2" fmla="*/ 3114376 h 6228674"/>
                <a:gd name="csX3" fmla="*/ 3614568 w 7229138"/>
                <a:gd name="csY3" fmla="*/ 6228715 h 6228674"/>
                <a:gd name="csX4" fmla="*/ -1 w 7229138"/>
                <a:gd name="csY4" fmla="*/ 3114376 h 62286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229138" h="6228674">
                  <a:moveTo>
                    <a:pt x="-1" y="3114376"/>
                  </a:moveTo>
                  <a:cubicBezTo>
                    <a:pt x="-1" y="1394373"/>
                    <a:pt x="1618301" y="40"/>
                    <a:pt x="3614568" y="40"/>
                  </a:cubicBezTo>
                  <a:cubicBezTo>
                    <a:pt x="5610843" y="40"/>
                    <a:pt x="7229137" y="1394373"/>
                    <a:pt x="7229137" y="3114376"/>
                  </a:cubicBezTo>
                  <a:cubicBezTo>
                    <a:pt x="7229137" y="4834378"/>
                    <a:pt x="5610843" y="6228715"/>
                    <a:pt x="3614568" y="6228715"/>
                  </a:cubicBezTo>
                  <a:cubicBezTo>
                    <a:pt x="1618301" y="6228715"/>
                    <a:pt x="-1" y="4834378"/>
                    <a:pt x="-1" y="3114376"/>
                  </a:cubicBezTo>
                  <a:close/>
                </a:path>
              </a:pathLst>
            </a:custGeom>
            <a:solidFill>
              <a:schemeClr val="accent4">
                <a:lumMod val="75000"/>
                <a:alpha val="15000"/>
              </a:schemeClr>
            </a:solidFill>
            <a:ln w="806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07A39B3-8A65-AE3E-5E90-3653E1076ED1}"/>
                </a:ext>
              </a:extLst>
            </p:cNvPr>
            <p:cNvSpPr/>
            <p:nvPr/>
          </p:nvSpPr>
          <p:spPr>
            <a:xfrm>
              <a:off x="3597809" y="72185"/>
              <a:ext cx="7229139" cy="6228677"/>
            </a:xfrm>
            <a:custGeom>
              <a:avLst/>
              <a:gdLst>
                <a:gd name="csX0" fmla="*/ -1371 w 7229139"/>
                <a:gd name="csY0" fmla="*/ 3112940 h 6228677"/>
                <a:gd name="csX1" fmla="*/ 3613199 w 7229139"/>
                <a:gd name="csY1" fmla="*/ -1399 h 6228677"/>
                <a:gd name="csX2" fmla="*/ 7227768 w 7229139"/>
                <a:gd name="csY2" fmla="*/ 3112940 h 6228677"/>
                <a:gd name="csX3" fmla="*/ 3613199 w 7229139"/>
                <a:gd name="csY3" fmla="*/ 6227279 h 6228677"/>
                <a:gd name="csX4" fmla="*/ -1371 w 7229139"/>
                <a:gd name="csY4" fmla="*/ 3112940 h 62286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229139" h="6228677">
                  <a:moveTo>
                    <a:pt x="-1371" y="3112940"/>
                  </a:moveTo>
                  <a:cubicBezTo>
                    <a:pt x="-1371" y="1392953"/>
                    <a:pt x="1616955" y="-1399"/>
                    <a:pt x="3613199" y="-1399"/>
                  </a:cubicBezTo>
                  <a:cubicBezTo>
                    <a:pt x="5609441" y="-1399"/>
                    <a:pt x="7227768" y="1392953"/>
                    <a:pt x="7227768" y="3112940"/>
                  </a:cubicBezTo>
                  <a:cubicBezTo>
                    <a:pt x="7227768" y="4832927"/>
                    <a:pt x="5609441" y="6227279"/>
                    <a:pt x="3613199" y="6227279"/>
                  </a:cubicBezTo>
                  <a:cubicBezTo>
                    <a:pt x="1616955" y="6227279"/>
                    <a:pt x="-1371" y="4832927"/>
                    <a:pt x="-1371" y="3112940"/>
                  </a:cubicBezTo>
                  <a:close/>
                </a:path>
              </a:pathLst>
            </a:custGeom>
            <a:solidFill>
              <a:schemeClr val="accent4">
                <a:lumMod val="75000"/>
                <a:alpha val="15000"/>
              </a:schemeClr>
            </a:solidFill>
            <a:ln w="806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67" name="Graphic 66" descr="Stethoscope outline">
              <a:extLst>
                <a:ext uri="{FF2B5EF4-FFF2-40B4-BE49-F238E27FC236}">
                  <a16:creationId xmlns:a16="http://schemas.microsoft.com/office/drawing/2014/main" id="{6EA04991-097D-7E41-F692-9E399F13CE6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697778" y="914400"/>
              <a:ext cx="5029200" cy="5029200"/>
            </a:xfrm>
            <a:prstGeom prst="rect">
              <a:avLst/>
            </a:prstGeom>
            <a:effectLst>
              <a:outerShdw blurRad="50800" dist="127000" dir="2700000" algn="tl" rotWithShape="0">
                <a:schemeClr val="accent1">
                  <a:alpha val="40000"/>
                </a:scheme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29454812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CDE47-4CA2-8361-0746-39A999A6D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CD4E530-2835-B33B-48B3-2DD41020AB15}"/>
              </a:ext>
            </a:extLst>
          </p:cNvPr>
          <p:cNvGrpSpPr/>
          <p:nvPr/>
        </p:nvGrpSpPr>
        <p:grpSpPr>
          <a:xfrm>
            <a:off x="3003618" y="72185"/>
            <a:ext cx="7229139" cy="6709406"/>
            <a:chOff x="3003618" y="72185"/>
            <a:chExt cx="7229139" cy="6709406"/>
          </a:xfrm>
        </p:grpSpPr>
        <p:sp>
          <p:nvSpPr>
            <p:cNvPr id="2" name="Freeform: Shape 1">
              <a:extLst>
                <a:ext uri="{FF2B5EF4-FFF2-40B4-BE49-F238E27FC236}">
                  <a16:creationId xmlns:a16="http://schemas.microsoft.com/office/drawing/2014/main" id="{DFF9D3BA-18C1-D157-1263-B372D85AB38B}"/>
                </a:ext>
              </a:extLst>
            </p:cNvPr>
            <p:cNvSpPr/>
            <p:nvPr/>
          </p:nvSpPr>
          <p:spPr>
            <a:xfrm>
              <a:off x="3003618" y="552917"/>
              <a:ext cx="7229138" cy="6228674"/>
            </a:xfrm>
            <a:custGeom>
              <a:avLst/>
              <a:gdLst>
                <a:gd name="csX0" fmla="*/ -1 w 7229138"/>
                <a:gd name="csY0" fmla="*/ 3114376 h 6228674"/>
                <a:gd name="csX1" fmla="*/ 3614568 w 7229138"/>
                <a:gd name="csY1" fmla="*/ 40 h 6228674"/>
                <a:gd name="csX2" fmla="*/ 7229137 w 7229138"/>
                <a:gd name="csY2" fmla="*/ 3114376 h 6228674"/>
                <a:gd name="csX3" fmla="*/ 3614568 w 7229138"/>
                <a:gd name="csY3" fmla="*/ 6228715 h 6228674"/>
                <a:gd name="csX4" fmla="*/ -1 w 7229138"/>
                <a:gd name="csY4" fmla="*/ 3114376 h 62286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229138" h="6228674">
                  <a:moveTo>
                    <a:pt x="-1" y="3114376"/>
                  </a:moveTo>
                  <a:cubicBezTo>
                    <a:pt x="-1" y="1394373"/>
                    <a:pt x="1618301" y="40"/>
                    <a:pt x="3614568" y="40"/>
                  </a:cubicBezTo>
                  <a:cubicBezTo>
                    <a:pt x="5610843" y="40"/>
                    <a:pt x="7229137" y="1394373"/>
                    <a:pt x="7229137" y="3114376"/>
                  </a:cubicBezTo>
                  <a:cubicBezTo>
                    <a:pt x="7229137" y="4834378"/>
                    <a:pt x="5610843" y="6228715"/>
                    <a:pt x="3614568" y="6228715"/>
                  </a:cubicBezTo>
                  <a:cubicBezTo>
                    <a:pt x="1618301" y="6228715"/>
                    <a:pt x="-1" y="4834378"/>
                    <a:pt x="-1" y="3114376"/>
                  </a:cubicBezTo>
                  <a:close/>
                </a:path>
              </a:pathLst>
            </a:custGeom>
            <a:solidFill>
              <a:srgbClr val="0B76A0">
                <a:alpha val="14902"/>
              </a:srgbClr>
            </a:solidFill>
            <a:ln w="806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4862C0A-277B-F793-DD3E-9959A6ED6270}"/>
                </a:ext>
              </a:extLst>
            </p:cNvPr>
            <p:cNvSpPr/>
            <p:nvPr/>
          </p:nvSpPr>
          <p:spPr>
            <a:xfrm>
              <a:off x="3003618" y="72185"/>
              <a:ext cx="7229139" cy="6228677"/>
            </a:xfrm>
            <a:custGeom>
              <a:avLst/>
              <a:gdLst>
                <a:gd name="csX0" fmla="*/ -1371 w 7229139"/>
                <a:gd name="csY0" fmla="*/ 3112940 h 6228677"/>
                <a:gd name="csX1" fmla="*/ 3613199 w 7229139"/>
                <a:gd name="csY1" fmla="*/ -1399 h 6228677"/>
                <a:gd name="csX2" fmla="*/ 7227768 w 7229139"/>
                <a:gd name="csY2" fmla="*/ 3112940 h 6228677"/>
                <a:gd name="csX3" fmla="*/ 3613199 w 7229139"/>
                <a:gd name="csY3" fmla="*/ 6227279 h 6228677"/>
                <a:gd name="csX4" fmla="*/ -1371 w 7229139"/>
                <a:gd name="csY4" fmla="*/ 3112940 h 62286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229139" h="6228677">
                  <a:moveTo>
                    <a:pt x="-1371" y="3112940"/>
                  </a:moveTo>
                  <a:cubicBezTo>
                    <a:pt x="-1371" y="1392953"/>
                    <a:pt x="1616955" y="-1399"/>
                    <a:pt x="3613199" y="-1399"/>
                  </a:cubicBezTo>
                  <a:cubicBezTo>
                    <a:pt x="5609441" y="-1399"/>
                    <a:pt x="7227768" y="1392953"/>
                    <a:pt x="7227768" y="3112940"/>
                  </a:cubicBezTo>
                  <a:cubicBezTo>
                    <a:pt x="7227768" y="4832927"/>
                    <a:pt x="5609441" y="6227279"/>
                    <a:pt x="3613199" y="6227279"/>
                  </a:cubicBezTo>
                  <a:cubicBezTo>
                    <a:pt x="1616955" y="6227279"/>
                    <a:pt x="-1371" y="4832927"/>
                    <a:pt x="-1371" y="3112940"/>
                  </a:cubicBezTo>
                  <a:close/>
                </a:path>
              </a:pathLst>
            </a:custGeom>
            <a:solidFill>
              <a:srgbClr val="0B76A0">
                <a:alpha val="14902"/>
              </a:srgbClr>
            </a:solidFill>
            <a:ln w="806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3" name="Graphic 2" descr="Laptop outline">
              <a:extLst>
                <a:ext uri="{FF2B5EF4-FFF2-40B4-BE49-F238E27FC236}">
                  <a16:creationId xmlns:a16="http://schemas.microsoft.com/office/drawing/2014/main" id="{56B83007-E4F3-7986-8482-F3B9F66243C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103587" y="914400"/>
              <a:ext cx="5029200" cy="5029200"/>
            </a:xfrm>
            <a:prstGeom prst="rect">
              <a:avLst/>
            </a:prstGeom>
            <a:effectLst>
              <a:outerShdw blurRad="50800" dist="127000" dir="2700000" algn="tl" rotWithShape="0">
                <a:schemeClr val="accent1">
                  <a:alpha val="40000"/>
                </a:scheme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1858874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21018-B659-B065-40E9-F57744963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5905A975-5EB2-C025-7A49-41E1336E07BB}"/>
              </a:ext>
            </a:extLst>
          </p:cNvPr>
          <p:cNvSpPr/>
          <p:nvPr/>
        </p:nvSpPr>
        <p:spPr>
          <a:xfrm>
            <a:off x="3003618" y="552917"/>
            <a:ext cx="7229138" cy="6228674"/>
          </a:xfrm>
          <a:custGeom>
            <a:avLst/>
            <a:gdLst>
              <a:gd name="csX0" fmla="*/ -1 w 7229138"/>
              <a:gd name="csY0" fmla="*/ 3114376 h 6228674"/>
              <a:gd name="csX1" fmla="*/ 3614568 w 7229138"/>
              <a:gd name="csY1" fmla="*/ 40 h 6228674"/>
              <a:gd name="csX2" fmla="*/ 7229137 w 7229138"/>
              <a:gd name="csY2" fmla="*/ 3114376 h 6228674"/>
              <a:gd name="csX3" fmla="*/ 3614568 w 7229138"/>
              <a:gd name="csY3" fmla="*/ 6228715 h 6228674"/>
              <a:gd name="csX4" fmla="*/ -1 w 7229138"/>
              <a:gd name="csY4" fmla="*/ 3114376 h 62286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229138" h="6228674">
                <a:moveTo>
                  <a:pt x="-1" y="3114376"/>
                </a:moveTo>
                <a:cubicBezTo>
                  <a:pt x="-1" y="1394373"/>
                  <a:pt x="1618301" y="40"/>
                  <a:pt x="3614568" y="40"/>
                </a:cubicBezTo>
                <a:cubicBezTo>
                  <a:pt x="5610843" y="40"/>
                  <a:pt x="7229137" y="1394373"/>
                  <a:pt x="7229137" y="3114376"/>
                </a:cubicBezTo>
                <a:cubicBezTo>
                  <a:pt x="7229137" y="4834378"/>
                  <a:pt x="5610843" y="6228715"/>
                  <a:pt x="3614568" y="6228715"/>
                </a:cubicBezTo>
                <a:cubicBezTo>
                  <a:pt x="1618301" y="6228715"/>
                  <a:pt x="-1" y="4834378"/>
                  <a:pt x="-1" y="3114376"/>
                </a:cubicBezTo>
                <a:close/>
              </a:path>
            </a:pathLst>
          </a:custGeom>
          <a:solidFill>
            <a:srgbClr val="0B76A0">
              <a:alpha val="14902"/>
            </a:srgbClr>
          </a:solidFill>
          <a:ln w="8067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C928923-6417-DB2C-027D-A8F1E1AEDFED}"/>
              </a:ext>
            </a:extLst>
          </p:cNvPr>
          <p:cNvSpPr/>
          <p:nvPr/>
        </p:nvSpPr>
        <p:spPr>
          <a:xfrm>
            <a:off x="3003618" y="72185"/>
            <a:ext cx="7229139" cy="6228677"/>
          </a:xfrm>
          <a:custGeom>
            <a:avLst/>
            <a:gdLst>
              <a:gd name="csX0" fmla="*/ -1371 w 7229139"/>
              <a:gd name="csY0" fmla="*/ 3112940 h 6228677"/>
              <a:gd name="csX1" fmla="*/ 3613199 w 7229139"/>
              <a:gd name="csY1" fmla="*/ -1399 h 6228677"/>
              <a:gd name="csX2" fmla="*/ 7227768 w 7229139"/>
              <a:gd name="csY2" fmla="*/ 3112940 h 6228677"/>
              <a:gd name="csX3" fmla="*/ 3613199 w 7229139"/>
              <a:gd name="csY3" fmla="*/ 6227279 h 6228677"/>
              <a:gd name="csX4" fmla="*/ -1371 w 7229139"/>
              <a:gd name="csY4" fmla="*/ 3112940 h 62286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229139" h="6228677">
                <a:moveTo>
                  <a:pt x="-1371" y="3112940"/>
                </a:moveTo>
                <a:cubicBezTo>
                  <a:pt x="-1371" y="1392953"/>
                  <a:pt x="1616955" y="-1399"/>
                  <a:pt x="3613199" y="-1399"/>
                </a:cubicBezTo>
                <a:cubicBezTo>
                  <a:pt x="5609441" y="-1399"/>
                  <a:pt x="7227768" y="1392953"/>
                  <a:pt x="7227768" y="3112940"/>
                </a:cubicBezTo>
                <a:cubicBezTo>
                  <a:pt x="7227768" y="4832927"/>
                  <a:pt x="5609441" y="6227279"/>
                  <a:pt x="3613199" y="6227279"/>
                </a:cubicBezTo>
                <a:cubicBezTo>
                  <a:pt x="1616955" y="6227279"/>
                  <a:pt x="-1371" y="4832927"/>
                  <a:pt x="-1371" y="3112940"/>
                </a:cubicBezTo>
                <a:close/>
              </a:path>
            </a:pathLst>
          </a:custGeom>
          <a:solidFill>
            <a:srgbClr val="0B76A0">
              <a:alpha val="14902"/>
            </a:srgbClr>
          </a:solidFill>
          <a:ln w="8067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0294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90C70-76D7-E429-3EA0-E9E0BFE99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E279ADC-95B1-3386-9940-9351E12B8167}"/>
              </a:ext>
            </a:extLst>
          </p:cNvPr>
          <p:cNvGrpSpPr/>
          <p:nvPr/>
        </p:nvGrpSpPr>
        <p:grpSpPr>
          <a:xfrm>
            <a:off x="3454144" y="72185"/>
            <a:ext cx="7229139" cy="6709406"/>
            <a:chOff x="3454144" y="72185"/>
            <a:chExt cx="7229139" cy="6709406"/>
          </a:xfrm>
        </p:grpSpPr>
        <p:sp>
          <p:nvSpPr>
            <p:cNvPr id="2" name="Freeform: Shape 1">
              <a:extLst>
                <a:ext uri="{FF2B5EF4-FFF2-40B4-BE49-F238E27FC236}">
                  <a16:creationId xmlns:a16="http://schemas.microsoft.com/office/drawing/2014/main" id="{3A948D04-3A2B-9756-BCBC-29C2FC6D9D90}"/>
                </a:ext>
              </a:extLst>
            </p:cNvPr>
            <p:cNvSpPr/>
            <p:nvPr/>
          </p:nvSpPr>
          <p:spPr>
            <a:xfrm>
              <a:off x="3454144" y="552917"/>
              <a:ext cx="7229138" cy="6228674"/>
            </a:xfrm>
            <a:custGeom>
              <a:avLst/>
              <a:gdLst>
                <a:gd name="csX0" fmla="*/ -1 w 7229138"/>
                <a:gd name="csY0" fmla="*/ 3114376 h 6228674"/>
                <a:gd name="csX1" fmla="*/ 3614568 w 7229138"/>
                <a:gd name="csY1" fmla="*/ 40 h 6228674"/>
                <a:gd name="csX2" fmla="*/ 7229137 w 7229138"/>
                <a:gd name="csY2" fmla="*/ 3114376 h 6228674"/>
                <a:gd name="csX3" fmla="*/ 3614568 w 7229138"/>
                <a:gd name="csY3" fmla="*/ 6228715 h 6228674"/>
                <a:gd name="csX4" fmla="*/ -1 w 7229138"/>
                <a:gd name="csY4" fmla="*/ 3114376 h 62286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229138" h="6228674">
                  <a:moveTo>
                    <a:pt x="-1" y="3114376"/>
                  </a:moveTo>
                  <a:cubicBezTo>
                    <a:pt x="-1" y="1394373"/>
                    <a:pt x="1618301" y="40"/>
                    <a:pt x="3614568" y="40"/>
                  </a:cubicBezTo>
                  <a:cubicBezTo>
                    <a:pt x="5610843" y="40"/>
                    <a:pt x="7229137" y="1394373"/>
                    <a:pt x="7229137" y="3114376"/>
                  </a:cubicBezTo>
                  <a:cubicBezTo>
                    <a:pt x="7229137" y="4834378"/>
                    <a:pt x="5610843" y="6228715"/>
                    <a:pt x="3614568" y="6228715"/>
                  </a:cubicBezTo>
                  <a:cubicBezTo>
                    <a:pt x="1618301" y="6228715"/>
                    <a:pt x="-1" y="4834378"/>
                    <a:pt x="-1" y="3114376"/>
                  </a:cubicBezTo>
                  <a:close/>
                </a:path>
              </a:pathLst>
            </a:custGeom>
            <a:solidFill>
              <a:schemeClr val="tx2">
                <a:lumMod val="90000"/>
                <a:lumOff val="10000"/>
                <a:alpha val="15000"/>
              </a:schemeClr>
            </a:solidFill>
            <a:ln w="806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0F87860-D5FC-A8FB-A301-7F27B34A1406}"/>
                </a:ext>
              </a:extLst>
            </p:cNvPr>
            <p:cNvSpPr/>
            <p:nvPr/>
          </p:nvSpPr>
          <p:spPr>
            <a:xfrm>
              <a:off x="3454144" y="72185"/>
              <a:ext cx="7229139" cy="6228677"/>
            </a:xfrm>
            <a:custGeom>
              <a:avLst/>
              <a:gdLst>
                <a:gd name="csX0" fmla="*/ -1371 w 7229139"/>
                <a:gd name="csY0" fmla="*/ 3112940 h 6228677"/>
                <a:gd name="csX1" fmla="*/ 3613199 w 7229139"/>
                <a:gd name="csY1" fmla="*/ -1399 h 6228677"/>
                <a:gd name="csX2" fmla="*/ 7227768 w 7229139"/>
                <a:gd name="csY2" fmla="*/ 3112940 h 6228677"/>
                <a:gd name="csX3" fmla="*/ 3613199 w 7229139"/>
                <a:gd name="csY3" fmla="*/ 6227279 h 6228677"/>
                <a:gd name="csX4" fmla="*/ -1371 w 7229139"/>
                <a:gd name="csY4" fmla="*/ 3112940 h 62286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229139" h="6228677">
                  <a:moveTo>
                    <a:pt x="-1371" y="3112940"/>
                  </a:moveTo>
                  <a:cubicBezTo>
                    <a:pt x="-1371" y="1392953"/>
                    <a:pt x="1616955" y="-1399"/>
                    <a:pt x="3613199" y="-1399"/>
                  </a:cubicBezTo>
                  <a:cubicBezTo>
                    <a:pt x="5609441" y="-1399"/>
                    <a:pt x="7227768" y="1392953"/>
                    <a:pt x="7227768" y="3112940"/>
                  </a:cubicBezTo>
                  <a:cubicBezTo>
                    <a:pt x="7227768" y="4832927"/>
                    <a:pt x="5609441" y="6227279"/>
                    <a:pt x="3613199" y="6227279"/>
                  </a:cubicBezTo>
                  <a:cubicBezTo>
                    <a:pt x="1616955" y="6227279"/>
                    <a:pt x="-1371" y="4832927"/>
                    <a:pt x="-1371" y="3112940"/>
                  </a:cubicBezTo>
                  <a:close/>
                </a:path>
              </a:pathLst>
            </a:custGeom>
            <a:solidFill>
              <a:schemeClr val="tx2">
                <a:lumMod val="90000"/>
                <a:lumOff val="10000"/>
                <a:alpha val="15000"/>
              </a:schemeClr>
            </a:solidFill>
            <a:ln w="806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61" name="Graphic 60" descr="Office worker male outline">
              <a:extLst>
                <a:ext uri="{FF2B5EF4-FFF2-40B4-BE49-F238E27FC236}">
                  <a16:creationId xmlns:a16="http://schemas.microsoft.com/office/drawing/2014/main" id="{48CF7F63-2986-7652-0E0B-D989D119C24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554113" y="914400"/>
              <a:ext cx="5029200" cy="5029200"/>
            </a:xfrm>
            <a:prstGeom prst="rect">
              <a:avLst/>
            </a:prstGeom>
            <a:effectLst>
              <a:outerShdw blurRad="50800" dist="127000" dir="2700000" algn="tl" rotWithShape="0">
                <a:schemeClr val="accent1">
                  <a:alpha val="40000"/>
                </a:scheme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1489146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FD63F-91C7-C7FD-DB72-4E2F9EA33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BAA93AC-3871-3FE7-5D92-37CB9566D954}"/>
              </a:ext>
            </a:extLst>
          </p:cNvPr>
          <p:cNvGrpSpPr/>
          <p:nvPr/>
        </p:nvGrpSpPr>
        <p:grpSpPr>
          <a:xfrm>
            <a:off x="3003618" y="72185"/>
            <a:ext cx="7229139" cy="6709406"/>
            <a:chOff x="3003618" y="72185"/>
            <a:chExt cx="7229139" cy="6709406"/>
          </a:xfrm>
        </p:grpSpPr>
        <p:sp>
          <p:nvSpPr>
            <p:cNvPr id="2" name="Freeform: Shape 1">
              <a:extLst>
                <a:ext uri="{FF2B5EF4-FFF2-40B4-BE49-F238E27FC236}">
                  <a16:creationId xmlns:a16="http://schemas.microsoft.com/office/drawing/2014/main" id="{ADEBF27F-853E-B371-B145-2489D3A743D9}"/>
                </a:ext>
              </a:extLst>
            </p:cNvPr>
            <p:cNvSpPr/>
            <p:nvPr/>
          </p:nvSpPr>
          <p:spPr>
            <a:xfrm>
              <a:off x="3003618" y="552917"/>
              <a:ext cx="7229138" cy="6228674"/>
            </a:xfrm>
            <a:custGeom>
              <a:avLst/>
              <a:gdLst>
                <a:gd name="csX0" fmla="*/ -1 w 7229138"/>
                <a:gd name="csY0" fmla="*/ 3114376 h 6228674"/>
                <a:gd name="csX1" fmla="*/ 3614568 w 7229138"/>
                <a:gd name="csY1" fmla="*/ 40 h 6228674"/>
                <a:gd name="csX2" fmla="*/ 7229137 w 7229138"/>
                <a:gd name="csY2" fmla="*/ 3114376 h 6228674"/>
                <a:gd name="csX3" fmla="*/ 3614568 w 7229138"/>
                <a:gd name="csY3" fmla="*/ 6228715 h 6228674"/>
                <a:gd name="csX4" fmla="*/ -1 w 7229138"/>
                <a:gd name="csY4" fmla="*/ 3114376 h 62286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229138" h="6228674">
                  <a:moveTo>
                    <a:pt x="-1" y="3114376"/>
                  </a:moveTo>
                  <a:cubicBezTo>
                    <a:pt x="-1" y="1394373"/>
                    <a:pt x="1618301" y="40"/>
                    <a:pt x="3614568" y="40"/>
                  </a:cubicBezTo>
                  <a:cubicBezTo>
                    <a:pt x="5610843" y="40"/>
                    <a:pt x="7229137" y="1394373"/>
                    <a:pt x="7229137" y="3114376"/>
                  </a:cubicBezTo>
                  <a:cubicBezTo>
                    <a:pt x="7229137" y="4834378"/>
                    <a:pt x="5610843" y="6228715"/>
                    <a:pt x="3614568" y="6228715"/>
                  </a:cubicBezTo>
                  <a:cubicBezTo>
                    <a:pt x="1618301" y="6228715"/>
                    <a:pt x="-1" y="4834378"/>
                    <a:pt x="-1" y="3114376"/>
                  </a:cubicBezTo>
                  <a:close/>
                </a:path>
              </a:pathLst>
            </a:custGeom>
            <a:solidFill>
              <a:schemeClr val="tx2">
                <a:lumMod val="90000"/>
                <a:lumOff val="10000"/>
                <a:alpha val="15000"/>
              </a:schemeClr>
            </a:solidFill>
            <a:ln w="806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2285654-2121-B1CE-2483-6783EF5993BF}"/>
                </a:ext>
              </a:extLst>
            </p:cNvPr>
            <p:cNvSpPr/>
            <p:nvPr/>
          </p:nvSpPr>
          <p:spPr>
            <a:xfrm>
              <a:off x="3003618" y="72185"/>
              <a:ext cx="7229139" cy="6228677"/>
            </a:xfrm>
            <a:custGeom>
              <a:avLst/>
              <a:gdLst>
                <a:gd name="csX0" fmla="*/ -1371 w 7229139"/>
                <a:gd name="csY0" fmla="*/ 3112940 h 6228677"/>
                <a:gd name="csX1" fmla="*/ 3613199 w 7229139"/>
                <a:gd name="csY1" fmla="*/ -1399 h 6228677"/>
                <a:gd name="csX2" fmla="*/ 7227768 w 7229139"/>
                <a:gd name="csY2" fmla="*/ 3112940 h 6228677"/>
                <a:gd name="csX3" fmla="*/ 3613199 w 7229139"/>
                <a:gd name="csY3" fmla="*/ 6227279 h 6228677"/>
                <a:gd name="csX4" fmla="*/ -1371 w 7229139"/>
                <a:gd name="csY4" fmla="*/ 3112940 h 62286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229139" h="6228677">
                  <a:moveTo>
                    <a:pt x="-1371" y="3112940"/>
                  </a:moveTo>
                  <a:cubicBezTo>
                    <a:pt x="-1371" y="1392953"/>
                    <a:pt x="1616955" y="-1399"/>
                    <a:pt x="3613199" y="-1399"/>
                  </a:cubicBezTo>
                  <a:cubicBezTo>
                    <a:pt x="5609441" y="-1399"/>
                    <a:pt x="7227768" y="1392953"/>
                    <a:pt x="7227768" y="3112940"/>
                  </a:cubicBezTo>
                  <a:cubicBezTo>
                    <a:pt x="7227768" y="4832927"/>
                    <a:pt x="5609441" y="6227279"/>
                    <a:pt x="3613199" y="6227279"/>
                  </a:cubicBezTo>
                  <a:cubicBezTo>
                    <a:pt x="1616955" y="6227279"/>
                    <a:pt x="-1371" y="4832927"/>
                    <a:pt x="-1371" y="3112940"/>
                  </a:cubicBezTo>
                  <a:close/>
                </a:path>
              </a:pathLst>
            </a:custGeom>
            <a:solidFill>
              <a:schemeClr val="tx2">
                <a:lumMod val="90000"/>
                <a:lumOff val="10000"/>
                <a:alpha val="15000"/>
              </a:schemeClr>
            </a:solidFill>
            <a:ln w="8067" cap="flat">
              <a:noFill/>
              <a:prstDash val="solid"/>
              <a:miter/>
            </a:ln>
          </p:spPr>
          <p:txBody>
            <a:bodyPr/>
            <a:lstStyle/>
            <a:p>
              <a:endParaRPr lang="en-US" dirty="0"/>
            </a:p>
          </p:txBody>
        </p:sp>
        <p:pic>
          <p:nvPicPr>
            <p:cNvPr id="47" name="Graphic 46" descr="Programmer female outline">
              <a:extLst>
                <a:ext uri="{FF2B5EF4-FFF2-40B4-BE49-F238E27FC236}">
                  <a16:creationId xmlns:a16="http://schemas.microsoft.com/office/drawing/2014/main" id="{76B28A2C-BB8C-B057-8212-441C2B77F3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103587" y="914400"/>
              <a:ext cx="5029200" cy="5029200"/>
            </a:xfrm>
            <a:prstGeom prst="rect">
              <a:avLst/>
            </a:prstGeom>
            <a:effectLst>
              <a:outerShdw blurRad="50800" dist="127000" dir="2700000" algn="tl" rotWithShape="0">
                <a:schemeClr val="accent1">
                  <a:alpha val="40000"/>
                </a:scheme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41542523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4BDFC-DD43-4A15-3813-133CAC8A4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732B82B6-2343-B207-4DC3-BEDF7B709C8D}"/>
              </a:ext>
            </a:extLst>
          </p:cNvPr>
          <p:cNvSpPr/>
          <p:nvPr/>
        </p:nvSpPr>
        <p:spPr>
          <a:xfrm>
            <a:off x="3003618" y="552917"/>
            <a:ext cx="7229138" cy="6228674"/>
          </a:xfrm>
          <a:custGeom>
            <a:avLst/>
            <a:gdLst>
              <a:gd name="csX0" fmla="*/ -1 w 7229138"/>
              <a:gd name="csY0" fmla="*/ 3114376 h 6228674"/>
              <a:gd name="csX1" fmla="*/ 3614568 w 7229138"/>
              <a:gd name="csY1" fmla="*/ 40 h 6228674"/>
              <a:gd name="csX2" fmla="*/ 7229137 w 7229138"/>
              <a:gd name="csY2" fmla="*/ 3114376 h 6228674"/>
              <a:gd name="csX3" fmla="*/ 3614568 w 7229138"/>
              <a:gd name="csY3" fmla="*/ 6228715 h 6228674"/>
              <a:gd name="csX4" fmla="*/ -1 w 7229138"/>
              <a:gd name="csY4" fmla="*/ 3114376 h 62286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229138" h="6228674">
                <a:moveTo>
                  <a:pt x="-1" y="3114376"/>
                </a:moveTo>
                <a:cubicBezTo>
                  <a:pt x="-1" y="1394373"/>
                  <a:pt x="1618301" y="40"/>
                  <a:pt x="3614568" y="40"/>
                </a:cubicBezTo>
                <a:cubicBezTo>
                  <a:pt x="5610843" y="40"/>
                  <a:pt x="7229137" y="1394373"/>
                  <a:pt x="7229137" y="3114376"/>
                </a:cubicBezTo>
                <a:cubicBezTo>
                  <a:pt x="7229137" y="4834378"/>
                  <a:pt x="5610843" y="6228715"/>
                  <a:pt x="3614568" y="6228715"/>
                </a:cubicBezTo>
                <a:cubicBezTo>
                  <a:pt x="1618301" y="6228715"/>
                  <a:pt x="-1" y="4834378"/>
                  <a:pt x="-1" y="3114376"/>
                </a:cubicBezTo>
                <a:close/>
              </a:path>
            </a:pathLst>
          </a:custGeom>
          <a:solidFill>
            <a:schemeClr val="tx2">
              <a:lumMod val="90000"/>
              <a:lumOff val="10000"/>
              <a:alpha val="15000"/>
            </a:schemeClr>
          </a:solidFill>
          <a:ln w="8067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2D1C603-BB36-DC62-D744-27D2A9D5C8FD}"/>
              </a:ext>
            </a:extLst>
          </p:cNvPr>
          <p:cNvSpPr/>
          <p:nvPr/>
        </p:nvSpPr>
        <p:spPr>
          <a:xfrm>
            <a:off x="3003618" y="72185"/>
            <a:ext cx="7229139" cy="6228677"/>
          </a:xfrm>
          <a:custGeom>
            <a:avLst/>
            <a:gdLst>
              <a:gd name="csX0" fmla="*/ -1371 w 7229139"/>
              <a:gd name="csY0" fmla="*/ 3112940 h 6228677"/>
              <a:gd name="csX1" fmla="*/ 3613199 w 7229139"/>
              <a:gd name="csY1" fmla="*/ -1399 h 6228677"/>
              <a:gd name="csX2" fmla="*/ 7227768 w 7229139"/>
              <a:gd name="csY2" fmla="*/ 3112940 h 6228677"/>
              <a:gd name="csX3" fmla="*/ 3613199 w 7229139"/>
              <a:gd name="csY3" fmla="*/ 6227279 h 6228677"/>
              <a:gd name="csX4" fmla="*/ -1371 w 7229139"/>
              <a:gd name="csY4" fmla="*/ 3112940 h 62286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229139" h="6228677">
                <a:moveTo>
                  <a:pt x="-1371" y="3112940"/>
                </a:moveTo>
                <a:cubicBezTo>
                  <a:pt x="-1371" y="1392953"/>
                  <a:pt x="1616955" y="-1399"/>
                  <a:pt x="3613199" y="-1399"/>
                </a:cubicBezTo>
                <a:cubicBezTo>
                  <a:pt x="5609441" y="-1399"/>
                  <a:pt x="7227768" y="1392953"/>
                  <a:pt x="7227768" y="3112940"/>
                </a:cubicBezTo>
                <a:cubicBezTo>
                  <a:pt x="7227768" y="4832927"/>
                  <a:pt x="5609441" y="6227279"/>
                  <a:pt x="3613199" y="6227279"/>
                </a:cubicBezTo>
                <a:cubicBezTo>
                  <a:pt x="1616955" y="6227279"/>
                  <a:pt x="-1371" y="4832927"/>
                  <a:pt x="-1371" y="3112940"/>
                </a:cubicBezTo>
                <a:close/>
              </a:path>
            </a:pathLst>
          </a:custGeom>
          <a:solidFill>
            <a:schemeClr val="tx2">
              <a:lumMod val="90000"/>
              <a:lumOff val="10000"/>
              <a:alpha val="15000"/>
            </a:schemeClr>
          </a:solidFill>
          <a:ln w="8067" cap="flat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3396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6D66A-D7AF-B1CC-9BA4-D6A1977AB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4F56C558-0847-DE8B-A039-5ABDE8E9AF28}"/>
              </a:ext>
            </a:extLst>
          </p:cNvPr>
          <p:cNvSpPr/>
          <p:nvPr/>
        </p:nvSpPr>
        <p:spPr>
          <a:xfrm>
            <a:off x="5879169" y="552917"/>
            <a:ext cx="7229138" cy="6228674"/>
          </a:xfrm>
          <a:custGeom>
            <a:avLst/>
            <a:gdLst>
              <a:gd name="csX0" fmla="*/ -1 w 7229138"/>
              <a:gd name="csY0" fmla="*/ 3114376 h 6228674"/>
              <a:gd name="csX1" fmla="*/ 3614568 w 7229138"/>
              <a:gd name="csY1" fmla="*/ 40 h 6228674"/>
              <a:gd name="csX2" fmla="*/ 7229137 w 7229138"/>
              <a:gd name="csY2" fmla="*/ 3114376 h 6228674"/>
              <a:gd name="csX3" fmla="*/ 3614568 w 7229138"/>
              <a:gd name="csY3" fmla="*/ 6228715 h 6228674"/>
              <a:gd name="csX4" fmla="*/ -1 w 7229138"/>
              <a:gd name="csY4" fmla="*/ 3114376 h 62286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229138" h="6228674">
                <a:moveTo>
                  <a:pt x="-1" y="3114376"/>
                </a:moveTo>
                <a:cubicBezTo>
                  <a:pt x="-1" y="1394373"/>
                  <a:pt x="1618301" y="40"/>
                  <a:pt x="3614568" y="40"/>
                </a:cubicBezTo>
                <a:cubicBezTo>
                  <a:pt x="5610843" y="40"/>
                  <a:pt x="7229137" y="1394373"/>
                  <a:pt x="7229137" y="3114376"/>
                </a:cubicBezTo>
                <a:cubicBezTo>
                  <a:pt x="7229137" y="4834378"/>
                  <a:pt x="5610843" y="6228715"/>
                  <a:pt x="3614568" y="6228715"/>
                </a:cubicBezTo>
                <a:cubicBezTo>
                  <a:pt x="1618301" y="6228715"/>
                  <a:pt x="-1" y="4834378"/>
                  <a:pt x="-1" y="3114376"/>
                </a:cubicBezTo>
                <a:close/>
              </a:path>
            </a:pathLst>
          </a:custGeom>
          <a:solidFill>
            <a:srgbClr val="4472C4">
              <a:alpha val="15000"/>
            </a:srgbClr>
          </a:solidFill>
          <a:ln w="8067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2E11DD7-B020-DEE0-6B57-64F6EC35E0C3}"/>
              </a:ext>
            </a:extLst>
          </p:cNvPr>
          <p:cNvSpPr/>
          <p:nvPr/>
        </p:nvSpPr>
        <p:spPr>
          <a:xfrm>
            <a:off x="128068" y="72185"/>
            <a:ext cx="7229139" cy="6228677"/>
          </a:xfrm>
          <a:custGeom>
            <a:avLst/>
            <a:gdLst>
              <a:gd name="csX0" fmla="*/ -1371 w 7229139"/>
              <a:gd name="csY0" fmla="*/ 3112940 h 6228677"/>
              <a:gd name="csX1" fmla="*/ 3613199 w 7229139"/>
              <a:gd name="csY1" fmla="*/ -1399 h 6228677"/>
              <a:gd name="csX2" fmla="*/ 7227768 w 7229139"/>
              <a:gd name="csY2" fmla="*/ 3112940 h 6228677"/>
              <a:gd name="csX3" fmla="*/ 3613199 w 7229139"/>
              <a:gd name="csY3" fmla="*/ 6227279 h 6228677"/>
              <a:gd name="csX4" fmla="*/ -1371 w 7229139"/>
              <a:gd name="csY4" fmla="*/ 3112940 h 62286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229139" h="6228677">
                <a:moveTo>
                  <a:pt x="-1371" y="3112940"/>
                </a:moveTo>
                <a:cubicBezTo>
                  <a:pt x="-1371" y="1392953"/>
                  <a:pt x="1616955" y="-1399"/>
                  <a:pt x="3613199" y="-1399"/>
                </a:cubicBezTo>
                <a:cubicBezTo>
                  <a:pt x="5609441" y="-1399"/>
                  <a:pt x="7227768" y="1392953"/>
                  <a:pt x="7227768" y="3112940"/>
                </a:cubicBezTo>
                <a:cubicBezTo>
                  <a:pt x="7227768" y="4832927"/>
                  <a:pt x="5609441" y="6227279"/>
                  <a:pt x="3613199" y="6227279"/>
                </a:cubicBezTo>
                <a:cubicBezTo>
                  <a:pt x="1616955" y="6227279"/>
                  <a:pt x="-1371" y="4832927"/>
                  <a:pt x="-1371" y="3112940"/>
                </a:cubicBezTo>
                <a:close/>
              </a:path>
            </a:pathLst>
          </a:custGeom>
          <a:solidFill>
            <a:srgbClr val="4472C4">
              <a:alpha val="15000"/>
            </a:srgbClr>
          </a:solidFill>
          <a:ln w="8067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0785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6A604B6-864E-1810-6AC0-27E957569A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8511130"/>
              </p:ext>
            </p:extLst>
          </p:nvPr>
        </p:nvGraphicFramePr>
        <p:xfrm>
          <a:off x="493296" y="577514"/>
          <a:ext cx="10860504" cy="5069700"/>
        </p:xfrm>
        <a:graphic>
          <a:graphicData uri="http://schemas.openxmlformats.org/drawingml/2006/table">
            <a:tbl>
              <a:tblPr/>
              <a:tblGrid>
                <a:gridCol w="3620168">
                  <a:extLst>
                    <a:ext uri="{9D8B030D-6E8A-4147-A177-3AD203B41FA5}">
                      <a16:colId xmlns:a16="http://schemas.microsoft.com/office/drawing/2014/main" val="3192037608"/>
                    </a:ext>
                  </a:extLst>
                </a:gridCol>
                <a:gridCol w="3620168">
                  <a:extLst>
                    <a:ext uri="{9D8B030D-6E8A-4147-A177-3AD203B41FA5}">
                      <a16:colId xmlns:a16="http://schemas.microsoft.com/office/drawing/2014/main" val="1244275772"/>
                    </a:ext>
                  </a:extLst>
                </a:gridCol>
                <a:gridCol w="3620168">
                  <a:extLst>
                    <a:ext uri="{9D8B030D-6E8A-4147-A177-3AD203B41FA5}">
                      <a16:colId xmlns:a16="http://schemas.microsoft.com/office/drawing/2014/main" val="1218636775"/>
                    </a:ext>
                  </a:extLst>
                </a:gridCol>
              </a:tblGrid>
              <a:tr h="5633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Google Sans Text"/>
                        </a:rPr>
                        <a:t>Step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Google Sans Text"/>
                        </a:rPr>
                        <a:t>Action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Google Sans Text"/>
                        </a:rPr>
                        <a:t>Result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0671063"/>
                  </a:ext>
                </a:extLst>
              </a:tr>
              <a:tr h="5633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Google Sans Text"/>
                        </a:rPr>
                        <a:t>Login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Google Sans Text"/>
                        </a:rPr>
                        <a:t>Razor Page generates minimal JWT.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Google Sans Text"/>
                        </a:rPr>
                        <a:t>Small Cookie (~500 bytes).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538428"/>
                  </a:ext>
                </a:extLst>
              </a:tr>
              <a:tr h="985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Google Sans Text"/>
                        </a:rPr>
                        <a:t>Request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>
                          <a:effectLst/>
                          <a:latin typeface="Google Sans Text"/>
                        </a:rPr>
                        <a:t>SPA calls API; Browser sends Cookie.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Google Sans Text"/>
                        </a:rPr>
                        <a:t>Network traffic remains light.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7342452"/>
                  </a:ext>
                </a:extLst>
              </a:tr>
              <a:tr h="985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Google Sans Text"/>
                        </a:rPr>
                        <a:t>Auth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Google Sans Text"/>
                        </a:rPr>
                        <a:t>Middleware validates JWT Signature.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>
                          <a:effectLst/>
                          <a:latin typeface="Google Sans Text"/>
                        </a:rPr>
                        <a:t>Identity is verified (but has no roles).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7351993"/>
                  </a:ext>
                </a:extLst>
              </a:tr>
              <a:tr h="985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Google Sans Text"/>
                        </a:rPr>
                        <a:t>Hydrate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Google Sans Text"/>
                        </a:rPr>
                        <a:t>TenantPermissionTransformer runs.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>
                          <a:effectLst/>
                          <a:latin typeface="Google Sans Text"/>
                        </a:rPr>
                        <a:t>Identity now has full roles from RAM/Cache.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9335751"/>
                  </a:ext>
                </a:extLst>
              </a:tr>
              <a:tr h="985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Google Sans Text"/>
                        </a:rPr>
                        <a:t>Action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>
                          <a:effectLst/>
                          <a:latin typeface="Google Sans Text"/>
                        </a:rPr>
                        <a:t>[Authorize(Roles="Admin")] checks work.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dirty="0">
                          <a:effectLst/>
                          <a:latin typeface="Google Sans Text"/>
                        </a:rPr>
                        <a:t>High performance, zero DB hits (after first load).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4563525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864D2BCA-9A93-7095-D07E-91BE6131E0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310" y="117342"/>
            <a:ext cx="746643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Summary of the Flow</a:t>
            </a:r>
          </a:p>
        </p:txBody>
      </p:sp>
    </p:spTree>
    <p:extLst>
      <p:ext uri="{BB962C8B-B14F-4D97-AF65-F5344CB8AC3E}">
        <p14:creationId xmlns:p14="http://schemas.microsoft.com/office/powerpoint/2010/main" val="40165141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AECD7E4-ABA8-87DA-53DA-22139D7B232B}"/>
              </a:ext>
            </a:extLst>
          </p:cNvPr>
          <p:cNvSpPr/>
          <p:nvPr/>
        </p:nvSpPr>
        <p:spPr>
          <a:xfrm>
            <a:off x="8229600" y="1816761"/>
            <a:ext cx="2947737" cy="77160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Auth Api</a:t>
            </a:r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D4DAE5B-B2F5-1024-911B-46E515755CB8}"/>
              </a:ext>
            </a:extLst>
          </p:cNvPr>
          <p:cNvSpPr/>
          <p:nvPr/>
        </p:nvSpPr>
        <p:spPr>
          <a:xfrm>
            <a:off x="212555" y="665368"/>
            <a:ext cx="2947737" cy="78205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Razor Page</a:t>
            </a:r>
          </a:p>
          <a:p>
            <a:pPr algn="ctr"/>
            <a:r>
              <a:rPr lang="en-AU" dirty="0" err="1"/>
              <a:t>Identity.Web</a:t>
            </a:r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F1E5331-6B3B-19F4-AF2B-41FBF73BF830}"/>
              </a:ext>
            </a:extLst>
          </p:cNvPr>
          <p:cNvSpPr/>
          <p:nvPr/>
        </p:nvSpPr>
        <p:spPr>
          <a:xfrm>
            <a:off x="212554" y="5169567"/>
            <a:ext cx="2947737" cy="7716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SPA</a:t>
            </a:r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8DC1DAB-57B3-B86C-179E-71626A50A062}"/>
              </a:ext>
            </a:extLst>
          </p:cNvPr>
          <p:cNvSpPr/>
          <p:nvPr/>
        </p:nvSpPr>
        <p:spPr>
          <a:xfrm>
            <a:off x="9192130" y="5177975"/>
            <a:ext cx="2947737" cy="77160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Stores Api</a:t>
            </a:r>
            <a:endParaRPr lang="en-US" dirty="0"/>
          </a:p>
        </p:txBody>
      </p:sp>
      <p:sp>
        <p:nvSpPr>
          <p:cNvPr id="6" name="Cylinder 5">
            <a:extLst>
              <a:ext uri="{FF2B5EF4-FFF2-40B4-BE49-F238E27FC236}">
                <a16:creationId xmlns:a16="http://schemas.microsoft.com/office/drawing/2014/main" id="{59BB86B9-297F-5EA8-2F16-28830FD20E3E}"/>
              </a:ext>
            </a:extLst>
          </p:cNvPr>
          <p:cNvSpPr/>
          <p:nvPr/>
        </p:nvSpPr>
        <p:spPr>
          <a:xfrm>
            <a:off x="9231230" y="547787"/>
            <a:ext cx="2418347" cy="1017215"/>
          </a:xfrm>
          <a:prstGeom prst="can">
            <a:avLst>
              <a:gd name="adj" fmla="val 1962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 err="1"/>
              <a:t>BestFit</a:t>
            </a:r>
            <a:endParaRPr lang="en-AU" dirty="0"/>
          </a:p>
          <a:p>
            <a:pPr algn="ctr"/>
            <a:r>
              <a:rPr lang="en-AU" dirty="0" err="1"/>
              <a:t>ASP.NetUsers</a:t>
            </a:r>
            <a:endParaRPr lang="en-US" dirty="0"/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303A1308-A8F8-C4B2-CBCB-82A8268A34EB}"/>
              </a:ext>
            </a:extLst>
          </p:cNvPr>
          <p:cNvCxnSpPr>
            <a:cxnSpLocks/>
            <a:stCxn id="6" idx="2"/>
            <a:endCxn id="3" idx="3"/>
          </p:cNvCxnSpPr>
          <p:nvPr/>
        </p:nvCxnSpPr>
        <p:spPr>
          <a:xfrm rot="10800000">
            <a:off x="3160292" y="1056395"/>
            <a:ext cx="6070938" cy="127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D777D17A-F0D2-703D-2B06-59573D3E810A}"/>
              </a:ext>
            </a:extLst>
          </p:cNvPr>
          <p:cNvCxnSpPr>
            <a:cxnSpLocks/>
            <a:stCxn id="3" idx="0"/>
            <a:endCxn id="6" idx="1"/>
          </p:cNvCxnSpPr>
          <p:nvPr/>
        </p:nvCxnSpPr>
        <p:spPr>
          <a:xfrm rot="5400000" flipH="1" flipV="1">
            <a:off x="6004624" y="-3770412"/>
            <a:ext cx="117581" cy="8753980"/>
          </a:xfrm>
          <a:prstGeom prst="bentConnector3">
            <a:avLst>
              <a:gd name="adj1" fmla="val 29441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2FD12D8-D9E3-7DE8-F053-0EFE15826489}"/>
              </a:ext>
            </a:extLst>
          </p:cNvPr>
          <p:cNvSpPr txBox="1"/>
          <p:nvPr/>
        </p:nvSpPr>
        <p:spPr>
          <a:xfrm>
            <a:off x="3910262" y="-5"/>
            <a:ext cx="57932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1- </a:t>
            </a:r>
            <a:r>
              <a:rPr lang="en-AU" sz="1600" dirty="0" err="1"/>
              <a:t>AspNetUser</a:t>
            </a:r>
            <a:r>
              <a:rPr lang="en-AU" sz="1600" dirty="0"/>
              <a:t>  Login (create login in </a:t>
            </a:r>
            <a:r>
              <a:rPr lang="en-AU" sz="1600" dirty="0" err="1"/>
              <a:t>bestfit</a:t>
            </a:r>
            <a:r>
              <a:rPr lang="en-AU" sz="1600" dirty="0"/>
              <a:t> database)</a:t>
            </a:r>
            <a:br>
              <a:rPr lang="en-AU" sz="1600" dirty="0"/>
            </a:br>
            <a:r>
              <a:rPr lang="en-AU" sz="1600" dirty="0"/>
              <a:t>This login is to be linked later to a user in the tenant database</a:t>
            </a:r>
            <a:endParaRPr lang="en-US" sz="1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8AADFA4-829F-B1D5-C1D9-21D29D0A92B0}"/>
              </a:ext>
            </a:extLst>
          </p:cNvPr>
          <p:cNvSpPr txBox="1"/>
          <p:nvPr/>
        </p:nvSpPr>
        <p:spPr>
          <a:xfrm>
            <a:off x="1686422" y="2318455"/>
            <a:ext cx="64469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4- </a:t>
            </a:r>
            <a:r>
              <a:rPr lang="en-AU" sz="1600" dirty="0" err="1"/>
              <a:t>AspNetUserId-TenantId-AuthUserId</a:t>
            </a:r>
            <a:r>
              <a:rPr lang="en-AU" sz="1600" dirty="0"/>
              <a:t>  </a:t>
            </a:r>
            <a:r>
              <a:rPr lang="en-AU" sz="1600" dirty="0" err="1"/>
              <a:t>accessToken</a:t>
            </a:r>
            <a:endParaRPr lang="en-AU" sz="1600" dirty="0"/>
          </a:p>
          <a:p>
            <a:r>
              <a:rPr lang="en-AU" sz="1600" dirty="0"/>
              <a:t>5- </a:t>
            </a:r>
            <a:r>
              <a:rPr lang="en-AU" sz="1600" dirty="0" err="1"/>
              <a:t>JwtToken</a:t>
            </a:r>
            <a:r>
              <a:rPr lang="en-AU" sz="1600" dirty="0"/>
              <a:t>: </a:t>
            </a:r>
            <a:r>
              <a:rPr lang="en-AU" sz="1600" dirty="0" err="1"/>
              <a:t>AuthUserId</a:t>
            </a:r>
            <a:r>
              <a:rPr lang="en-AU" sz="1600" dirty="0"/>
              <a:t>, </a:t>
            </a:r>
            <a:r>
              <a:rPr lang="en-AU" sz="1600" dirty="0" err="1"/>
              <a:t>RoleIds</a:t>
            </a:r>
            <a:r>
              <a:rPr lang="en-AU" sz="1600" dirty="0"/>
              <a:t>, </a:t>
            </a:r>
            <a:r>
              <a:rPr lang="en-AU" sz="1600" dirty="0" err="1"/>
              <a:t>appIds</a:t>
            </a:r>
            <a:r>
              <a:rPr lang="en-AU" sz="1600" dirty="0"/>
              <a:t>, methods.</a:t>
            </a:r>
          </a:p>
          <a:p>
            <a:r>
              <a:rPr lang="en-AU" sz="1600" dirty="0"/>
              <a:t> - Same </a:t>
            </a:r>
            <a:r>
              <a:rPr lang="en-AU" sz="1600" dirty="0" err="1"/>
              <a:t>accessToken</a:t>
            </a:r>
            <a:r>
              <a:rPr lang="en-AU" sz="1600" dirty="0"/>
              <a:t> but </a:t>
            </a:r>
            <a:r>
              <a:rPr lang="en-AU" sz="1600" dirty="0" err="1"/>
              <a:t>HttpOnly</a:t>
            </a:r>
            <a:r>
              <a:rPr lang="en-AU" sz="1600" dirty="0"/>
              <a:t> as refresh token with more lifetime</a:t>
            </a:r>
            <a:endParaRPr lang="en-US" sz="1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F1672D9-B5D7-0A5F-FE6E-9857DFEA5471}"/>
              </a:ext>
            </a:extLst>
          </p:cNvPr>
          <p:cNvSpPr txBox="1"/>
          <p:nvPr/>
        </p:nvSpPr>
        <p:spPr>
          <a:xfrm>
            <a:off x="3008633" y="1803183"/>
            <a:ext cx="29556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1600" dirty="0"/>
              <a:t>3- </a:t>
            </a:r>
            <a:r>
              <a:rPr lang="en-AU" sz="1600" dirty="0" err="1"/>
              <a:t>ASPNetUser</a:t>
            </a:r>
            <a:r>
              <a:rPr lang="en-AU" sz="1600" dirty="0"/>
              <a:t> Selects a tenant</a:t>
            </a:r>
            <a:endParaRPr lang="en-US" sz="1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3C152B0-7EF7-2B3B-76DF-F690849E5C2A}"/>
              </a:ext>
            </a:extLst>
          </p:cNvPr>
          <p:cNvSpPr txBox="1"/>
          <p:nvPr/>
        </p:nvSpPr>
        <p:spPr>
          <a:xfrm>
            <a:off x="4241487" y="1053280"/>
            <a:ext cx="35886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1600" dirty="0"/>
              <a:t>2- </a:t>
            </a:r>
            <a:r>
              <a:rPr lang="en-AU" sz="1600" dirty="0" err="1"/>
              <a:t>AspNetUser</a:t>
            </a:r>
            <a:r>
              <a:rPr lang="en-AU" sz="1600" dirty="0"/>
              <a:t> claims carry its Tenants</a:t>
            </a:r>
          </a:p>
          <a:p>
            <a:pPr algn="ctr"/>
            <a:r>
              <a:rPr lang="en-AU" sz="1600" dirty="0"/>
              <a:t>(That is done be the link operation)</a:t>
            </a:r>
            <a:endParaRPr lang="en-US" sz="1600" dirty="0"/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91E0D081-2871-2E34-1EFB-2B4F1715745C}"/>
              </a:ext>
            </a:extLst>
          </p:cNvPr>
          <p:cNvCxnSpPr>
            <a:cxnSpLocks/>
            <a:stCxn id="3" idx="2"/>
            <a:endCxn id="2" idx="1"/>
          </p:cNvCxnSpPr>
          <p:nvPr/>
        </p:nvCxnSpPr>
        <p:spPr>
          <a:xfrm rot="16200000" flipH="1">
            <a:off x="4580441" y="-1446596"/>
            <a:ext cx="755143" cy="654317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9953B375-2B0D-20F6-8D29-B554F25E7BB0}"/>
              </a:ext>
            </a:extLst>
          </p:cNvPr>
          <p:cNvCxnSpPr>
            <a:cxnSpLocks/>
            <a:stCxn id="2" idx="2"/>
            <a:endCxn id="3" idx="1"/>
          </p:cNvCxnSpPr>
          <p:nvPr/>
        </p:nvCxnSpPr>
        <p:spPr>
          <a:xfrm rot="5400000" flipH="1">
            <a:off x="4192026" y="-2923076"/>
            <a:ext cx="1531972" cy="9490914"/>
          </a:xfrm>
          <a:prstGeom prst="bentConnector4">
            <a:avLst>
              <a:gd name="adj1" fmla="val -14922"/>
              <a:gd name="adj2" fmla="val 10240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756C8C84-5543-5C05-D317-088C59D2ACAF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 rot="5400000">
            <a:off x="-174649" y="3308494"/>
            <a:ext cx="3722146" cy="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626D5CBB-76F1-B145-B53D-4FB4A4F6B7FB}"/>
              </a:ext>
            </a:extLst>
          </p:cNvPr>
          <p:cNvSpPr txBox="1"/>
          <p:nvPr/>
        </p:nvSpPr>
        <p:spPr>
          <a:xfrm>
            <a:off x="1814741" y="3400091"/>
            <a:ext cx="66314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5- Create a cookie </a:t>
            </a:r>
            <a:r>
              <a:rPr lang="en-AU" sz="1600" dirty="0" err="1"/>
              <a:t>UserId</a:t>
            </a:r>
            <a:r>
              <a:rPr lang="en-AU" sz="1600" dirty="0"/>
              <a:t>- </a:t>
            </a:r>
            <a:r>
              <a:rPr lang="en-AU" sz="1600" dirty="0" err="1"/>
              <a:t>TenantId-AuthUserId</a:t>
            </a:r>
            <a:r>
              <a:rPr lang="en-AU" sz="1600" dirty="0"/>
              <a:t> Token</a:t>
            </a:r>
          </a:p>
          <a:p>
            <a:endParaRPr lang="en-AU" sz="1600" dirty="0"/>
          </a:p>
          <a:p>
            <a:r>
              <a:rPr lang="en-AU" sz="1600" dirty="0"/>
              <a:t>6-Redirect the user to SPA, the cookie will be accessible to the SPA as well</a:t>
            </a:r>
            <a:endParaRPr lang="en-US" sz="1600" dirty="0"/>
          </a:p>
        </p:txBody>
      </p: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A17DF446-1257-1D0E-A47F-FBB7ADD127BF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3160291" y="5555371"/>
            <a:ext cx="6031839" cy="840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B07084EC-93E2-1ABD-1610-68A96D70CF69}"/>
              </a:ext>
            </a:extLst>
          </p:cNvPr>
          <p:cNvCxnSpPr>
            <a:cxnSpLocks/>
            <a:stCxn id="5" idx="2"/>
            <a:endCxn id="4" idx="2"/>
          </p:cNvCxnSpPr>
          <p:nvPr/>
        </p:nvCxnSpPr>
        <p:spPr>
          <a:xfrm rot="5400000" flipH="1">
            <a:off x="6172007" y="1455590"/>
            <a:ext cx="8407" cy="8979576"/>
          </a:xfrm>
          <a:prstGeom prst="bentConnector3">
            <a:avLst>
              <a:gd name="adj1" fmla="val -271916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93937C4C-E0B2-AFBF-EEE5-2F05964B89D2}"/>
              </a:ext>
            </a:extLst>
          </p:cNvPr>
          <p:cNvSpPr txBox="1"/>
          <p:nvPr/>
        </p:nvSpPr>
        <p:spPr>
          <a:xfrm>
            <a:off x="3186335" y="4829051"/>
            <a:ext cx="39684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7- send </a:t>
            </a:r>
            <a:r>
              <a:rPr lang="en-AU" sz="1600" dirty="0" err="1"/>
              <a:t>UserId</a:t>
            </a:r>
            <a:r>
              <a:rPr lang="en-AU" sz="1600" dirty="0"/>
              <a:t>- </a:t>
            </a:r>
            <a:r>
              <a:rPr lang="en-AU" sz="1600" dirty="0" err="1"/>
              <a:t>TenantId-AuthUserId</a:t>
            </a:r>
            <a:r>
              <a:rPr lang="en-AU" sz="1600" dirty="0"/>
              <a:t> Token</a:t>
            </a:r>
          </a:p>
          <a:p>
            <a:r>
              <a:rPr lang="en-AU" sz="1600" dirty="0"/>
              <a:t>Request UI Permissions</a:t>
            </a:r>
          </a:p>
          <a:p>
            <a:r>
              <a:rPr lang="en-AU" sz="1600" dirty="0"/>
              <a:t>Get Permissions from </a:t>
            </a:r>
            <a:r>
              <a:rPr lang="en-AU" sz="1600" dirty="0" err="1"/>
              <a:t>IMemoryCache</a:t>
            </a:r>
            <a:endParaRPr lang="en-US" sz="16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BA34CCD-B58E-8140-BF82-1E7F944FB8DD}"/>
              </a:ext>
            </a:extLst>
          </p:cNvPr>
          <p:cNvSpPr txBox="1"/>
          <p:nvPr/>
        </p:nvSpPr>
        <p:spPr>
          <a:xfrm>
            <a:off x="3302637" y="6137726"/>
            <a:ext cx="39684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8- send </a:t>
            </a:r>
            <a:r>
              <a:rPr lang="en-AU" sz="1600" dirty="0" err="1"/>
              <a:t>UserId</a:t>
            </a:r>
            <a:r>
              <a:rPr lang="en-AU" sz="1600" dirty="0"/>
              <a:t>- </a:t>
            </a:r>
            <a:r>
              <a:rPr lang="en-AU" sz="1600" dirty="0" err="1"/>
              <a:t>TenantId-AuthUserId</a:t>
            </a:r>
            <a:r>
              <a:rPr lang="en-AU" sz="1600" dirty="0"/>
              <a:t> Token</a:t>
            </a:r>
          </a:p>
          <a:p>
            <a:r>
              <a:rPr lang="en-AU" sz="1600" dirty="0"/>
              <a:t>Request Data</a:t>
            </a:r>
          </a:p>
        </p:txBody>
      </p:sp>
    </p:spTree>
    <p:extLst>
      <p:ext uri="{BB962C8B-B14F-4D97-AF65-F5344CB8AC3E}">
        <p14:creationId xmlns:p14="http://schemas.microsoft.com/office/powerpoint/2010/main" val="12575134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BDDFAB-F8C8-F646-CC2B-9C40BE610362}"/>
              </a:ext>
            </a:extLst>
          </p:cNvPr>
          <p:cNvSpPr txBox="1"/>
          <p:nvPr/>
        </p:nvSpPr>
        <p:spPr>
          <a:xfrm>
            <a:off x="84221" y="-293610"/>
            <a:ext cx="12192000" cy="7109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using </a:t>
            </a:r>
            <a:r>
              <a:rPr lang="en-US" sz="1200" dirty="0" err="1"/>
              <a:t>Microsoft.IdentityModel.Tokens</a:t>
            </a:r>
            <a:r>
              <a:rPr lang="en-US" sz="1200" dirty="0"/>
              <a:t>;</a:t>
            </a:r>
          </a:p>
          <a:p>
            <a:r>
              <a:rPr lang="en-US" sz="1200" dirty="0"/>
              <a:t>using </a:t>
            </a:r>
            <a:r>
              <a:rPr lang="en-US" sz="1200" dirty="0" err="1"/>
              <a:t>System.IdentityModel.Tokens.Jwt</a:t>
            </a:r>
            <a:r>
              <a:rPr lang="en-US" sz="1200" dirty="0"/>
              <a:t>;</a:t>
            </a:r>
          </a:p>
          <a:p>
            <a:r>
              <a:rPr lang="en-US" sz="1200" dirty="0"/>
              <a:t>using </a:t>
            </a:r>
            <a:r>
              <a:rPr lang="en-US" sz="1200" dirty="0" err="1"/>
              <a:t>System.Security.Claims</a:t>
            </a:r>
            <a:r>
              <a:rPr lang="en-US" sz="1200" dirty="0"/>
              <a:t>;</a:t>
            </a:r>
          </a:p>
          <a:p>
            <a:r>
              <a:rPr lang="en-US" sz="1200" dirty="0"/>
              <a:t>using </a:t>
            </a:r>
            <a:r>
              <a:rPr lang="en-US" sz="1200" dirty="0" err="1"/>
              <a:t>System.Text</a:t>
            </a:r>
            <a:r>
              <a:rPr lang="en-US" sz="1200" dirty="0"/>
              <a:t>;</a:t>
            </a:r>
          </a:p>
          <a:p>
            <a:endParaRPr lang="en-US" sz="1200" dirty="0"/>
          </a:p>
          <a:p>
            <a:r>
              <a:rPr lang="en-US" sz="1200" dirty="0"/>
              <a:t>private async Task&lt;string&gt; </a:t>
            </a:r>
            <a:r>
              <a:rPr lang="en-US" sz="1200" dirty="0" err="1"/>
              <a:t>GetUserTenantTokenAsync</a:t>
            </a:r>
            <a:r>
              <a:rPr lang="en-US" sz="1200" dirty="0"/>
              <a:t>(string </a:t>
            </a:r>
            <a:r>
              <a:rPr lang="en-US" sz="1200" dirty="0" err="1"/>
              <a:t>tenantId</a:t>
            </a:r>
            <a:r>
              <a:rPr lang="en-US" sz="1200" dirty="0"/>
              <a:t>)</a:t>
            </a:r>
          </a:p>
          <a:p>
            <a:r>
              <a:rPr lang="en-US" sz="1200" dirty="0"/>
              <a:t>{</a:t>
            </a:r>
          </a:p>
          <a:p>
            <a:r>
              <a:rPr lang="en-US" sz="1200" dirty="0"/>
              <a:t>    // 1. Setup Security Key and Credentials</a:t>
            </a:r>
          </a:p>
          <a:p>
            <a:r>
              <a:rPr lang="en-US" sz="1200" dirty="0"/>
              <a:t>    // In production, pull "</a:t>
            </a:r>
            <a:r>
              <a:rPr lang="en-US" sz="1200" dirty="0" err="1"/>
              <a:t>YourSuperSecretKey</a:t>
            </a:r>
            <a:r>
              <a:rPr lang="en-US" sz="1200" dirty="0"/>
              <a:t>" from User Secrets or Key Vault</a:t>
            </a:r>
          </a:p>
          <a:p>
            <a:r>
              <a:rPr lang="en-US" sz="1200" dirty="0"/>
              <a:t>    var key = new </a:t>
            </a:r>
            <a:r>
              <a:rPr lang="en-US" sz="1200" dirty="0" err="1"/>
              <a:t>SymmetricSecurityKey</a:t>
            </a:r>
            <a:r>
              <a:rPr lang="en-US" sz="1200" dirty="0"/>
              <a:t>(Encoding.UTF8.GetBytes("YourSuperSecretKey_MustBeAtLeast32Chars!"));</a:t>
            </a:r>
          </a:p>
          <a:p>
            <a:r>
              <a:rPr lang="en-US" sz="1200" dirty="0"/>
              <a:t>    var creds = new </a:t>
            </a:r>
            <a:r>
              <a:rPr lang="en-US" sz="1200" dirty="0" err="1"/>
              <a:t>SigningCredentials</a:t>
            </a:r>
            <a:r>
              <a:rPr lang="en-US" sz="1200" dirty="0"/>
              <a:t>(key, SecurityAlgorithms.HmacSha256);</a:t>
            </a:r>
          </a:p>
          <a:p>
            <a:endParaRPr lang="en-US" sz="1200" dirty="0"/>
          </a:p>
          <a:p>
            <a:r>
              <a:rPr lang="en-US" sz="1200" dirty="0"/>
              <a:t>    // 2. Define Minimal Claims</a:t>
            </a:r>
          </a:p>
          <a:p>
            <a:r>
              <a:rPr lang="en-US" sz="1200" dirty="0"/>
              <a:t>    // We use short strings for keys to keep the JWT byte-size tiny</a:t>
            </a:r>
          </a:p>
          <a:p>
            <a:r>
              <a:rPr lang="en-US" sz="1200" dirty="0"/>
              <a:t>    var claims = new[]</a:t>
            </a:r>
          </a:p>
          <a:p>
            <a:r>
              <a:rPr lang="en-US" sz="1200" dirty="0"/>
              <a:t>    {</a:t>
            </a:r>
          </a:p>
          <a:p>
            <a:r>
              <a:rPr lang="en-US" sz="1200" dirty="0"/>
              <a:t>        new Claim("</a:t>
            </a:r>
            <a:r>
              <a:rPr lang="en-US" sz="1200" dirty="0" err="1"/>
              <a:t>tid</a:t>
            </a:r>
            <a:r>
              <a:rPr lang="en-US" sz="1200" dirty="0"/>
              <a:t>", </a:t>
            </a:r>
            <a:r>
              <a:rPr lang="en-US" sz="1200" dirty="0" err="1"/>
              <a:t>tenantId</a:t>
            </a:r>
            <a:r>
              <a:rPr lang="en-US" sz="1200" dirty="0"/>
              <a:t>),                               // </a:t>
            </a:r>
            <a:r>
              <a:rPr lang="en-US" sz="1200" dirty="0" err="1"/>
              <a:t>TenantId</a:t>
            </a:r>
            <a:endParaRPr lang="en-US" sz="1200" dirty="0"/>
          </a:p>
          <a:p>
            <a:r>
              <a:rPr lang="en-US" sz="1200" dirty="0"/>
              <a:t>        new Claim(</a:t>
            </a:r>
            <a:r>
              <a:rPr lang="en-US" sz="1200" dirty="0" err="1"/>
              <a:t>JwtRegisteredClaimNames.Sub</a:t>
            </a:r>
            <a:r>
              <a:rPr lang="en-US" sz="1200" dirty="0"/>
              <a:t>, </a:t>
            </a:r>
            <a:r>
              <a:rPr lang="en-US" sz="1200" dirty="0" err="1"/>
              <a:t>User.Identity.Name</a:t>
            </a:r>
            <a:r>
              <a:rPr lang="en-US" sz="1200" dirty="0"/>
              <a:t>), // </a:t>
            </a:r>
            <a:r>
              <a:rPr lang="en-US" sz="1200" dirty="0" err="1"/>
              <a:t>UserId</a:t>
            </a:r>
            <a:r>
              <a:rPr lang="en-US" sz="1200" dirty="0"/>
              <a:t> (Subject)</a:t>
            </a:r>
          </a:p>
          <a:p>
            <a:r>
              <a:rPr lang="en-US" sz="1200" dirty="0"/>
              <a:t>        new Claim("</a:t>
            </a:r>
            <a:r>
              <a:rPr lang="en-US" sz="1200" dirty="0" err="1"/>
              <a:t>oid</a:t>
            </a:r>
            <a:r>
              <a:rPr lang="en-US" sz="1200" dirty="0"/>
              <a:t>", </a:t>
            </a:r>
            <a:r>
              <a:rPr lang="en-US" sz="1200" dirty="0" err="1"/>
              <a:t>User.FindFirst</a:t>
            </a:r>
            <a:r>
              <a:rPr lang="en-US" sz="1200" dirty="0"/>
              <a:t>(</a:t>
            </a:r>
            <a:r>
              <a:rPr lang="en-US" sz="1200" dirty="0" err="1"/>
              <a:t>ClaimTypes.NameIdentifier</a:t>
            </a:r>
            <a:r>
              <a:rPr lang="en-US" sz="1200" dirty="0"/>
              <a:t>)?.Value ?? ""), // </a:t>
            </a:r>
            <a:r>
              <a:rPr lang="en-US" sz="1200" dirty="0" err="1"/>
              <a:t>AuthUserId</a:t>
            </a:r>
            <a:r>
              <a:rPr lang="en-US" sz="1200" dirty="0"/>
              <a:t> (Object ID)</a:t>
            </a:r>
          </a:p>
          <a:p>
            <a:r>
              <a:rPr lang="en-US" sz="1200" dirty="0"/>
              <a:t>        new Claim(</a:t>
            </a:r>
            <a:r>
              <a:rPr lang="en-US" sz="1200" dirty="0" err="1"/>
              <a:t>JwtRegisteredClaimNames.Jti</a:t>
            </a:r>
            <a:r>
              <a:rPr lang="en-US" sz="1200" dirty="0"/>
              <a:t>, </a:t>
            </a:r>
            <a:r>
              <a:rPr lang="en-US" sz="1200" dirty="0" err="1"/>
              <a:t>Guid.NewGuid</a:t>
            </a:r>
            <a:r>
              <a:rPr lang="en-US" sz="1200" dirty="0"/>
              <a:t>().</a:t>
            </a:r>
            <a:r>
              <a:rPr lang="en-US" sz="1200" dirty="0" err="1"/>
              <a:t>ToString</a:t>
            </a:r>
            <a:r>
              <a:rPr lang="en-US" sz="1200" dirty="0"/>
              <a:t>()), // Unique ID for this token</a:t>
            </a:r>
          </a:p>
          <a:p>
            <a:r>
              <a:rPr lang="en-US" sz="1200" dirty="0"/>
              <a:t>    };</a:t>
            </a:r>
          </a:p>
          <a:p>
            <a:endParaRPr lang="en-US" sz="1200" dirty="0"/>
          </a:p>
          <a:p>
            <a:r>
              <a:rPr lang="en-US" sz="1200" dirty="0"/>
              <a:t>    // 3. Create the Token Descriptor</a:t>
            </a:r>
          </a:p>
          <a:p>
            <a:r>
              <a:rPr lang="en-US" sz="1200" dirty="0"/>
              <a:t>    var </a:t>
            </a:r>
            <a:r>
              <a:rPr lang="en-US" sz="1200" dirty="0" err="1"/>
              <a:t>tokenDescriptor</a:t>
            </a:r>
            <a:r>
              <a:rPr lang="en-US" sz="1200" dirty="0"/>
              <a:t> = new </a:t>
            </a:r>
            <a:r>
              <a:rPr lang="en-US" sz="1200" dirty="0" err="1"/>
              <a:t>SecurityTokenDescriptor</a:t>
            </a:r>
            <a:endParaRPr lang="en-US" sz="1200" dirty="0"/>
          </a:p>
          <a:p>
            <a:r>
              <a:rPr lang="en-US" sz="1200" dirty="0"/>
              <a:t>    {</a:t>
            </a:r>
          </a:p>
          <a:p>
            <a:r>
              <a:rPr lang="en-US" sz="1200" dirty="0"/>
              <a:t>        Subject = new </a:t>
            </a:r>
            <a:r>
              <a:rPr lang="en-US" sz="1200" dirty="0" err="1"/>
              <a:t>ClaimsIdentity</a:t>
            </a:r>
            <a:r>
              <a:rPr lang="en-US" sz="1200" dirty="0"/>
              <a:t>(claims),</a:t>
            </a:r>
          </a:p>
          <a:p>
            <a:r>
              <a:rPr lang="en-US" sz="1200" dirty="0"/>
              <a:t>        Expires = </a:t>
            </a:r>
            <a:r>
              <a:rPr lang="en-US" sz="1200" dirty="0" err="1"/>
              <a:t>DateTime.UtcNow.AddHours</a:t>
            </a:r>
            <a:r>
              <a:rPr lang="en-US" sz="1200" dirty="0"/>
              <a:t>(8), // Match your cookie expiration</a:t>
            </a:r>
          </a:p>
          <a:p>
            <a:r>
              <a:rPr lang="en-US" sz="1200" dirty="0"/>
              <a:t>        </a:t>
            </a:r>
            <a:r>
              <a:rPr lang="en-US" sz="1200" dirty="0" err="1"/>
              <a:t>SigningCredentials</a:t>
            </a:r>
            <a:r>
              <a:rPr lang="en-US" sz="1200" dirty="0"/>
              <a:t> = creds,</a:t>
            </a:r>
          </a:p>
          <a:p>
            <a:r>
              <a:rPr lang="en-US" sz="1200" dirty="0"/>
              <a:t>        Issuer = "your-app-name",</a:t>
            </a:r>
          </a:p>
          <a:p>
            <a:r>
              <a:rPr lang="en-US" sz="1200" dirty="0"/>
              <a:t>        Audience = "your-spa-client"</a:t>
            </a:r>
          </a:p>
          <a:p>
            <a:r>
              <a:rPr lang="en-US" sz="1200" dirty="0"/>
              <a:t>    };</a:t>
            </a:r>
          </a:p>
          <a:p>
            <a:endParaRPr lang="en-US" sz="1200" dirty="0"/>
          </a:p>
          <a:p>
            <a:r>
              <a:rPr lang="en-US" sz="1200" dirty="0"/>
              <a:t>    // 4. Generate the String</a:t>
            </a:r>
          </a:p>
          <a:p>
            <a:r>
              <a:rPr lang="en-US" sz="1200" dirty="0"/>
              <a:t>    var </a:t>
            </a:r>
            <a:r>
              <a:rPr lang="en-US" sz="1200" dirty="0" err="1"/>
              <a:t>tokenHandler</a:t>
            </a:r>
            <a:r>
              <a:rPr lang="en-US" sz="1200" dirty="0"/>
              <a:t> = new </a:t>
            </a:r>
            <a:r>
              <a:rPr lang="en-US" sz="1200" dirty="0" err="1"/>
              <a:t>JwtSecurityTokenHandler</a:t>
            </a:r>
            <a:r>
              <a:rPr lang="en-US" sz="1200" dirty="0"/>
              <a:t>();</a:t>
            </a:r>
          </a:p>
          <a:p>
            <a:r>
              <a:rPr lang="en-US" sz="1200" dirty="0"/>
              <a:t>    var token = </a:t>
            </a:r>
            <a:r>
              <a:rPr lang="en-US" sz="1200" dirty="0" err="1"/>
              <a:t>tokenHandler.CreateToken</a:t>
            </a:r>
            <a:r>
              <a:rPr lang="en-US" sz="1200" dirty="0"/>
              <a:t>(</a:t>
            </a:r>
            <a:r>
              <a:rPr lang="en-US" sz="1200" dirty="0" err="1"/>
              <a:t>tokenDescriptor</a:t>
            </a:r>
            <a:r>
              <a:rPr lang="en-US" sz="1200" dirty="0"/>
              <a:t>);</a:t>
            </a:r>
          </a:p>
          <a:p>
            <a:endParaRPr lang="en-US" sz="1200" dirty="0"/>
          </a:p>
          <a:p>
            <a:r>
              <a:rPr lang="en-US" sz="1200" dirty="0"/>
              <a:t>    return await </a:t>
            </a:r>
            <a:r>
              <a:rPr lang="en-US" sz="1200" dirty="0" err="1"/>
              <a:t>Task.FromResult</a:t>
            </a:r>
            <a:r>
              <a:rPr lang="en-US" sz="1200" dirty="0"/>
              <a:t>(</a:t>
            </a:r>
            <a:r>
              <a:rPr lang="en-US" sz="1200" dirty="0" err="1"/>
              <a:t>tokenHandler.WriteToken</a:t>
            </a:r>
            <a:r>
              <a:rPr lang="en-US" sz="1200" dirty="0"/>
              <a:t>(token));</a:t>
            </a:r>
          </a:p>
          <a:p>
            <a:r>
              <a:rPr lang="en-US" sz="12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598820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94C54B-60DA-CDF8-6918-577F7A2C294D}"/>
              </a:ext>
            </a:extLst>
          </p:cNvPr>
          <p:cNvSpPr txBox="1"/>
          <p:nvPr/>
        </p:nvSpPr>
        <p:spPr>
          <a:xfrm>
            <a:off x="180474" y="1636891"/>
            <a:ext cx="1162250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// Quick JS helper to get the cookie</a:t>
            </a:r>
          </a:p>
          <a:p>
            <a:r>
              <a:rPr lang="en-US" dirty="0"/>
              <a:t>const </a:t>
            </a:r>
            <a:r>
              <a:rPr lang="en-US" dirty="0" err="1"/>
              <a:t>getCookie</a:t>
            </a:r>
            <a:r>
              <a:rPr lang="en-US" dirty="0"/>
              <a:t> = (name) =&gt; {</a:t>
            </a:r>
          </a:p>
          <a:p>
            <a:r>
              <a:rPr lang="en-US" dirty="0"/>
              <a:t>  const value = `; ${</a:t>
            </a:r>
            <a:r>
              <a:rPr lang="en-US" dirty="0" err="1"/>
              <a:t>document.cookie</a:t>
            </a:r>
            <a:r>
              <a:rPr lang="en-US" dirty="0"/>
              <a:t>}`;</a:t>
            </a:r>
          </a:p>
          <a:p>
            <a:r>
              <a:rPr lang="en-US" dirty="0"/>
              <a:t>  const parts = </a:t>
            </a:r>
            <a:r>
              <a:rPr lang="en-US" dirty="0" err="1"/>
              <a:t>value.split</a:t>
            </a:r>
            <a:r>
              <a:rPr lang="en-US" dirty="0"/>
              <a:t>(`; ${name}=`);</a:t>
            </a:r>
          </a:p>
          <a:p>
            <a:r>
              <a:rPr lang="en-US" dirty="0"/>
              <a:t>  if (</a:t>
            </a:r>
            <a:r>
              <a:rPr lang="en-US" dirty="0" err="1"/>
              <a:t>parts.length</a:t>
            </a:r>
            <a:r>
              <a:rPr lang="en-US" dirty="0"/>
              <a:t> === 2) return </a:t>
            </a:r>
            <a:r>
              <a:rPr lang="en-US" dirty="0" err="1"/>
              <a:t>parts.pop</a:t>
            </a:r>
            <a:r>
              <a:rPr lang="en-US" dirty="0"/>
              <a:t>().split(';').shift();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const token = </a:t>
            </a:r>
            <a:r>
              <a:rPr lang="en-US" dirty="0" err="1"/>
              <a:t>getCookie</a:t>
            </a:r>
            <a:r>
              <a:rPr lang="en-US" dirty="0"/>
              <a:t>('</a:t>
            </a:r>
            <a:r>
              <a:rPr lang="en-US" dirty="0" err="1"/>
              <a:t>UserTenantToken</a:t>
            </a:r>
            <a:r>
              <a:rPr lang="en-US" dirty="0"/>
              <a:t>');</a:t>
            </a:r>
          </a:p>
          <a:p>
            <a:r>
              <a:rPr lang="en-US" dirty="0"/>
              <a:t>// The SPA can now attach this to 'Authorization: Bearer &lt;token&gt;' headers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EC5A0C-D161-65E2-DB79-00C0A26E9F40}"/>
              </a:ext>
            </a:extLst>
          </p:cNvPr>
          <p:cNvSpPr txBox="1"/>
          <p:nvPr/>
        </p:nvSpPr>
        <p:spPr>
          <a:xfrm>
            <a:off x="0" y="0"/>
            <a:ext cx="1219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AU" b="1" dirty="0"/>
              <a:t>3. How the SPA reads it</a:t>
            </a:r>
          </a:p>
          <a:p>
            <a:pPr>
              <a:buNone/>
            </a:pPr>
            <a:r>
              <a:rPr lang="en-AU" dirty="0"/>
              <a:t>Since you are storing this in a cookie with </a:t>
            </a:r>
            <a:r>
              <a:rPr lang="en-AU" dirty="0" err="1">
                <a:latin typeface="Courier New" panose="02070309020205020404" pitchFamily="49" charset="0"/>
              </a:rPr>
              <a:t>HttpOnly</a:t>
            </a:r>
            <a:r>
              <a:rPr lang="en-AU" dirty="0">
                <a:latin typeface="Courier New" panose="02070309020205020404" pitchFamily="49" charset="0"/>
              </a:rPr>
              <a:t> = false</a:t>
            </a:r>
            <a:r>
              <a:rPr lang="en-AU" dirty="0"/>
              <a:t> (from the previous step), your SPA can read it using a simple JavaScript library or a regex:</a:t>
            </a:r>
          </a:p>
        </p:txBody>
      </p:sp>
    </p:spTree>
    <p:extLst>
      <p:ext uri="{BB962C8B-B14F-4D97-AF65-F5344CB8AC3E}">
        <p14:creationId xmlns:p14="http://schemas.microsoft.com/office/powerpoint/2010/main" val="10477164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AAAD8A-671E-CBF8-2214-4C3224E9B49D}"/>
              </a:ext>
            </a:extLst>
          </p:cNvPr>
          <p:cNvSpPr txBox="1"/>
          <p:nvPr/>
        </p:nvSpPr>
        <p:spPr>
          <a:xfrm>
            <a:off x="565484" y="-499780"/>
            <a:ext cx="10756232" cy="9694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using </a:t>
            </a:r>
            <a:r>
              <a:rPr lang="en-US" sz="1200" dirty="0" err="1"/>
              <a:t>Microsoft.AspNetCore.Authentication</a:t>
            </a:r>
            <a:r>
              <a:rPr lang="en-US" sz="1200" dirty="0"/>
              <a:t>;</a:t>
            </a:r>
          </a:p>
          <a:p>
            <a:r>
              <a:rPr lang="en-US" sz="1200" dirty="0"/>
              <a:t>using </a:t>
            </a:r>
            <a:r>
              <a:rPr lang="en-US" sz="1200" dirty="0" err="1"/>
              <a:t>Microsoft.Extensions.Caching.Memory</a:t>
            </a:r>
            <a:r>
              <a:rPr lang="en-US" sz="1200" dirty="0"/>
              <a:t>;</a:t>
            </a:r>
          </a:p>
          <a:p>
            <a:r>
              <a:rPr lang="en-US" sz="1200" dirty="0"/>
              <a:t>using </a:t>
            </a:r>
            <a:r>
              <a:rPr lang="en-US" sz="1200" dirty="0" err="1"/>
              <a:t>System.Security.Claims</a:t>
            </a:r>
            <a:r>
              <a:rPr lang="en-US" sz="1200" dirty="0"/>
              <a:t>;</a:t>
            </a:r>
          </a:p>
          <a:p>
            <a:endParaRPr lang="en-US" sz="1200" dirty="0"/>
          </a:p>
          <a:p>
            <a:r>
              <a:rPr lang="en-US" sz="1200" dirty="0"/>
              <a:t>public class </a:t>
            </a:r>
            <a:r>
              <a:rPr lang="en-US" sz="1200" dirty="0" err="1"/>
              <a:t>TenantPermissionTransformer</a:t>
            </a:r>
            <a:r>
              <a:rPr lang="en-US" sz="1200" dirty="0"/>
              <a:t> : </a:t>
            </a:r>
            <a:r>
              <a:rPr lang="en-US" sz="1200" dirty="0" err="1"/>
              <a:t>IClaimsTransformation</a:t>
            </a:r>
            <a:endParaRPr lang="en-US" sz="1200" dirty="0"/>
          </a:p>
          <a:p>
            <a:r>
              <a:rPr lang="en-US" sz="1200" dirty="0"/>
              <a:t>{</a:t>
            </a:r>
          </a:p>
          <a:p>
            <a:r>
              <a:rPr lang="en-US" sz="1200" dirty="0"/>
              <a:t>    private </a:t>
            </a:r>
            <a:r>
              <a:rPr lang="en-US" sz="1200" dirty="0" err="1"/>
              <a:t>readonly</a:t>
            </a:r>
            <a:r>
              <a:rPr lang="en-US" sz="1200" dirty="0"/>
              <a:t> </a:t>
            </a:r>
            <a:r>
              <a:rPr lang="en-US" sz="1200" dirty="0" err="1"/>
              <a:t>IMemoryCache</a:t>
            </a:r>
            <a:r>
              <a:rPr lang="en-US" sz="1200" dirty="0"/>
              <a:t> _cache;</a:t>
            </a:r>
          </a:p>
          <a:p>
            <a:r>
              <a:rPr lang="en-US" sz="1200" dirty="0"/>
              <a:t>    // Inject your DB context or Service here</a:t>
            </a:r>
          </a:p>
          <a:p>
            <a:r>
              <a:rPr lang="en-US" sz="1200" dirty="0"/>
              <a:t>    // private </a:t>
            </a:r>
            <a:r>
              <a:rPr lang="en-US" sz="1200" dirty="0" err="1"/>
              <a:t>readonly</a:t>
            </a:r>
            <a:r>
              <a:rPr lang="en-US" sz="1200" dirty="0"/>
              <a:t> </a:t>
            </a:r>
            <a:r>
              <a:rPr lang="en-US" sz="1200" dirty="0" err="1"/>
              <a:t>MyDbContext</a:t>
            </a:r>
            <a:r>
              <a:rPr lang="en-US" sz="1200" dirty="0"/>
              <a:t> _</a:t>
            </a:r>
            <a:r>
              <a:rPr lang="en-US" sz="1200" dirty="0" err="1"/>
              <a:t>db</a:t>
            </a:r>
            <a:r>
              <a:rPr lang="en-US" sz="1200" dirty="0"/>
              <a:t>; </a:t>
            </a:r>
          </a:p>
          <a:p>
            <a:endParaRPr lang="en-US" sz="1200" dirty="0"/>
          </a:p>
          <a:p>
            <a:r>
              <a:rPr lang="en-US" sz="1200" dirty="0"/>
              <a:t>    public </a:t>
            </a:r>
            <a:r>
              <a:rPr lang="en-US" sz="1200" dirty="0" err="1"/>
              <a:t>TenantPermissionTransformer</a:t>
            </a:r>
            <a:r>
              <a:rPr lang="en-US" sz="1200" dirty="0"/>
              <a:t>(</a:t>
            </a:r>
            <a:r>
              <a:rPr lang="en-US" sz="1200" dirty="0" err="1"/>
              <a:t>IMemoryCache</a:t>
            </a:r>
            <a:r>
              <a:rPr lang="en-US" sz="1200" dirty="0"/>
              <a:t> cache)</a:t>
            </a:r>
          </a:p>
          <a:p>
            <a:r>
              <a:rPr lang="en-US" sz="1200" dirty="0"/>
              <a:t>    {</a:t>
            </a:r>
          </a:p>
          <a:p>
            <a:r>
              <a:rPr lang="en-US" sz="1200" dirty="0"/>
              <a:t>        _cache = cache;</a:t>
            </a:r>
          </a:p>
          <a:p>
            <a:r>
              <a:rPr lang="en-US" sz="1200" dirty="0"/>
              <a:t>    }</a:t>
            </a:r>
          </a:p>
          <a:p>
            <a:endParaRPr lang="en-US" sz="1200" dirty="0"/>
          </a:p>
          <a:p>
            <a:r>
              <a:rPr lang="en-US" sz="1200" dirty="0"/>
              <a:t>    public async Task&lt;</a:t>
            </a:r>
            <a:r>
              <a:rPr lang="en-US" sz="1200" dirty="0" err="1"/>
              <a:t>ClaimsPrincipal</a:t>
            </a:r>
            <a:r>
              <a:rPr lang="en-US" sz="1200" dirty="0"/>
              <a:t>&gt; </a:t>
            </a:r>
            <a:r>
              <a:rPr lang="en-US" sz="1200" dirty="0" err="1"/>
              <a:t>TransformAsync</a:t>
            </a:r>
            <a:r>
              <a:rPr lang="en-US" sz="1200" dirty="0"/>
              <a:t>(</a:t>
            </a:r>
            <a:r>
              <a:rPr lang="en-US" sz="1200" dirty="0" err="1"/>
              <a:t>ClaimsPrincipal</a:t>
            </a:r>
            <a:r>
              <a:rPr lang="en-US" sz="1200" dirty="0"/>
              <a:t> principal)</a:t>
            </a:r>
          </a:p>
          <a:p>
            <a:r>
              <a:rPr lang="en-US" sz="1200" dirty="0"/>
              <a:t>    {</a:t>
            </a:r>
          </a:p>
          <a:p>
            <a:r>
              <a:rPr lang="en-US" sz="1200" dirty="0"/>
              <a:t>        // 1. Check if already transformed or if not authenticated</a:t>
            </a:r>
          </a:p>
          <a:p>
            <a:r>
              <a:rPr lang="en-US" sz="1200" dirty="0"/>
              <a:t>        if (!</a:t>
            </a:r>
            <a:r>
              <a:rPr lang="en-US" sz="1200" dirty="0" err="1"/>
              <a:t>principal.Identity.IsAuthenticated</a:t>
            </a:r>
            <a:r>
              <a:rPr lang="en-US" sz="1200" dirty="0"/>
              <a:t> || </a:t>
            </a:r>
            <a:r>
              <a:rPr lang="en-US" sz="1200" dirty="0" err="1"/>
              <a:t>principal.HasClaim</a:t>
            </a:r>
            <a:r>
              <a:rPr lang="en-US" sz="1200" dirty="0"/>
              <a:t>(c =&gt; </a:t>
            </a:r>
            <a:r>
              <a:rPr lang="en-US" sz="1200" dirty="0" err="1"/>
              <a:t>c.Type</a:t>
            </a:r>
            <a:r>
              <a:rPr lang="en-US" sz="1200" dirty="0"/>
              <a:t> == "</a:t>
            </a:r>
            <a:r>
              <a:rPr lang="en-US" sz="1200" dirty="0" err="1"/>
              <a:t>permissions_loaded</a:t>
            </a:r>
            <a:r>
              <a:rPr lang="en-US" sz="1200" dirty="0"/>
              <a:t>"))</a:t>
            </a:r>
          </a:p>
          <a:p>
            <a:r>
              <a:rPr lang="en-US" sz="1200" dirty="0"/>
              <a:t>            return principal;</a:t>
            </a:r>
          </a:p>
          <a:p>
            <a:endParaRPr lang="en-US" sz="1200" dirty="0"/>
          </a:p>
          <a:p>
            <a:r>
              <a:rPr lang="en-US" sz="1200" dirty="0"/>
              <a:t>        var clone = </a:t>
            </a:r>
            <a:r>
              <a:rPr lang="en-US" sz="1200" dirty="0" err="1"/>
              <a:t>principal.Clone</a:t>
            </a:r>
            <a:r>
              <a:rPr lang="en-US" sz="1200" dirty="0"/>
              <a:t>();</a:t>
            </a:r>
          </a:p>
          <a:p>
            <a:r>
              <a:rPr lang="en-US" sz="1200" dirty="0"/>
              <a:t>        var </a:t>
            </a:r>
            <a:r>
              <a:rPr lang="en-US" sz="1200" dirty="0" err="1"/>
              <a:t>newIdentity</a:t>
            </a:r>
            <a:r>
              <a:rPr lang="en-US" sz="1200" dirty="0"/>
              <a:t> = (</a:t>
            </a:r>
            <a:r>
              <a:rPr lang="en-US" sz="1200" dirty="0" err="1"/>
              <a:t>ClaimsIdentity</a:t>
            </a:r>
            <a:r>
              <a:rPr lang="en-US" sz="1200" dirty="0"/>
              <a:t>)</a:t>
            </a:r>
            <a:r>
              <a:rPr lang="en-US" sz="1200" dirty="0" err="1"/>
              <a:t>clone.Identity</a:t>
            </a:r>
            <a:r>
              <a:rPr lang="en-US" sz="1200" dirty="0"/>
              <a:t>;</a:t>
            </a:r>
          </a:p>
          <a:p>
            <a:endParaRPr lang="en-US" sz="1200" dirty="0"/>
          </a:p>
          <a:p>
            <a:r>
              <a:rPr lang="en-US" sz="1200" dirty="0"/>
              <a:t>        // 2. Extract minimal data from JWT</a:t>
            </a:r>
          </a:p>
          <a:p>
            <a:r>
              <a:rPr lang="en-US" sz="1200" dirty="0"/>
              <a:t>        var </a:t>
            </a:r>
            <a:r>
              <a:rPr lang="en-US" sz="1200" dirty="0" err="1"/>
              <a:t>userId</a:t>
            </a:r>
            <a:r>
              <a:rPr lang="en-US" sz="1200" dirty="0"/>
              <a:t> = </a:t>
            </a:r>
            <a:r>
              <a:rPr lang="en-US" sz="1200" dirty="0" err="1"/>
              <a:t>principal.FindFirst</a:t>
            </a:r>
            <a:r>
              <a:rPr lang="en-US" sz="1200" dirty="0"/>
              <a:t>(</a:t>
            </a:r>
            <a:r>
              <a:rPr lang="en-US" sz="1200" dirty="0" err="1"/>
              <a:t>ClaimTypes.NameIdentifier</a:t>
            </a:r>
            <a:r>
              <a:rPr lang="en-US" sz="1200" dirty="0"/>
              <a:t>)?.Value;</a:t>
            </a:r>
          </a:p>
          <a:p>
            <a:r>
              <a:rPr lang="en-US" sz="1200" dirty="0"/>
              <a:t>        var </a:t>
            </a:r>
            <a:r>
              <a:rPr lang="en-US" sz="1200" dirty="0" err="1"/>
              <a:t>tenantId</a:t>
            </a:r>
            <a:r>
              <a:rPr lang="en-US" sz="1200" dirty="0"/>
              <a:t> = </a:t>
            </a:r>
            <a:r>
              <a:rPr lang="en-US" sz="1200" dirty="0" err="1"/>
              <a:t>principal.FindFirst</a:t>
            </a:r>
            <a:r>
              <a:rPr lang="en-US" sz="1200" dirty="0"/>
              <a:t>("</a:t>
            </a:r>
            <a:r>
              <a:rPr lang="en-US" sz="1200" dirty="0" err="1"/>
              <a:t>tid</a:t>
            </a:r>
            <a:r>
              <a:rPr lang="en-US" sz="1200" dirty="0"/>
              <a:t>")?.Value;</a:t>
            </a:r>
          </a:p>
          <a:p>
            <a:endParaRPr lang="en-US" sz="1200" dirty="0"/>
          </a:p>
          <a:p>
            <a:r>
              <a:rPr lang="en-US" sz="1200" dirty="0"/>
              <a:t>        if (</a:t>
            </a:r>
            <a:r>
              <a:rPr lang="en-US" sz="1200" dirty="0" err="1"/>
              <a:t>string.IsNullOrEmpty</a:t>
            </a:r>
            <a:r>
              <a:rPr lang="en-US" sz="1200" dirty="0"/>
              <a:t>(</a:t>
            </a:r>
            <a:r>
              <a:rPr lang="en-US" sz="1200" dirty="0" err="1"/>
              <a:t>userId</a:t>
            </a:r>
            <a:r>
              <a:rPr lang="en-US" sz="1200" dirty="0"/>
              <a:t>) || </a:t>
            </a:r>
            <a:r>
              <a:rPr lang="en-US" sz="1200" dirty="0" err="1"/>
              <a:t>string.IsNullOrEmpty</a:t>
            </a:r>
            <a:r>
              <a:rPr lang="en-US" sz="1200" dirty="0"/>
              <a:t>(</a:t>
            </a:r>
            <a:r>
              <a:rPr lang="en-US" sz="1200" dirty="0" err="1"/>
              <a:t>tenantId</a:t>
            </a:r>
            <a:r>
              <a:rPr lang="en-US" sz="1200" dirty="0"/>
              <a:t>)) return principal;</a:t>
            </a:r>
          </a:p>
          <a:p>
            <a:endParaRPr lang="en-US" sz="1200" dirty="0"/>
          </a:p>
          <a:p>
            <a:r>
              <a:rPr lang="en-US" sz="1200" dirty="0"/>
              <a:t>        // 3. Get Permissions (Cache-First)</a:t>
            </a:r>
          </a:p>
          <a:p>
            <a:r>
              <a:rPr lang="en-US" sz="1200" dirty="0"/>
              <a:t>        string </a:t>
            </a:r>
            <a:r>
              <a:rPr lang="en-US" sz="1200" dirty="0" err="1"/>
              <a:t>cacheKey</a:t>
            </a:r>
            <a:r>
              <a:rPr lang="en-US" sz="1200" dirty="0"/>
              <a:t> = $"perms_{</a:t>
            </a:r>
            <a:r>
              <a:rPr lang="en-US" sz="1200" dirty="0" err="1"/>
              <a:t>tenantId</a:t>
            </a:r>
            <a:r>
              <a:rPr lang="en-US" sz="1200" dirty="0"/>
              <a:t>}_{</a:t>
            </a:r>
            <a:r>
              <a:rPr lang="en-US" sz="1200" dirty="0" err="1"/>
              <a:t>userId</a:t>
            </a:r>
            <a:r>
              <a:rPr lang="en-US" sz="1200" dirty="0"/>
              <a:t>}";</a:t>
            </a:r>
          </a:p>
          <a:p>
            <a:r>
              <a:rPr lang="en-US" sz="1200" dirty="0"/>
              <a:t>        var permissions = await _</a:t>
            </a:r>
            <a:r>
              <a:rPr lang="en-US" sz="1200" dirty="0" err="1"/>
              <a:t>cache.GetOrCreateAsync</a:t>
            </a:r>
            <a:r>
              <a:rPr lang="en-US" sz="1200" dirty="0"/>
              <a:t>(</a:t>
            </a:r>
            <a:r>
              <a:rPr lang="en-US" sz="1200" dirty="0" err="1"/>
              <a:t>cacheKey</a:t>
            </a:r>
            <a:r>
              <a:rPr lang="en-US" sz="1200" dirty="0"/>
              <a:t>, entry =&gt;</a:t>
            </a:r>
          </a:p>
          <a:p>
            <a:r>
              <a:rPr lang="en-US" sz="1200" dirty="0"/>
              <a:t>        {</a:t>
            </a:r>
          </a:p>
          <a:p>
            <a:r>
              <a:rPr lang="en-US" sz="1200" dirty="0"/>
              <a:t>            </a:t>
            </a:r>
            <a:r>
              <a:rPr lang="en-US" sz="1200" dirty="0" err="1"/>
              <a:t>entry.SlidingExpiration</a:t>
            </a:r>
            <a:r>
              <a:rPr lang="en-US" sz="1200" dirty="0"/>
              <a:t> = </a:t>
            </a:r>
            <a:r>
              <a:rPr lang="en-US" sz="1200" dirty="0" err="1"/>
              <a:t>TimeSpan.FromMinutes</a:t>
            </a:r>
            <a:r>
              <a:rPr lang="en-US" sz="1200" dirty="0"/>
              <a:t>(30);</a:t>
            </a:r>
          </a:p>
          <a:p>
            <a:r>
              <a:rPr lang="en-US" sz="1200" dirty="0"/>
              <a:t>            // REPLACE: Call your actual database logic here</a:t>
            </a:r>
          </a:p>
          <a:p>
            <a:r>
              <a:rPr lang="en-US" sz="1200" dirty="0"/>
              <a:t>            return </a:t>
            </a:r>
            <a:r>
              <a:rPr lang="en-US" sz="1200" dirty="0" err="1"/>
              <a:t>Task.FromResult</a:t>
            </a:r>
            <a:r>
              <a:rPr lang="en-US" sz="1200" dirty="0"/>
              <a:t>(new List&lt;string&gt; { "</a:t>
            </a:r>
            <a:r>
              <a:rPr lang="en-US" sz="1200" dirty="0" err="1"/>
              <a:t>User.Read</a:t>
            </a:r>
            <a:r>
              <a:rPr lang="en-US" sz="1200" dirty="0"/>
              <a:t>", "</a:t>
            </a:r>
            <a:r>
              <a:rPr lang="en-US" sz="1200" dirty="0" err="1"/>
              <a:t>Tenant.Admin</a:t>
            </a:r>
            <a:r>
              <a:rPr lang="en-US" sz="1200" dirty="0"/>
              <a:t>" }); </a:t>
            </a:r>
          </a:p>
          <a:p>
            <a:r>
              <a:rPr lang="en-US" sz="1200" dirty="0"/>
              <a:t>        });</a:t>
            </a:r>
          </a:p>
          <a:p>
            <a:endParaRPr lang="en-US" sz="1200" dirty="0"/>
          </a:p>
          <a:p>
            <a:r>
              <a:rPr lang="en-US" sz="1200" dirty="0"/>
              <a:t>        // 4. "Hydrate" the identity with the full list</a:t>
            </a:r>
          </a:p>
          <a:p>
            <a:r>
              <a:rPr lang="en-US" sz="1200" dirty="0"/>
              <a:t>        foreach (var permission in permissions)</a:t>
            </a:r>
          </a:p>
          <a:p>
            <a:r>
              <a:rPr lang="en-US" sz="1200" dirty="0"/>
              <a:t>        {</a:t>
            </a:r>
          </a:p>
          <a:p>
            <a:r>
              <a:rPr lang="en-US" sz="1200" dirty="0"/>
              <a:t>            </a:t>
            </a:r>
            <a:r>
              <a:rPr lang="en-US" sz="1200" dirty="0" err="1"/>
              <a:t>newIdentity.AddClaim</a:t>
            </a:r>
            <a:r>
              <a:rPr lang="en-US" sz="1200" dirty="0"/>
              <a:t>(new Claim("perm", permission));</a:t>
            </a:r>
          </a:p>
          <a:p>
            <a:r>
              <a:rPr lang="en-US" sz="1200" dirty="0"/>
              <a:t>        }</a:t>
            </a:r>
          </a:p>
          <a:p>
            <a:endParaRPr lang="en-US" sz="1200" dirty="0"/>
          </a:p>
          <a:p>
            <a:r>
              <a:rPr lang="en-US" sz="1200" dirty="0"/>
              <a:t>        // Mark as loaded so we don't repeat this in the same request pipe</a:t>
            </a:r>
          </a:p>
          <a:p>
            <a:r>
              <a:rPr lang="en-US" sz="1200" dirty="0"/>
              <a:t>        </a:t>
            </a:r>
            <a:r>
              <a:rPr lang="en-US" sz="1200" dirty="0" err="1"/>
              <a:t>newIdentity.AddClaim</a:t>
            </a:r>
            <a:r>
              <a:rPr lang="en-US" sz="1200" dirty="0"/>
              <a:t>(new Claim("</a:t>
            </a:r>
            <a:r>
              <a:rPr lang="en-US" sz="1200" dirty="0" err="1"/>
              <a:t>permissions_loaded</a:t>
            </a:r>
            <a:r>
              <a:rPr lang="en-US" sz="1200" dirty="0"/>
              <a:t>", "true"));</a:t>
            </a:r>
          </a:p>
          <a:p>
            <a:endParaRPr lang="en-US" sz="1200" dirty="0"/>
          </a:p>
          <a:p>
            <a:r>
              <a:rPr lang="en-US" sz="1200" dirty="0"/>
              <a:t>        return clone;</a:t>
            </a:r>
          </a:p>
          <a:p>
            <a:r>
              <a:rPr lang="en-US" sz="1200" dirty="0"/>
              <a:t>    }</a:t>
            </a:r>
          </a:p>
          <a:p>
            <a:r>
              <a:rPr lang="en-US" sz="12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798771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F0DAC2-F734-BEF2-3254-C576A1A30E65}"/>
              </a:ext>
            </a:extLst>
          </p:cNvPr>
          <p:cNvSpPr txBox="1"/>
          <p:nvPr/>
        </p:nvSpPr>
        <p:spPr>
          <a:xfrm>
            <a:off x="601580" y="-83458"/>
            <a:ext cx="10840452" cy="8586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using </a:t>
            </a:r>
            <a:r>
              <a:rPr lang="en-US" sz="1200" dirty="0" err="1"/>
              <a:t>Microsoft.AspNetCore.Authentication.JwtBearer</a:t>
            </a:r>
            <a:r>
              <a:rPr lang="en-US" sz="1200" dirty="0"/>
              <a:t>;</a:t>
            </a:r>
          </a:p>
          <a:p>
            <a:r>
              <a:rPr lang="en-US" sz="1200" dirty="0"/>
              <a:t>using </a:t>
            </a:r>
            <a:r>
              <a:rPr lang="en-US" sz="1200" dirty="0" err="1"/>
              <a:t>Microsoft.IdentityModel.Tokens</a:t>
            </a:r>
            <a:r>
              <a:rPr lang="en-US" sz="1200" dirty="0"/>
              <a:t>;</a:t>
            </a:r>
          </a:p>
          <a:p>
            <a:r>
              <a:rPr lang="en-US" sz="1200" dirty="0"/>
              <a:t>using </a:t>
            </a:r>
            <a:r>
              <a:rPr lang="en-US" sz="1200" dirty="0" err="1"/>
              <a:t>System.Text</a:t>
            </a:r>
            <a:r>
              <a:rPr lang="en-US" sz="1200" dirty="0"/>
              <a:t>;</a:t>
            </a:r>
          </a:p>
          <a:p>
            <a:endParaRPr lang="en-US" sz="1200" dirty="0"/>
          </a:p>
          <a:p>
            <a:r>
              <a:rPr lang="en-US" sz="1200" dirty="0"/>
              <a:t>var builder = </a:t>
            </a:r>
            <a:r>
              <a:rPr lang="en-US" sz="1200" dirty="0" err="1"/>
              <a:t>WebApplication.CreateBuilder</a:t>
            </a:r>
            <a:r>
              <a:rPr lang="en-US" sz="1200" dirty="0"/>
              <a:t>(</a:t>
            </a:r>
            <a:r>
              <a:rPr lang="en-US" sz="1200" dirty="0" err="1"/>
              <a:t>args</a:t>
            </a:r>
            <a:r>
              <a:rPr lang="en-US" sz="1200" dirty="0"/>
              <a:t>);</a:t>
            </a:r>
          </a:p>
          <a:p>
            <a:endParaRPr lang="en-US" sz="1200" dirty="0"/>
          </a:p>
          <a:p>
            <a:r>
              <a:rPr lang="en-US" sz="1200" dirty="0"/>
              <a:t>// Add Caching</a:t>
            </a:r>
          </a:p>
          <a:p>
            <a:r>
              <a:rPr lang="en-US" sz="1200" dirty="0" err="1"/>
              <a:t>builder.Services.AddMemoryCache</a:t>
            </a:r>
            <a:r>
              <a:rPr lang="en-US" sz="1200" dirty="0"/>
              <a:t>();</a:t>
            </a:r>
          </a:p>
          <a:p>
            <a:endParaRPr lang="en-US" sz="1200" dirty="0"/>
          </a:p>
          <a:p>
            <a:r>
              <a:rPr lang="en-US" sz="1200" dirty="0"/>
              <a:t>// Register our Hydration Service</a:t>
            </a:r>
          </a:p>
          <a:p>
            <a:r>
              <a:rPr lang="en-US" sz="1200" dirty="0" err="1"/>
              <a:t>builder.Services.AddScoped</a:t>
            </a:r>
            <a:r>
              <a:rPr lang="en-US" sz="1200" dirty="0"/>
              <a:t>&lt;</a:t>
            </a:r>
            <a:r>
              <a:rPr lang="en-US" sz="1200" dirty="0" err="1"/>
              <a:t>IClaimsTransformation</a:t>
            </a:r>
            <a:r>
              <a:rPr lang="en-US" sz="1200" dirty="0"/>
              <a:t>, </a:t>
            </a:r>
            <a:r>
              <a:rPr lang="en-US" sz="1200" dirty="0" err="1"/>
              <a:t>TenantPermissionTransformer</a:t>
            </a:r>
            <a:r>
              <a:rPr lang="en-US" sz="1200" dirty="0"/>
              <a:t>&gt;();</a:t>
            </a:r>
          </a:p>
          <a:p>
            <a:endParaRPr lang="en-US" sz="1200" dirty="0"/>
          </a:p>
          <a:p>
            <a:r>
              <a:rPr lang="en-US" sz="1200" dirty="0" err="1"/>
              <a:t>builder.Services.AddAuthentication</a:t>
            </a:r>
            <a:r>
              <a:rPr lang="en-US" sz="1200" dirty="0"/>
              <a:t>(</a:t>
            </a:r>
            <a:r>
              <a:rPr lang="en-US" sz="1200" dirty="0" err="1"/>
              <a:t>JwtBearerDefaults.AuthenticationScheme</a:t>
            </a:r>
            <a:r>
              <a:rPr lang="en-US" sz="1200" dirty="0"/>
              <a:t>)</a:t>
            </a:r>
          </a:p>
          <a:p>
            <a:r>
              <a:rPr lang="en-US" sz="1200" dirty="0"/>
              <a:t>    .</a:t>
            </a:r>
            <a:r>
              <a:rPr lang="en-US" sz="1200" dirty="0" err="1"/>
              <a:t>AddJwtBearer</a:t>
            </a:r>
            <a:r>
              <a:rPr lang="en-US" sz="1200" dirty="0"/>
              <a:t>(options =&gt;</a:t>
            </a:r>
          </a:p>
          <a:p>
            <a:r>
              <a:rPr lang="en-US" sz="1200" dirty="0"/>
              <a:t>    {</a:t>
            </a:r>
          </a:p>
          <a:p>
            <a:r>
              <a:rPr lang="en-US" sz="1200" dirty="0"/>
              <a:t>        </a:t>
            </a:r>
            <a:r>
              <a:rPr lang="en-US" sz="1200" dirty="0" err="1"/>
              <a:t>options.TokenValidationParameters</a:t>
            </a:r>
            <a:r>
              <a:rPr lang="en-US" sz="1200" dirty="0"/>
              <a:t> = new </a:t>
            </a:r>
            <a:r>
              <a:rPr lang="en-US" sz="1200" dirty="0" err="1"/>
              <a:t>TokenValidationParameters</a:t>
            </a:r>
            <a:endParaRPr lang="en-US" sz="1200" dirty="0"/>
          </a:p>
          <a:p>
            <a:r>
              <a:rPr lang="en-US" sz="1200" dirty="0"/>
              <a:t>        {</a:t>
            </a:r>
          </a:p>
          <a:p>
            <a:r>
              <a:rPr lang="en-US" sz="1200" dirty="0"/>
              <a:t>            </a:t>
            </a:r>
            <a:r>
              <a:rPr lang="en-US" sz="1200" dirty="0" err="1"/>
              <a:t>ValidateIssuer</a:t>
            </a:r>
            <a:r>
              <a:rPr lang="en-US" sz="1200" dirty="0"/>
              <a:t> = true,</a:t>
            </a:r>
          </a:p>
          <a:p>
            <a:r>
              <a:rPr lang="en-US" sz="1200" dirty="0"/>
              <a:t>            </a:t>
            </a:r>
            <a:r>
              <a:rPr lang="en-US" sz="1200" dirty="0" err="1"/>
              <a:t>ValidIssuer</a:t>
            </a:r>
            <a:r>
              <a:rPr lang="en-US" sz="1200" dirty="0"/>
              <a:t> = "your-app-name",</a:t>
            </a:r>
          </a:p>
          <a:p>
            <a:r>
              <a:rPr lang="en-US" sz="1200" dirty="0"/>
              <a:t>            </a:t>
            </a:r>
            <a:r>
              <a:rPr lang="en-US" sz="1200" dirty="0" err="1"/>
              <a:t>ValidateAudience</a:t>
            </a:r>
            <a:r>
              <a:rPr lang="en-US" sz="1200" dirty="0"/>
              <a:t> = true,</a:t>
            </a:r>
          </a:p>
          <a:p>
            <a:r>
              <a:rPr lang="en-US" sz="1200" dirty="0"/>
              <a:t>            </a:t>
            </a:r>
            <a:r>
              <a:rPr lang="en-US" sz="1200" dirty="0" err="1"/>
              <a:t>ValidAudience</a:t>
            </a:r>
            <a:r>
              <a:rPr lang="en-US" sz="1200" dirty="0"/>
              <a:t> = "your-spa-client",</a:t>
            </a:r>
          </a:p>
          <a:p>
            <a:r>
              <a:rPr lang="en-US" sz="1200" dirty="0"/>
              <a:t>            </a:t>
            </a:r>
            <a:r>
              <a:rPr lang="en-US" sz="1200" dirty="0" err="1"/>
              <a:t>ValidateLifetime</a:t>
            </a:r>
            <a:r>
              <a:rPr lang="en-US" sz="1200" dirty="0"/>
              <a:t> = true,</a:t>
            </a:r>
          </a:p>
          <a:p>
            <a:r>
              <a:rPr lang="en-US" sz="1200" dirty="0"/>
              <a:t>            </a:t>
            </a:r>
            <a:r>
              <a:rPr lang="en-US" sz="1200" dirty="0" err="1"/>
              <a:t>IssuerSigningKey</a:t>
            </a:r>
            <a:r>
              <a:rPr lang="en-US" sz="1200" dirty="0"/>
              <a:t> = new </a:t>
            </a:r>
            <a:r>
              <a:rPr lang="en-US" sz="1200" dirty="0" err="1"/>
              <a:t>SymmetricSecurityKey</a:t>
            </a:r>
            <a:r>
              <a:rPr lang="en-US" sz="1200" dirty="0"/>
              <a:t>(</a:t>
            </a:r>
          </a:p>
          <a:p>
            <a:r>
              <a:rPr lang="en-US" sz="1200" dirty="0"/>
              <a:t>                Encoding.UTF8.GetBytes("YourSuperSecretKey_MustBeAtLeast32Chars!")),</a:t>
            </a:r>
          </a:p>
          <a:p>
            <a:r>
              <a:rPr lang="en-US" sz="1200" dirty="0"/>
              <a:t>            </a:t>
            </a:r>
            <a:r>
              <a:rPr lang="en-US" sz="1200" dirty="0" err="1"/>
              <a:t>ClockSkew</a:t>
            </a:r>
            <a:r>
              <a:rPr lang="en-US" sz="1200" dirty="0"/>
              <a:t> = </a:t>
            </a:r>
            <a:r>
              <a:rPr lang="en-US" sz="1200" dirty="0" err="1"/>
              <a:t>TimeSpan.Zero</a:t>
            </a:r>
            <a:endParaRPr lang="en-US" sz="1200" dirty="0"/>
          </a:p>
          <a:p>
            <a:r>
              <a:rPr lang="en-US" sz="1200" dirty="0"/>
              <a:t>        };</a:t>
            </a:r>
          </a:p>
          <a:p>
            <a:endParaRPr lang="en-US" sz="1200" dirty="0"/>
          </a:p>
          <a:p>
            <a:r>
              <a:rPr lang="en-US" sz="1200" dirty="0"/>
              <a:t>        // If the SPA sends the token in a COOKIE instead of a Header:</a:t>
            </a:r>
          </a:p>
          <a:p>
            <a:r>
              <a:rPr lang="en-US" sz="1200" dirty="0"/>
              <a:t>        </a:t>
            </a:r>
            <a:r>
              <a:rPr lang="en-US" sz="1200" dirty="0" err="1"/>
              <a:t>options.Events</a:t>
            </a:r>
            <a:r>
              <a:rPr lang="en-US" sz="1200" dirty="0"/>
              <a:t> = new </a:t>
            </a:r>
            <a:r>
              <a:rPr lang="en-US" sz="1200" dirty="0" err="1"/>
              <a:t>JwtBearerEvents</a:t>
            </a:r>
            <a:endParaRPr lang="en-US" sz="1200" dirty="0"/>
          </a:p>
          <a:p>
            <a:r>
              <a:rPr lang="en-US" sz="1200" dirty="0"/>
              <a:t>        {</a:t>
            </a:r>
          </a:p>
          <a:p>
            <a:r>
              <a:rPr lang="en-US" sz="1200" dirty="0"/>
              <a:t>            </a:t>
            </a:r>
            <a:r>
              <a:rPr lang="en-US" sz="1200" dirty="0" err="1"/>
              <a:t>OnMessageReceived</a:t>
            </a:r>
            <a:r>
              <a:rPr lang="en-US" sz="1200" dirty="0"/>
              <a:t> = context =&gt;</a:t>
            </a:r>
          </a:p>
          <a:p>
            <a:r>
              <a:rPr lang="en-US" sz="1200" dirty="0"/>
              <a:t>            {</a:t>
            </a:r>
          </a:p>
          <a:p>
            <a:r>
              <a:rPr lang="en-US" sz="1200" dirty="0"/>
              <a:t>                </a:t>
            </a:r>
            <a:r>
              <a:rPr lang="en-US" sz="1200" dirty="0" err="1"/>
              <a:t>context.Token</a:t>
            </a:r>
            <a:r>
              <a:rPr lang="en-US" sz="1200" dirty="0"/>
              <a:t> = </a:t>
            </a:r>
            <a:r>
              <a:rPr lang="en-US" sz="1200" dirty="0" err="1"/>
              <a:t>context.Request.Cookies</a:t>
            </a:r>
            <a:r>
              <a:rPr lang="en-US" sz="1200" dirty="0"/>
              <a:t>["</a:t>
            </a:r>
            <a:r>
              <a:rPr lang="en-US" sz="1200" dirty="0" err="1"/>
              <a:t>UserTenantToken</a:t>
            </a:r>
            <a:r>
              <a:rPr lang="en-US" sz="1200" dirty="0"/>
              <a:t>"];</a:t>
            </a:r>
          </a:p>
          <a:p>
            <a:r>
              <a:rPr lang="en-US" sz="1200" dirty="0"/>
              <a:t>                return </a:t>
            </a:r>
            <a:r>
              <a:rPr lang="en-US" sz="1200" dirty="0" err="1"/>
              <a:t>Task.CompletedTask</a:t>
            </a:r>
            <a:r>
              <a:rPr lang="en-US" sz="1200" dirty="0"/>
              <a:t>;</a:t>
            </a:r>
          </a:p>
          <a:p>
            <a:r>
              <a:rPr lang="en-US" sz="1200" dirty="0"/>
              <a:t>            }</a:t>
            </a:r>
          </a:p>
          <a:p>
            <a:r>
              <a:rPr lang="en-US" sz="1200" dirty="0"/>
              <a:t>        };</a:t>
            </a:r>
          </a:p>
          <a:p>
            <a:r>
              <a:rPr lang="en-US" sz="1200" dirty="0"/>
              <a:t>    });</a:t>
            </a:r>
          </a:p>
          <a:p>
            <a:endParaRPr lang="en-US" sz="1200" dirty="0"/>
          </a:p>
          <a:p>
            <a:r>
              <a:rPr lang="en-US" sz="1200" dirty="0" err="1"/>
              <a:t>builder.Services.AddAuthorization</a:t>
            </a:r>
            <a:r>
              <a:rPr lang="en-US" sz="1200" dirty="0"/>
              <a:t>();</a:t>
            </a:r>
          </a:p>
          <a:p>
            <a:endParaRPr lang="en-US" sz="1200" dirty="0"/>
          </a:p>
          <a:p>
            <a:r>
              <a:rPr lang="en-US" sz="1200" dirty="0"/>
              <a:t>var app = </a:t>
            </a:r>
            <a:r>
              <a:rPr lang="en-US" sz="1200" dirty="0" err="1"/>
              <a:t>builder.Build</a:t>
            </a:r>
            <a:r>
              <a:rPr lang="en-US" sz="1200" dirty="0"/>
              <a:t>();</a:t>
            </a:r>
          </a:p>
          <a:p>
            <a:endParaRPr lang="en-US" sz="1200" dirty="0"/>
          </a:p>
          <a:p>
            <a:r>
              <a:rPr lang="en-US" sz="1200" dirty="0" err="1"/>
              <a:t>app.UseAuthentication</a:t>
            </a:r>
            <a:r>
              <a:rPr lang="en-US" sz="1200" dirty="0"/>
              <a:t>();</a:t>
            </a:r>
          </a:p>
          <a:p>
            <a:r>
              <a:rPr lang="en-US" sz="1200" dirty="0" err="1"/>
              <a:t>app.UseAuthorization</a:t>
            </a:r>
            <a:r>
              <a:rPr lang="en-US" sz="1200" dirty="0"/>
              <a:t>();</a:t>
            </a:r>
          </a:p>
          <a:p>
            <a:endParaRPr lang="en-US" sz="1200" dirty="0"/>
          </a:p>
          <a:p>
            <a:r>
              <a:rPr lang="en-US" sz="1200" dirty="0"/>
              <a:t>// ... rest of your pipeline</a:t>
            </a:r>
          </a:p>
        </p:txBody>
      </p:sp>
    </p:spTree>
    <p:extLst>
      <p:ext uri="{BB962C8B-B14F-4D97-AF65-F5344CB8AC3E}">
        <p14:creationId xmlns:p14="http://schemas.microsoft.com/office/powerpoint/2010/main" val="33533634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95C4FE-0694-F07D-8FB7-FCA37E8945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69903"/>
            <a:ext cx="6093994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Here are the steps that were applied to transform the small icon into the more complex figure, exactly as shown in the deck.</a:t>
            </a: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1. Login → Create a minimal identity (the “small icon”)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At login time, the system intentionally creates a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very small JWT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with only essential identifiers: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User identifier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Tenant identifier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Auth provider identifier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This keeps the token tiny (≈500 bytes) and avoids embedding roles or permissions up front.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The result is a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lightweight authentication cookie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with no authorization data yet.</a:t>
            </a: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2. Request → SPA sends only the minimal token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When the SPA calls the API: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The browser sends the small cookie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Network traffic stays light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No role or permission data is transmitted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At this point, the identity is authenticated but still not “enriched.”</a:t>
            </a: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3. Auth → JWT signature validation only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The authentication middleware: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Validates the JWT signature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Confirms issuer, audience, and lifetime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Establishes that the user is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who they claim to be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Importantly,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no roles or permissions are checked yet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. The identity is valid but intentionally incomplete.</a:t>
            </a: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9AE504-B321-9615-AB4A-BF6B26BDF78F}"/>
              </a:ext>
            </a:extLst>
          </p:cNvPr>
          <p:cNvSpPr txBox="1"/>
          <p:nvPr/>
        </p:nvSpPr>
        <p:spPr>
          <a:xfrm>
            <a:off x="6096000" y="2166522"/>
            <a:ext cx="609399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4. Hydrate → Transform the identity (key transformation step)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This is where the visual transformation happens.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 claims transformation step 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cs typeface="Segoe UI" panose="020B0502040204020203" pitchFamily="34" charset="0"/>
              </a:rPr>
              <a:t>TenantPermissionTransformer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) runs: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Reads the minimal claims 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UserId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TenantId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Looks up permissions for that user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in that tenant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Uses in‑memory cache (RAM) to avoid database hits after first load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Injects the full permission/role claims into the identity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After this step, the identity is now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fully hydrated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and context‑aware.</a:t>
            </a: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5. Action → Authorization now works with the enriched identity (the “complex figure”)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Finally: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Standard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cs typeface="Segoe UI" panose="020B0502040204020203" pitchFamily="34" charset="0"/>
              </a:rPr>
              <a:t>[Authorize(Roles = "Admin")]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or permission checks run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They succeed because the identity now contains full role data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Performance remains high (zero DB hits after cache warm‑up)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This final state is what the “complex figure on the right” represents: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rich, tenant‑aware, permission‑complete identity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built from a tiny starting token.</a:t>
            </a: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In short (visual metaphor)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Left icon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: Minimal JWT → authenticated but empty identity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Middle steps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: Validation + claims transformation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Right figure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: Fully hydrated identity → roles, permissions, tenant context </a:t>
            </a:r>
          </a:p>
        </p:txBody>
      </p:sp>
    </p:spTree>
    <p:extLst>
      <p:ext uri="{BB962C8B-B14F-4D97-AF65-F5344CB8AC3E}">
        <p14:creationId xmlns:p14="http://schemas.microsoft.com/office/powerpoint/2010/main" val="33855910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2777</TotalTime>
  <Words>1687</Words>
  <Application>Microsoft Office PowerPoint</Application>
  <PresentationFormat>Widescreen</PresentationFormat>
  <Paragraphs>241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6" baseType="lpstr">
      <vt:lpstr>Aptos</vt:lpstr>
      <vt:lpstr>Aptos Display</vt:lpstr>
      <vt:lpstr>Arial</vt:lpstr>
      <vt:lpstr>Arial Unicode MS</vt:lpstr>
      <vt:lpstr>Courier New</vt:lpstr>
      <vt:lpstr>Google Sans</vt:lpstr>
      <vt:lpstr>Google Sans Text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Suzette Antony</dc:creator>
  <cp:lastModifiedBy>Suzette Antony</cp:lastModifiedBy>
  <cp:revision>9</cp:revision>
  <dcterms:created xsi:type="dcterms:W3CDTF">2026-03-11T12:38:46Z</dcterms:created>
  <dcterms:modified xsi:type="dcterms:W3CDTF">2026-04-02T12:00:00Z</dcterms:modified>
</cp:coreProperties>
</file>