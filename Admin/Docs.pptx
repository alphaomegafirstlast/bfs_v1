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0" autoAdjust="0"/>
    <p:restoredTop sz="94660"/>
  </p:normalViewPr>
  <p:slideViewPr>
    <p:cSldViewPr snapToGrid="0">
      <p:cViewPr varScale="1">
        <p:scale>
          <a:sx n="53" d="100"/>
          <a:sy n="53" d="100"/>
        </p:scale>
        <p:origin x="1168" y="2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AC1C6E-F090-64B1-E943-BFF5B3EED18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A9B47F2-204D-712B-0B82-E58DF83241D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2C3B20C-9960-C85E-FFD3-C5F3BB5604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D74501-8691-4646-B472-1139202FB98B}" type="datetimeFigureOut">
              <a:rPr lang="en-US" smtClean="0"/>
              <a:t>3/11/2026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1D2AE04-6F98-FBF1-96D9-E719D3452B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F7E449C-BFA5-082F-5348-C95E0E9DB5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E37E9F-3903-4106-AC98-76A5037B0CC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241794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41A8BB-9829-126F-DE73-9197B8E4C6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D53BE76-CB62-45D4-EA18-AC8846DA3E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4F1DC9A-0EDD-A77E-940D-A5F868D1DE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D74501-8691-4646-B472-1139202FB98B}" type="datetimeFigureOut">
              <a:rPr lang="en-US" smtClean="0"/>
              <a:t>3/11/2026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263C72B-08DD-3C52-DE8F-E9F73A67B6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F512C9B-44B2-9FD9-95F1-504B556AD3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E37E9F-3903-4106-AC98-76A5037B0CC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464848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724808-7B16-50BC-4DFF-6B740BC7F2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C4BD912-BD28-B4DB-C070-C8C9F6AD662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3F07A92-622F-65BD-CEE9-95FC58A60D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D74501-8691-4646-B472-1139202FB98B}" type="datetimeFigureOut">
              <a:rPr lang="en-US" smtClean="0"/>
              <a:t>3/11/2026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E812131-3789-0A29-AF9F-52D1F3834A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48EB82B-D298-D604-FDFC-F344873794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E37E9F-3903-4106-AC98-76A5037B0CC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465144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E6A2E3-0F2F-8D66-35A7-62F09E1C0F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71CA1C-827C-1EDE-2F30-3A66694E0EC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E6EF4D3-3C92-8E2B-1605-006DD0D9E24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1CFAABF-D8F7-F49C-1685-54E430E5CA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D74501-8691-4646-B472-1139202FB98B}" type="datetimeFigureOut">
              <a:rPr lang="en-US" smtClean="0"/>
              <a:t>3/11/2026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12F5EBA-6BCA-3620-2C39-4DBEFE2F84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552E62-71F5-E388-C77F-E08FB6365E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E37E9F-3903-4106-AC98-76A5037B0CC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359995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3C243D-BE8B-6BAA-87DE-382EAFDF03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F9CA77F-890F-B7F7-003C-BD0305A8F79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CB745DC-BE58-4E60-4BD5-A2988B1A8FD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1A1485C-C2C5-DAEC-EE36-F6FB4B48D94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48A06AE-A2E1-3D1C-ED77-5A35D463D0D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735B976-526F-2316-38BA-A71AA61354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D74501-8691-4646-B472-1139202FB98B}" type="datetimeFigureOut">
              <a:rPr lang="en-US" smtClean="0"/>
              <a:t>3/11/2026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82C9E70-D69E-1FFE-43FE-2E79D0D3EB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2677917-5193-6128-B589-E3C54E1559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E37E9F-3903-4106-AC98-76A5037B0CC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583791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741838-977A-CA8D-83AF-C6EBA1CDE1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FECF4E9-B39E-F6CC-2197-EC3022E835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D74501-8691-4646-B472-1139202FB98B}" type="datetimeFigureOut">
              <a:rPr lang="en-US" smtClean="0"/>
              <a:t>3/11/2026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50C42C-BAC9-38ED-0062-6EBF05E797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5E5CDFE-EB4C-727B-CE6F-8863A4C1A0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E37E9F-3903-4106-AC98-76A5037B0CC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438979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44D15AF-C0AC-56A3-C887-1C35EFB722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D74501-8691-4646-B472-1139202FB98B}" type="datetimeFigureOut">
              <a:rPr lang="en-US" smtClean="0"/>
              <a:t>3/11/2026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4D8F222-B4EB-4A29-263D-9C44D6E599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022D74E-1EA9-EFF3-7F3F-16F8BA276E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E37E9F-3903-4106-AC98-76A5037B0CC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578934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03D3CE-D3B5-6929-5372-996575904B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452619-DA5C-7BFF-1CAC-DB1ACD0254E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B1795C3-3A1D-E50F-BE37-66EEBE34F7E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D4BFD92-163E-038D-81F0-1FC5292F4F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D74501-8691-4646-B472-1139202FB98B}" type="datetimeFigureOut">
              <a:rPr lang="en-US" smtClean="0"/>
              <a:t>3/11/2026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A484D3C-F211-5C61-1594-4A7D8D5EDE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281F566-4237-2B0F-C3AB-D6D02404D3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E37E9F-3903-4106-AC98-76A5037B0CC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67901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5718F4-06A4-ADED-7A7B-D559E6F26F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99DFFD0-631F-263D-63AB-9D6DDF6CCD4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5FCE890-CCDE-CEF9-EDCF-ACA9AF8F340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75095D2-B3BE-E3BB-BDAD-FC82292C6C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D74501-8691-4646-B472-1139202FB98B}" type="datetimeFigureOut">
              <a:rPr lang="en-US" smtClean="0"/>
              <a:t>3/11/2026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2D595E5-89DB-9E53-C88E-A3DA10AE14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11745D1-EF09-42A5-42B9-BA5494C540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E37E9F-3903-4106-AC98-76A5037B0CC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338347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662969-A623-73B9-579F-5DB9ACD850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C6799E0-2FC6-864B-6B11-65107502108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3A33CB2-C7A9-37B3-B385-5DBB335DA7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D74501-8691-4646-B472-1139202FB98B}" type="datetimeFigureOut">
              <a:rPr lang="en-US" smtClean="0"/>
              <a:t>3/11/2026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BF9C24-5274-AA81-5B36-A111228A09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73F1C5-D2CF-77B6-858E-266296E048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E37E9F-3903-4106-AC98-76A5037B0CC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239730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7256C3C-D1D0-E91F-79B2-E0532E7A55A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924849C-1C86-8909-E0AE-EFB963A6C0E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366FBCE-755D-0FFD-4943-8210141BCD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D74501-8691-4646-B472-1139202FB98B}" type="datetimeFigureOut">
              <a:rPr lang="en-US" smtClean="0"/>
              <a:t>3/11/2026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ACCD775-5148-FDE6-1AB6-EA71663366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CD3B8D1-2E0E-F4FA-E055-7C62344ACF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E37E9F-3903-4106-AC98-76A5037B0CC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076439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8BCB974-091A-7740-5BAB-ACD27B38EF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1E9B4EB-1C06-2CE8-DACB-81CC5F80953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EDBFEFE-41AD-3593-61D6-5C5EDA2FF13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AD74501-8691-4646-B472-1139202FB98B}" type="datetimeFigureOut">
              <a:rPr lang="en-US" smtClean="0"/>
              <a:t>3/11/2026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FA31143-16BA-57CC-DEDD-15DA10A52AA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EDDD248-CABF-64A3-5A7E-E5D1D050CE0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4E37E9F-3903-4106-AC98-76A5037B0CC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87168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36A604B6-864E-1810-6AC0-27E957569A6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28511130"/>
              </p:ext>
            </p:extLst>
          </p:nvPr>
        </p:nvGraphicFramePr>
        <p:xfrm>
          <a:off x="493296" y="577514"/>
          <a:ext cx="10860504" cy="5069700"/>
        </p:xfrm>
        <a:graphic>
          <a:graphicData uri="http://schemas.openxmlformats.org/drawingml/2006/table">
            <a:tbl>
              <a:tblPr/>
              <a:tblGrid>
                <a:gridCol w="3620168">
                  <a:extLst>
                    <a:ext uri="{9D8B030D-6E8A-4147-A177-3AD203B41FA5}">
                      <a16:colId xmlns:a16="http://schemas.microsoft.com/office/drawing/2014/main" val="3192037608"/>
                    </a:ext>
                  </a:extLst>
                </a:gridCol>
                <a:gridCol w="3620168">
                  <a:extLst>
                    <a:ext uri="{9D8B030D-6E8A-4147-A177-3AD203B41FA5}">
                      <a16:colId xmlns:a16="http://schemas.microsoft.com/office/drawing/2014/main" val="1244275772"/>
                    </a:ext>
                  </a:extLst>
                </a:gridCol>
                <a:gridCol w="3620168">
                  <a:extLst>
                    <a:ext uri="{9D8B030D-6E8A-4147-A177-3AD203B41FA5}">
                      <a16:colId xmlns:a16="http://schemas.microsoft.com/office/drawing/2014/main" val="1218636775"/>
                    </a:ext>
                  </a:extLst>
                </a:gridCol>
              </a:tblGrid>
              <a:tr h="5633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>
                          <a:effectLst/>
                          <a:latin typeface="Google Sans Text"/>
                        </a:rPr>
                        <a:t>Step</a:t>
                      </a:r>
                      <a:endParaRPr lang="en-US">
                        <a:effectLst/>
                        <a:latin typeface="Google Sans Text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>
                          <a:effectLst/>
                          <a:latin typeface="Google Sans Text"/>
                        </a:rPr>
                        <a:t>Action</a:t>
                      </a:r>
                      <a:endParaRPr lang="en-US">
                        <a:effectLst/>
                        <a:latin typeface="Google Sans Text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>
                          <a:effectLst/>
                          <a:latin typeface="Google Sans Text"/>
                        </a:rPr>
                        <a:t>Result</a:t>
                      </a:r>
                      <a:endParaRPr lang="en-US">
                        <a:effectLst/>
                        <a:latin typeface="Google Sans Text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80671063"/>
                  </a:ext>
                </a:extLst>
              </a:tr>
              <a:tr h="5633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>
                          <a:effectLst/>
                          <a:latin typeface="Google Sans Text"/>
                        </a:rPr>
                        <a:t>Login</a:t>
                      </a:r>
                      <a:endParaRPr lang="en-US">
                        <a:effectLst/>
                        <a:latin typeface="Google Sans Text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effectLst/>
                          <a:latin typeface="Google Sans Text"/>
                        </a:rPr>
                        <a:t>Razor Page generates minimal JWT.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effectLst/>
                          <a:latin typeface="Google Sans Text"/>
                        </a:rPr>
                        <a:t>Small Cookie (~500 bytes).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8538428"/>
                  </a:ext>
                </a:extLst>
              </a:tr>
              <a:tr h="98577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>
                          <a:effectLst/>
                          <a:latin typeface="Google Sans Text"/>
                        </a:rPr>
                        <a:t>Request</a:t>
                      </a:r>
                      <a:endParaRPr lang="en-US">
                        <a:effectLst/>
                        <a:latin typeface="Google Sans Text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U">
                          <a:effectLst/>
                          <a:latin typeface="Google Sans Text"/>
                        </a:rPr>
                        <a:t>SPA calls API; Browser sends Cookie.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effectLst/>
                          <a:latin typeface="Google Sans Text"/>
                        </a:rPr>
                        <a:t>Network traffic remains light.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27342452"/>
                  </a:ext>
                </a:extLst>
              </a:tr>
              <a:tr h="98577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>
                          <a:effectLst/>
                          <a:latin typeface="Google Sans Text"/>
                        </a:rPr>
                        <a:t>Auth</a:t>
                      </a:r>
                      <a:endParaRPr lang="en-US">
                        <a:effectLst/>
                        <a:latin typeface="Google Sans Text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effectLst/>
                          <a:latin typeface="Google Sans Text"/>
                        </a:rPr>
                        <a:t>Middleware validates JWT Signature.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U">
                          <a:effectLst/>
                          <a:latin typeface="Google Sans Text"/>
                        </a:rPr>
                        <a:t>Identity is verified (but has no roles).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97351993"/>
                  </a:ext>
                </a:extLst>
              </a:tr>
              <a:tr h="98577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>
                          <a:effectLst/>
                          <a:latin typeface="Google Sans Text"/>
                        </a:rPr>
                        <a:t>Hydrate</a:t>
                      </a:r>
                      <a:endParaRPr lang="en-US">
                        <a:effectLst/>
                        <a:latin typeface="Google Sans Text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effectLst/>
                          <a:latin typeface="Google Sans Text"/>
                        </a:rPr>
                        <a:t>TenantPermissionTransformer runs.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U">
                          <a:effectLst/>
                          <a:latin typeface="Google Sans Text"/>
                        </a:rPr>
                        <a:t>Identity now has full roles from RAM/Cache.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89335751"/>
                  </a:ext>
                </a:extLst>
              </a:tr>
              <a:tr h="98577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>
                          <a:effectLst/>
                          <a:latin typeface="Google Sans Text"/>
                        </a:rPr>
                        <a:t>Action</a:t>
                      </a:r>
                      <a:endParaRPr lang="en-US">
                        <a:effectLst/>
                        <a:latin typeface="Google Sans Text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U">
                          <a:effectLst/>
                          <a:latin typeface="Google Sans Text"/>
                        </a:rPr>
                        <a:t>[Authorize(Roles="Admin")] checks work.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U" dirty="0">
                          <a:effectLst/>
                          <a:latin typeface="Google Sans Text"/>
                        </a:rPr>
                        <a:t>High performance, zero DB hits (after first load).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84563525"/>
                  </a:ext>
                </a:extLst>
              </a:tr>
            </a:tbl>
          </a:graphicData>
        </a:graphic>
      </p:graphicFrame>
      <p:sp>
        <p:nvSpPr>
          <p:cNvPr id="5" name="Rectangle 1">
            <a:extLst>
              <a:ext uri="{FF2B5EF4-FFF2-40B4-BE49-F238E27FC236}">
                <a16:creationId xmlns:a16="http://schemas.microsoft.com/office/drawing/2014/main" id="{864D2BCA-9A93-7095-D07E-91BE6131E0AA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8310" y="117342"/>
            <a:ext cx="7466437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0" rIns="91440" bIns="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"/>
              </a:rPr>
              <a:t>Summary of the Flow</a:t>
            </a:r>
          </a:p>
        </p:txBody>
      </p:sp>
    </p:spTree>
    <p:extLst>
      <p:ext uri="{BB962C8B-B14F-4D97-AF65-F5344CB8AC3E}">
        <p14:creationId xmlns:p14="http://schemas.microsoft.com/office/powerpoint/2010/main" val="401651416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CAECD7E4-ABA8-87DA-53DA-22139D7B232B}"/>
              </a:ext>
            </a:extLst>
          </p:cNvPr>
          <p:cNvSpPr/>
          <p:nvPr/>
        </p:nvSpPr>
        <p:spPr>
          <a:xfrm>
            <a:off x="8229600" y="1816761"/>
            <a:ext cx="2947737" cy="77160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dirty="0"/>
              <a:t>Auth Api</a:t>
            </a:r>
            <a:endParaRPr lang="en-US" dirty="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6D4DAE5B-B2F5-1024-911B-46E515755CB8}"/>
              </a:ext>
            </a:extLst>
          </p:cNvPr>
          <p:cNvSpPr/>
          <p:nvPr/>
        </p:nvSpPr>
        <p:spPr>
          <a:xfrm>
            <a:off x="212555" y="665368"/>
            <a:ext cx="2947737" cy="78205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dirty="0"/>
              <a:t>Razor Page</a:t>
            </a:r>
          </a:p>
          <a:p>
            <a:pPr algn="ctr"/>
            <a:r>
              <a:rPr lang="en-AU" dirty="0" err="1"/>
              <a:t>Identity.Web</a:t>
            </a:r>
            <a:endParaRPr lang="en-US" dirty="0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DF1E5331-6B3B-19F4-AF2B-41FBF73BF830}"/>
              </a:ext>
            </a:extLst>
          </p:cNvPr>
          <p:cNvSpPr/>
          <p:nvPr/>
        </p:nvSpPr>
        <p:spPr>
          <a:xfrm>
            <a:off x="212554" y="5169567"/>
            <a:ext cx="2947737" cy="771607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dirty="0"/>
              <a:t>SPA</a:t>
            </a:r>
            <a:endParaRPr lang="en-US" dirty="0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18DC1DAB-57B3-B86C-179E-71626A50A062}"/>
              </a:ext>
            </a:extLst>
          </p:cNvPr>
          <p:cNvSpPr/>
          <p:nvPr/>
        </p:nvSpPr>
        <p:spPr>
          <a:xfrm>
            <a:off x="9192130" y="5177975"/>
            <a:ext cx="2947737" cy="77160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dirty="0"/>
              <a:t>Stores Api</a:t>
            </a:r>
            <a:endParaRPr lang="en-US" dirty="0"/>
          </a:p>
        </p:txBody>
      </p:sp>
      <p:sp>
        <p:nvSpPr>
          <p:cNvPr id="6" name="Cylinder 5">
            <a:extLst>
              <a:ext uri="{FF2B5EF4-FFF2-40B4-BE49-F238E27FC236}">
                <a16:creationId xmlns:a16="http://schemas.microsoft.com/office/drawing/2014/main" id="{59BB86B9-297F-5EA8-2F16-28830FD20E3E}"/>
              </a:ext>
            </a:extLst>
          </p:cNvPr>
          <p:cNvSpPr/>
          <p:nvPr/>
        </p:nvSpPr>
        <p:spPr>
          <a:xfrm>
            <a:off x="9231230" y="547787"/>
            <a:ext cx="2418347" cy="1017215"/>
          </a:xfrm>
          <a:prstGeom prst="can">
            <a:avLst>
              <a:gd name="adj" fmla="val 19625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dirty="0" err="1"/>
              <a:t>BestFit</a:t>
            </a:r>
            <a:endParaRPr lang="en-AU" dirty="0"/>
          </a:p>
          <a:p>
            <a:pPr algn="ctr"/>
            <a:r>
              <a:rPr lang="en-AU" dirty="0" err="1"/>
              <a:t>ASP.NetUsers</a:t>
            </a:r>
            <a:endParaRPr lang="en-US" dirty="0"/>
          </a:p>
        </p:txBody>
      </p:sp>
      <p:cxnSp>
        <p:nvCxnSpPr>
          <p:cNvPr id="10" name="Connector: Elbow 9">
            <a:extLst>
              <a:ext uri="{FF2B5EF4-FFF2-40B4-BE49-F238E27FC236}">
                <a16:creationId xmlns:a16="http://schemas.microsoft.com/office/drawing/2014/main" id="{303A1308-A8F8-C4B2-CBCB-82A8268A34EB}"/>
              </a:ext>
            </a:extLst>
          </p:cNvPr>
          <p:cNvCxnSpPr>
            <a:cxnSpLocks/>
            <a:stCxn id="6" idx="2"/>
            <a:endCxn id="3" idx="3"/>
          </p:cNvCxnSpPr>
          <p:nvPr/>
        </p:nvCxnSpPr>
        <p:spPr>
          <a:xfrm rot="10800000">
            <a:off x="3160292" y="1056395"/>
            <a:ext cx="6070938" cy="12700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: Elbow 13">
            <a:extLst>
              <a:ext uri="{FF2B5EF4-FFF2-40B4-BE49-F238E27FC236}">
                <a16:creationId xmlns:a16="http://schemas.microsoft.com/office/drawing/2014/main" id="{D777D17A-F0D2-703D-2B06-59573D3E810A}"/>
              </a:ext>
            </a:extLst>
          </p:cNvPr>
          <p:cNvCxnSpPr>
            <a:cxnSpLocks/>
            <a:stCxn id="3" idx="0"/>
            <a:endCxn id="6" idx="1"/>
          </p:cNvCxnSpPr>
          <p:nvPr/>
        </p:nvCxnSpPr>
        <p:spPr>
          <a:xfrm rot="5400000" flipH="1" flipV="1">
            <a:off x="6004624" y="-3770412"/>
            <a:ext cx="117581" cy="8753980"/>
          </a:xfrm>
          <a:prstGeom prst="bentConnector3">
            <a:avLst>
              <a:gd name="adj1" fmla="val 294419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A2FD12D8-D9E3-7DE8-F053-0EFE15826489}"/>
              </a:ext>
            </a:extLst>
          </p:cNvPr>
          <p:cNvSpPr txBox="1"/>
          <p:nvPr/>
        </p:nvSpPr>
        <p:spPr>
          <a:xfrm>
            <a:off x="3910262" y="-5"/>
            <a:ext cx="579320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600" dirty="0"/>
              <a:t>1- </a:t>
            </a:r>
            <a:r>
              <a:rPr lang="en-AU" sz="1600" dirty="0" err="1"/>
              <a:t>AspNetUser</a:t>
            </a:r>
            <a:r>
              <a:rPr lang="en-AU" sz="1600" dirty="0"/>
              <a:t>  Login (create login in </a:t>
            </a:r>
            <a:r>
              <a:rPr lang="en-AU" sz="1600" dirty="0" err="1"/>
              <a:t>bestfit</a:t>
            </a:r>
            <a:r>
              <a:rPr lang="en-AU" sz="1600" dirty="0"/>
              <a:t> database)</a:t>
            </a:r>
            <a:br>
              <a:rPr lang="en-AU" sz="1600" dirty="0"/>
            </a:br>
            <a:r>
              <a:rPr lang="en-AU" sz="1600" dirty="0"/>
              <a:t>This login is to be linked later to a user in the tenant database</a:t>
            </a:r>
            <a:endParaRPr lang="en-US" sz="1600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8AADFA4-829F-B1D5-C1D9-21D29D0A92B0}"/>
              </a:ext>
            </a:extLst>
          </p:cNvPr>
          <p:cNvSpPr txBox="1"/>
          <p:nvPr/>
        </p:nvSpPr>
        <p:spPr>
          <a:xfrm>
            <a:off x="1686422" y="2318455"/>
            <a:ext cx="644692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600" dirty="0"/>
              <a:t>4- </a:t>
            </a:r>
            <a:r>
              <a:rPr lang="en-AU" sz="1600" dirty="0" err="1"/>
              <a:t>AspNetUserId-TenantId-AuthUserId</a:t>
            </a:r>
            <a:r>
              <a:rPr lang="en-AU" sz="1600" dirty="0"/>
              <a:t>  </a:t>
            </a:r>
            <a:r>
              <a:rPr lang="en-AU" sz="1600" dirty="0" err="1"/>
              <a:t>accessToken</a:t>
            </a:r>
            <a:endParaRPr lang="en-AU" sz="1600" dirty="0"/>
          </a:p>
          <a:p>
            <a:r>
              <a:rPr lang="en-AU" sz="1600" dirty="0"/>
              <a:t>5- </a:t>
            </a:r>
            <a:r>
              <a:rPr lang="en-AU" sz="1600" dirty="0" err="1"/>
              <a:t>JwtToken</a:t>
            </a:r>
            <a:r>
              <a:rPr lang="en-AU" sz="1600" dirty="0"/>
              <a:t>: </a:t>
            </a:r>
            <a:r>
              <a:rPr lang="en-AU" sz="1600" dirty="0" err="1"/>
              <a:t>AuthUserId</a:t>
            </a:r>
            <a:r>
              <a:rPr lang="en-AU" sz="1600" dirty="0"/>
              <a:t>, </a:t>
            </a:r>
            <a:r>
              <a:rPr lang="en-AU" sz="1600" dirty="0" err="1"/>
              <a:t>RoleIds</a:t>
            </a:r>
            <a:r>
              <a:rPr lang="en-AU" sz="1600" dirty="0"/>
              <a:t>, </a:t>
            </a:r>
            <a:r>
              <a:rPr lang="en-AU" sz="1600" dirty="0" err="1"/>
              <a:t>appIds</a:t>
            </a:r>
            <a:r>
              <a:rPr lang="en-AU" sz="1600" dirty="0"/>
              <a:t>, methods.</a:t>
            </a:r>
          </a:p>
          <a:p>
            <a:r>
              <a:rPr lang="en-AU" sz="1600" dirty="0"/>
              <a:t> - Same </a:t>
            </a:r>
            <a:r>
              <a:rPr lang="en-AU" sz="1600" dirty="0" err="1"/>
              <a:t>accessToken</a:t>
            </a:r>
            <a:r>
              <a:rPr lang="en-AU" sz="1600" dirty="0"/>
              <a:t> but </a:t>
            </a:r>
            <a:r>
              <a:rPr lang="en-AU" sz="1600" dirty="0" err="1"/>
              <a:t>HttpOnly</a:t>
            </a:r>
            <a:r>
              <a:rPr lang="en-AU" sz="1600" dirty="0"/>
              <a:t> as refresh token with more lifetime</a:t>
            </a:r>
            <a:endParaRPr lang="en-US" sz="1600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F1672D9-B5D7-0A5F-FE6E-9857DFEA5471}"/>
              </a:ext>
            </a:extLst>
          </p:cNvPr>
          <p:cNvSpPr txBox="1"/>
          <p:nvPr/>
        </p:nvSpPr>
        <p:spPr>
          <a:xfrm>
            <a:off x="3008633" y="1803183"/>
            <a:ext cx="295561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AU" sz="1600" dirty="0"/>
              <a:t>3- </a:t>
            </a:r>
            <a:r>
              <a:rPr lang="en-AU" sz="1600" dirty="0" err="1"/>
              <a:t>ASPNetUser</a:t>
            </a:r>
            <a:r>
              <a:rPr lang="en-AU" sz="1600" dirty="0"/>
              <a:t> Selects a tenant</a:t>
            </a:r>
            <a:endParaRPr lang="en-US" sz="16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3C152B0-7EF7-2B3B-76DF-F690849E5C2A}"/>
              </a:ext>
            </a:extLst>
          </p:cNvPr>
          <p:cNvSpPr txBox="1"/>
          <p:nvPr/>
        </p:nvSpPr>
        <p:spPr>
          <a:xfrm>
            <a:off x="4241487" y="1053280"/>
            <a:ext cx="358867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AU" sz="1600" dirty="0"/>
              <a:t>2- </a:t>
            </a:r>
            <a:r>
              <a:rPr lang="en-AU" sz="1600" dirty="0" err="1"/>
              <a:t>AspNetUser</a:t>
            </a:r>
            <a:r>
              <a:rPr lang="en-AU" sz="1600" dirty="0"/>
              <a:t> claims carry its Tenants</a:t>
            </a:r>
          </a:p>
          <a:p>
            <a:pPr algn="ctr"/>
            <a:r>
              <a:rPr lang="en-AU" sz="1600" dirty="0"/>
              <a:t>(That is done be the link operation)</a:t>
            </a:r>
            <a:endParaRPr lang="en-US" sz="1600" dirty="0"/>
          </a:p>
        </p:txBody>
      </p:sp>
      <p:cxnSp>
        <p:nvCxnSpPr>
          <p:cNvPr id="23" name="Connector: Elbow 22">
            <a:extLst>
              <a:ext uri="{FF2B5EF4-FFF2-40B4-BE49-F238E27FC236}">
                <a16:creationId xmlns:a16="http://schemas.microsoft.com/office/drawing/2014/main" id="{91E0D081-2871-2E34-1EFB-2B4F1715745C}"/>
              </a:ext>
            </a:extLst>
          </p:cNvPr>
          <p:cNvCxnSpPr>
            <a:cxnSpLocks/>
            <a:stCxn id="3" idx="2"/>
            <a:endCxn id="2" idx="1"/>
          </p:cNvCxnSpPr>
          <p:nvPr/>
        </p:nvCxnSpPr>
        <p:spPr>
          <a:xfrm rot="16200000" flipH="1">
            <a:off x="4580441" y="-1446596"/>
            <a:ext cx="755143" cy="6543176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: Elbow 25">
            <a:extLst>
              <a:ext uri="{FF2B5EF4-FFF2-40B4-BE49-F238E27FC236}">
                <a16:creationId xmlns:a16="http://schemas.microsoft.com/office/drawing/2014/main" id="{9953B375-2B0D-20F6-8D29-B554F25E7BB0}"/>
              </a:ext>
            </a:extLst>
          </p:cNvPr>
          <p:cNvCxnSpPr>
            <a:cxnSpLocks/>
            <a:stCxn id="2" idx="2"/>
            <a:endCxn id="3" idx="1"/>
          </p:cNvCxnSpPr>
          <p:nvPr/>
        </p:nvCxnSpPr>
        <p:spPr>
          <a:xfrm rot="5400000" flipH="1">
            <a:off x="4192026" y="-2923076"/>
            <a:ext cx="1531972" cy="9490914"/>
          </a:xfrm>
          <a:prstGeom prst="bentConnector4">
            <a:avLst>
              <a:gd name="adj1" fmla="val -14922"/>
              <a:gd name="adj2" fmla="val 102409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: Elbow 34">
            <a:extLst>
              <a:ext uri="{FF2B5EF4-FFF2-40B4-BE49-F238E27FC236}">
                <a16:creationId xmlns:a16="http://schemas.microsoft.com/office/drawing/2014/main" id="{756C8C84-5543-5C05-D317-088C59D2ACAF}"/>
              </a:ext>
            </a:extLst>
          </p:cNvPr>
          <p:cNvCxnSpPr>
            <a:cxnSpLocks/>
            <a:stCxn id="3" idx="2"/>
            <a:endCxn id="4" idx="0"/>
          </p:cNvCxnSpPr>
          <p:nvPr/>
        </p:nvCxnSpPr>
        <p:spPr>
          <a:xfrm rot="5400000">
            <a:off x="-174649" y="3308494"/>
            <a:ext cx="3722146" cy="1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626D5CBB-76F1-B145-B53D-4FB4A4F6B7FB}"/>
              </a:ext>
            </a:extLst>
          </p:cNvPr>
          <p:cNvSpPr txBox="1"/>
          <p:nvPr/>
        </p:nvSpPr>
        <p:spPr>
          <a:xfrm>
            <a:off x="1814741" y="3400091"/>
            <a:ext cx="663142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600" dirty="0"/>
              <a:t>5- Create a cookie </a:t>
            </a:r>
            <a:r>
              <a:rPr lang="en-AU" sz="1600" dirty="0" err="1"/>
              <a:t>UserId</a:t>
            </a:r>
            <a:r>
              <a:rPr lang="en-AU" sz="1600" dirty="0"/>
              <a:t>- </a:t>
            </a:r>
            <a:r>
              <a:rPr lang="en-AU" sz="1600" dirty="0" err="1"/>
              <a:t>TenantId-AuthUserId</a:t>
            </a:r>
            <a:r>
              <a:rPr lang="en-AU" sz="1600" dirty="0"/>
              <a:t> Token</a:t>
            </a:r>
          </a:p>
          <a:p>
            <a:endParaRPr lang="en-AU" sz="1600" dirty="0"/>
          </a:p>
          <a:p>
            <a:r>
              <a:rPr lang="en-AU" sz="1600" dirty="0"/>
              <a:t>6-Redirect the user to SPA, the cookie will be accessible to the SPA as well</a:t>
            </a:r>
            <a:endParaRPr lang="en-US" sz="1600" dirty="0"/>
          </a:p>
        </p:txBody>
      </p:sp>
      <p:cxnSp>
        <p:nvCxnSpPr>
          <p:cNvPr id="40" name="Connector: Elbow 39">
            <a:extLst>
              <a:ext uri="{FF2B5EF4-FFF2-40B4-BE49-F238E27FC236}">
                <a16:creationId xmlns:a16="http://schemas.microsoft.com/office/drawing/2014/main" id="{A17DF446-1257-1D0E-A47F-FBB7ADD127BF}"/>
              </a:ext>
            </a:extLst>
          </p:cNvPr>
          <p:cNvCxnSpPr>
            <a:cxnSpLocks/>
            <a:stCxn id="4" idx="3"/>
            <a:endCxn id="5" idx="1"/>
          </p:cNvCxnSpPr>
          <p:nvPr/>
        </p:nvCxnSpPr>
        <p:spPr>
          <a:xfrm>
            <a:off x="3160291" y="5555371"/>
            <a:ext cx="6031839" cy="8407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: Elbow 41">
            <a:extLst>
              <a:ext uri="{FF2B5EF4-FFF2-40B4-BE49-F238E27FC236}">
                <a16:creationId xmlns:a16="http://schemas.microsoft.com/office/drawing/2014/main" id="{B07084EC-93E2-1ABD-1610-68A96D70CF69}"/>
              </a:ext>
            </a:extLst>
          </p:cNvPr>
          <p:cNvCxnSpPr>
            <a:cxnSpLocks/>
            <a:stCxn id="5" idx="2"/>
            <a:endCxn id="4" idx="2"/>
          </p:cNvCxnSpPr>
          <p:nvPr/>
        </p:nvCxnSpPr>
        <p:spPr>
          <a:xfrm rot="5400000" flipH="1">
            <a:off x="6172007" y="1455590"/>
            <a:ext cx="8407" cy="8979576"/>
          </a:xfrm>
          <a:prstGeom prst="bentConnector3">
            <a:avLst>
              <a:gd name="adj1" fmla="val -2719163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93937C4C-E0B2-AFBF-EEE5-2F05964B89D2}"/>
              </a:ext>
            </a:extLst>
          </p:cNvPr>
          <p:cNvSpPr txBox="1"/>
          <p:nvPr/>
        </p:nvSpPr>
        <p:spPr>
          <a:xfrm>
            <a:off x="3186335" y="4829051"/>
            <a:ext cx="396843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600" dirty="0"/>
              <a:t>7- send </a:t>
            </a:r>
            <a:r>
              <a:rPr lang="en-AU" sz="1600" dirty="0" err="1"/>
              <a:t>UserId</a:t>
            </a:r>
            <a:r>
              <a:rPr lang="en-AU" sz="1600" dirty="0"/>
              <a:t>- </a:t>
            </a:r>
            <a:r>
              <a:rPr lang="en-AU" sz="1600" dirty="0" err="1"/>
              <a:t>TenantId-AuthUserId</a:t>
            </a:r>
            <a:r>
              <a:rPr lang="en-AU" sz="1600" dirty="0"/>
              <a:t> Token</a:t>
            </a:r>
          </a:p>
          <a:p>
            <a:r>
              <a:rPr lang="en-AU" sz="1600" dirty="0"/>
              <a:t>Request UI Permissions</a:t>
            </a:r>
          </a:p>
          <a:p>
            <a:r>
              <a:rPr lang="en-AU" sz="1600" dirty="0"/>
              <a:t>Get Permissions from </a:t>
            </a:r>
            <a:r>
              <a:rPr lang="en-AU" sz="1600" dirty="0" err="1"/>
              <a:t>IMemoryCache</a:t>
            </a:r>
            <a:endParaRPr lang="en-US" sz="1600" dirty="0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3BA34CCD-B58E-8140-BF82-1E7F944FB8DD}"/>
              </a:ext>
            </a:extLst>
          </p:cNvPr>
          <p:cNvSpPr txBox="1"/>
          <p:nvPr/>
        </p:nvSpPr>
        <p:spPr>
          <a:xfrm>
            <a:off x="3302637" y="6137726"/>
            <a:ext cx="396843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600" dirty="0"/>
              <a:t>8- send </a:t>
            </a:r>
            <a:r>
              <a:rPr lang="en-AU" sz="1600" dirty="0" err="1"/>
              <a:t>UserId</a:t>
            </a:r>
            <a:r>
              <a:rPr lang="en-AU" sz="1600" dirty="0"/>
              <a:t>- </a:t>
            </a:r>
            <a:r>
              <a:rPr lang="en-AU" sz="1600" dirty="0" err="1"/>
              <a:t>TenantId-AuthUserId</a:t>
            </a:r>
            <a:r>
              <a:rPr lang="en-AU" sz="1600" dirty="0"/>
              <a:t> Token</a:t>
            </a:r>
          </a:p>
          <a:p>
            <a:r>
              <a:rPr lang="en-AU" sz="1600" dirty="0"/>
              <a:t>Request Data</a:t>
            </a:r>
          </a:p>
        </p:txBody>
      </p:sp>
    </p:spTree>
    <p:extLst>
      <p:ext uri="{BB962C8B-B14F-4D97-AF65-F5344CB8AC3E}">
        <p14:creationId xmlns:p14="http://schemas.microsoft.com/office/powerpoint/2010/main" val="125751347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6BDDFAB-F8C8-F646-CC2B-9C40BE610362}"/>
              </a:ext>
            </a:extLst>
          </p:cNvPr>
          <p:cNvSpPr txBox="1"/>
          <p:nvPr/>
        </p:nvSpPr>
        <p:spPr>
          <a:xfrm>
            <a:off x="84221" y="-293610"/>
            <a:ext cx="12192000" cy="7109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/>
              <a:t>using </a:t>
            </a:r>
            <a:r>
              <a:rPr lang="en-US" sz="1200" dirty="0" err="1"/>
              <a:t>Microsoft.IdentityModel.Tokens</a:t>
            </a:r>
            <a:r>
              <a:rPr lang="en-US" sz="1200" dirty="0"/>
              <a:t>;</a:t>
            </a:r>
          </a:p>
          <a:p>
            <a:r>
              <a:rPr lang="en-US" sz="1200" dirty="0"/>
              <a:t>using </a:t>
            </a:r>
            <a:r>
              <a:rPr lang="en-US" sz="1200" dirty="0" err="1"/>
              <a:t>System.IdentityModel.Tokens.Jwt</a:t>
            </a:r>
            <a:r>
              <a:rPr lang="en-US" sz="1200" dirty="0"/>
              <a:t>;</a:t>
            </a:r>
          </a:p>
          <a:p>
            <a:r>
              <a:rPr lang="en-US" sz="1200" dirty="0"/>
              <a:t>using </a:t>
            </a:r>
            <a:r>
              <a:rPr lang="en-US" sz="1200" dirty="0" err="1"/>
              <a:t>System.Security.Claims</a:t>
            </a:r>
            <a:r>
              <a:rPr lang="en-US" sz="1200" dirty="0"/>
              <a:t>;</a:t>
            </a:r>
          </a:p>
          <a:p>
            <a:r>
              <a:rPr lang="en-US" sz="1200" dirty="0"/>
              <a:t>using </a:t>
            </a:r>
            <a:r>
              <a:rPr lang="en-US" sz="1200" dirty="0" err="1"/>
              <a:t>System.Text</a:t>
            </a:r>
            <a:r>
              <a:rPr lang="en-US" sz="1200" dirty="0"/>
              <a:t>;</a:t>
            </a:r>
          </a:p>
          <a:p>
            <a:endParaRPr lang="en-US" sz="1200" dirty="0"/>
          </a:p>
          <a:p>
            <a:r>
              <a:rPr lang="en-US" sz="1200" dirty="0"/>
              <a:t>private async Task&lt;string&gt; </a:t>
            </a:r>
            <a:r>
              <a:rPr lang="en-US" sz="1200" dirty="0" err="1"/>
              <a:t>GetUserTenantTokenAsync</a:t>
            </a:r>
            <a:r>
              <a:rPr lang="en-US" sz="1200" dirty="0"/>
              <a:t>(string </a:t>
            </a:r>
            <a:r>
              <a:rPr lang="en-US" sz="1200" dirty="0" err="1"/>
              <a:t>tenantId</a:t>
            </a:r>
            <a:r>
              <a:rPr lang="en-US" sz="1200" dirty="0"/>
              <a:t>)</a:t>
            </a:r>
          </a:p>
          <a:p>
            <a:r>
              <a:rPr lang="en-US" sz="1200" dirty="0"/>
              <a:t>{</a:t>
            </a:r>
          </a:p>
          <a:p>
            <a:r>
              <a:rPr lang="en-US" sz="1200" dirty="0"/>
              <a:t>    // 1. Setup Security Key and Credentials</a:t>
            </a:r>
          </a:p>
          <a:p>
            <a:r>
              <a:rPr lang="en-US" sz="1200" dirty="0"/>
              <a:t>    // In production, pull "</a:t>
            </a:r>
            <a:r>
              <a:rPr lang="en-US" sz="1200" dirty="0" err="1"/>
              <a:t>YourSuperSecretKey</a:t>
            </a:r>
            <a:r>
              <a:rPr lang="en-US" sz="1200" dirty="0"/>
              <a:t>" from User Secrets or Key Vault</a:t>
            </a:r>
          </a:p>
          <a:p>
            <a:r>
              <a:rPr lang="en-US" sz="1200" dirty="0"/>
              <a:t>    var key = new </a:t>
            </a:r>
            <a:r>
              <a:rPr lang="en-US" sz="1200" dirty="0" err="1"/>
              <a:t>SymmetricSecurityKey</a:t>
            </a:r>
            <a:r>
              <a:rPr lang="en-US" sz="1200" dirty="0"/>
              <a:t>(Encoding.UTF8.GetBytes("YourSuperSecretKey_MustBeAtLeast32Chars!"));</a:t>
            </a:r>
          </a:p>
          <a:p>
            <a:r>
              <a:rPr lang="en-US" sz="1200" dirty="0"/>
              <a:t>    var creds = new </a:t>
            </a:r>
            <a:r>
              <a:rPr lang="en-US" sz="1200" dirty="0" err="1"/>
              <a:t>SigningCredentials</a:t>
            </a:r>
            <a:r>
              <a:rPr lang="en-US" sz="1200" dirty="0"/>
              <a:t>(key, SecurityAlgorithms.HmacSha256);</a:t>
            </a:r>
          </a:p>
          <a:p>
            <a:endParaRPr lang="en-US" sz="1200" dirty="0"/>
          </a:p>
          <a:p>
            <a:r>
              <a:rPr lang="en-US" sz="1200" dirty="0"/>
              <a:t>    // 2. Define Minimal Claims</a:t>
            </a:r>
          </a:p>
          <a:p>
            <a:r>
              <a:rPr lang="en-US" sz="1200" dirty="0"/>
              <a:t>    // We use short strings for keys to keep the JWT byte-size tiny</a:t>
            </a:r>
          </a:p>
          <a:p>
            <a:r>
              <a:rPr lang="en-US" sz="1200" dirty="0"/>
              <a:t>    var claims = new[]</a:t>
            </a:r>
          </a:p>
          <a:p>
            <a:r>
              <a:rPr lang="en-US" sz="1200" dirty="0"/>
              <a:t>    {</a:t>
            </a:r>
          </a:p>
          <a:p>
            <a:r>
              <a:rPr lang="en-US" sz="1200" dirty="0"/>
              <a:t>        new Claim("</a:t>
            </a:r>
            <a:r>
              <a:rPr lang="en-US" sz="1200" dirty="0" err="1"/>
              <a:t>tid</a:t>
            </a:r>
            <a:r>
              <a:rPr lang="en-US" sz="1200" dirty="0"/>
              <a:t>", </a:t>
            </a:r>
            <a:r>
              <a:rPr lang="en-US" sz="1200" dirty="0" err="1"/>
              <a:t>tenantId</a:t>
            </a:r>
            <a:r>
              <a:rPr lang="en-US" sz="1200" dirty="0"/>
              <a:t>),                               // </a:t>
            </a:r>
            <a:r>
              <a:rPr lang="en-US" sz="1200" dirty="0" err="1"/>
              <a:t>TenantId</a:t>
            </a:r>
            <a:endParaRPr lang="en-US" sz="1200" dirty="0"/>
          </a:p>
          <a:p>
            <a:r>
              <a:rPr lang="en-US" sz="1200" dirty="0"/>
              <a:t>        new Claim(</a:t>
            </a:r>
            <a:r>
              <a:rPr lang="en-US" sz="1200" dirty="0" err="1"/>
              <a:t>JwtRegisteredClaimNames.Sub</a:t>
            </a:r>
            <a:r>
              <a:rPr lang="en-US" sz="1200" dirty="0"/>
              <a:t>, </a:t>
            </a:r>
            <a:r>
              <a:rPr lang="en-US" sz="1200" dirty="0" err="1"/>
              <a:t>User.Identity.Name</a:t>
            </a:r>
            <a:r>
              <a:rPr lang="en-US" sz="1200" dirty="0"/>
              <a:t>), // </a:t>
            </a:r>
            <a:r>
              <a:rPr lang="en-US" sz="1200" dirty="0" err="1"/>
              <a:t>UserId</a:t>
            </a:r>
            <a:r>
              <a:rPr lang="en-US" sz="1200" dirty="0"/>
              <a:t> (Subject)</a:t>
            </a:r>
          </a:p>
          <a:p>
            <a:r>
              <a:rPr lang="en-US" sz="1200" dirty="0"/>
              <a:t>        new Claim("</a:t>
            </a:r>
            <a:r>
              <a:rPr lang="en-US" sz="1200" dirty="0" err="1"/>
              <a:t>oid</a:t>
            </a:r>
            <a:r>
              <a:rPr lang="en-US" sz="1200" dirty="0"/>
              <a:t>", </a:t>
            </a:r>
            <a:r>
              <a:rPr lang="en-US" sz="1200" dirty="0" err="1"/>
              <a:t>User.FindFirst</a:t>
            </a:r>
            <a:r>
              <a:rPr lang="en-US" sz="1200" dirty="0"/>
              <a:t>(</a:t>
            </a:r>
            <a:r>
              <a:rPr lang="en-US" sz="1200" dirty="0" err="1"/>
              <a:t>ClaimTypes.NameIdentifier</a:t>
            </a:r>
            <a:r>
              <a:rPr lang="en-US" sz="1200" dirty="0"/>
              <a:t>)?.Value ?? ""), // </a:t>
            </a:r>
            <a:r>
              <a:rPr lang="en-US" sz="1200" dirty="0" err="1"/>
              <a:t>AuthUserId</a:t>
            </a:r>
            <a:r>
              <a:rPr lang="en-US" sz="1200" dirty="0"/>
              <a:t> (Object ID)</a:t>
            </a:r>
          </a:p>
          <a:p>
            <a:r>
              <a:rPr lang="en-US" sz="1200" dirty="0"/>
              <a:t>        new Claim(</a:t>
            </a:r>
            <a:r>
              <a:rPr lang="en-US" sz="1200" dirty="0" err="1"/>
              <a:t>JwtRegisteredClaimNames.Jti</a:t>
            </a:r>
            <a:r>
              <a:rPr lang="en-US" sz="1200" dirty="0"/>
              <a:t>, </a:t>
            </a:r>
            <a:r>
              <a:rPr lang="en-US" sz="1200" dirty="0" err="1"/>
              <a:t>Guid.NewGuid</a:t>
            </a:r>
            <a:r>
              <a:rPr lang="en-US" sz="1200" dirty="0"/>
              <a:t>().</a:t>
            </a:r>
            <a:r>
              <a:rPr lang="en-US" sz="1200" dirty="0" err="1"/>
              <a:t>ToString</a:t>
            </a:r>
            <a:r>
              <a:rPr lang="en-US" sz="1200" dirty="0"/>
              <a:t>()), // Unique ID for this token</a:t>
            </a:r>
          </a:p>
          <a:p>
            <a:r>
              <a:rPr lang="en-US" sz="1200" dirty="0"/>
              <a:t>    };</a:t>
            </a:r>
          </a:p>
          <a:p>
            <a:endParaRPr lang="en-US" sz="1200" dirty="0"/>
          </a:p>
          <a:p>
            <a:r>
              <a:rPr lang="en-US" sz="1200" dirty="0"/>
              <a:t>    // 3. Create the Token Descriptor</a:t>
            </a:r>
          </a:p>
          <a:p>
            <a:r>
              <a:rPr lang="en-US" sz="1200" dirty="0"/>
              <a:t>    var </a:t>
            </a:r>
            <a:r>
              <a:rPr lang="en-US" sz="1200" dirty="0" err="1"/>
              <a:t>tokenDescriptor</a:t>
            </a:r>
            <a:r>
              <a:rPr lang="en-US" sz="1200" dirty="0"/>
              <a:t> = new </a:t>
            </a:r>
            <a:r>
              <a:rPr lang="en-US" sz="1200" dirty="0" err="1"/>
              <a:t>SecurityTokenDescriptor</a:t>
            </a:r>
            <a:endParaRPr lang="en-US" sz="1200" dirty="0"/>
          </a:p>
          <a:p>
            <a:r>
              <a:rPr lang="en-US" sz="1200" dirty="0"/>
              <a:t>    {</a:t>
            </a:r>
          </a:p>
          <a:p>
            <a:r>
              <a:rPr lang="en-US" sz="1200" dirty="0"/>
              <a:t>        Subject = new </a:t>
            </a:r>
            <a:r>
              <a:rPr lang="en-US" sz="1200" dirty="0" err="1"/>
              <a:t>ClaimsIdentity</a:t>
            </a:r>
            <a:r>
              <a:rPr lang="en-US" sz="1200" dirty="0"/>
              <a:t>(claims),</a:t>
            </a:r>
          </a:p>
          <a:p>
            <a:r>
              <a:rPr lang="en-US" sz="1200" dirty="0"/>
              <a:t>        Expires = </a:t>
            </a:r>
            <a:r>
              <a:rPr lang="en-US" sz="1200" dirty="0" err="1"/>
              <a:t>DateTime.UtcNow.AddHours</a:t>
            </a:r>
            <a:r>
              <a:rPr lang="en-US" sz="1200" dirty="0"/>
              <a:t>(8), // Match your cookie expiration</a:t>
            </a:r>
          </a:p>
          <a:p>
            <a:r>
              <a:rPr lang="en-US" sz="1200" dirty="0"/>
              <a:t>        </a:t>
            </a:r>
            <a:r>
              <a:rPr lang="en-US" sz="1200" dirty="0" err="1"/>
              <a:t>SigningCredentials</a:t>
            </a:r>
            <a:r>
              <a:rPr lang="en-US" sz="1200" dirty="0"/>
              <a:t> = creds,</a:t>
            </a:r>
          </a:p>
          <a:p>
            <a:r>
              <a:rPr lang="en-US" sz="1200" dirty="0"/>
              <a:t>        Issuer = "your-app-name",</a:t>
            </a:r>
          </a:p>
          <a:p>
            <a:r>
              <a:rPr lang="en-US" sz="1200" dirty="0"/>
              <a:t>        Audience = "your-spa-client"</a:t>
            </a:r>
          </a:p>
          <a:p>
            <a:r>
              <a:rPr lang="en-US" sz="1200" dirty="0"/>
              <a:t>    };</a:t>
            </a:r>
          </a:p>
          <a:p>
            <a:endParaRPr lang="en-US" sz="1200" dirty="0"/>
          </a:p>
          <a:p>
            <a:r>
              <a:rPr lang="en-US" sz="1200" dirty="0"/>
              <a:t>    // 4. Generate the String</a:t>
            </a:r>
          </a:p>
          <a:p>
            <a:r>
              <a:rPr lang="en-US" sz="1200" dirty="0"/>
              <a:t>    var </a:t>
            </a:r>
            <a:r>
              <a:rPr lang="en-US" sz="1200" dirty="0" err="1"/>
              <a:t>tokenHandler</a:t>
            </a:r>
            <a:r>
              <a:rPr lang="en-US" sz="1200" dirty="0"/>
              <a:t> = new </a:t>
            </a:r>
            <a:r>
              <a:rPr lang="en-US" sz="1200" dirty="0" err="1"/>
              <a:t>JwtSecurityTokenHandler</a:t>
            </a:r>
            <a:r>
              <a:rPr lang="en-US" sz="1200" dirty="0"/>
              <a:t>();</a:t>
            </a:r>
          </a:p>
          <a:p>
            <a:r>
              <a:rPr lang="en-US" sz="1200" dirty="0"/>
              <a:t>    var token = </a:t>
            </a:r>
            <a:r>
              <a:rPr lang="en-US" sz="1200" dirty="0" err="1"/>
              <a:t>tokenHandler.CreateToken</a:t>
            </a:r>
            <a:r>
              <a:rPr lang="en-US" sz="1200" dirty="0"/>
              <a:t>(</a:t>
            </a:r>
            <a:r>
              <a:rPr lang="en-US" sz="1200" dirty="0" err="1"/>
              <a:t>tokenDescriptor</a:t>
            </a:r>
            <a:r>
              <a:rPr lang="en-US" sz="1200" dirty="0"/>
              <a:t>);</a:t>
            </a:r>
          </a:p>
          <a:p>
            <a:endParaRPr lang="en-US" sz="1200" dirty="0"/>
          </a:p>
          <a:p>
            <a:r>
              <a:rPr lang="en-US" sz="1200" dirty="0"/>
              <a:t>    return await </a:t>
            </a:r>
            <a:r>
              <a:rPr lang="en-US" sz="1200" dirty="0" err="1"/>
              <a:t>Task.FromResult</a:t>
            </a:r>
            <a:r>
              <a:rPr lang="en-US" sz="1200" dirty="0"/>
              <a:t>(</a:t>
            </a:r>
            <a:r>
              <a:rPr lang="en-US" sz="1200" dirty="0" err="1"/>
              <a:t>tokenHandler.WriteToken</a:t>
            </a:r>
            <a:r>
              <a:rPr lang="en-US" sz="1200" dirty="0"/>
              <a:t>(token));</a:t>
            </a:r>
          </a:p>
          <a:p>
            <a:r>
              <a:rPr lang="en-US" sz="1200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75988207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094C54B-60DA-CDF8-6918-577F7A2C294D}"/>
              </a:ext>
            </a:extLst>
          </p:cNvPr>
          <p:cNvSpPr txBox="1"/>
          <p:nvPr/>
        </p:nvSpPr>
        <p:spPr>
          <a:xfrm>
            <a:off x="180474" y="1636891"/>
            <a:ext cx="11622505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// Quick JS helper to get the cookie</a:t>
            </a:r>
          </a:p>
          <a:p>
            <a:r>
              <a:rPr lang="en-US" dirty="0"/>
              <a:t>const </a:t>
            </a:r>
            <a:r>
              <a:rPr lang="en-US" dirty="0" err="1"/>
              <a:t>getCookie</a:t>
            </a:r>
            <a:r>
              <a:rPr lang="en-US" dirty="0"/>
              <a:t> = (name) =&gt; {</a:t>
            </a:r>
          </a:p>
          <a:p>
            <a:r>
              <a:rPr lang="en-US" dirty="0"/>
              <a:t>  const value = `; ${</a:t>
            </a:r>
            <a:r>
              <a:rPr lang="en-US" dirty="0" err="1"/>
              <a:t>document.cookie</a:t>
            </a:r>
            <a:r>
              <a:rPr lang="en-US" dirty="0"/>
              <a:t>}`;</a:t>
            </a:r>
          </a:p>
          <a:p>
            <a:r>
              <a:rPr lang="en-US" dirty="0"/>
              <a:t>  const parts = </a:t>
            </a:r>
            <a:r>
              <a:rPr lang="en-US" dirty="0" err="1"/>
              <a:t>value.split</a:t>
            </a:r>
            <a:r>
              <a:rPr lang="en-US" dirty="0"/>
              <a:t>(`; ${name}=`);</a:t>
            </a:r>
          </a:p>
          <a:p>
            <a:r>
              <a:rPr lang="en-US" dirty="0"/>
              <a:t>  if (</a:t>
            </a:r>
            <a:r>
              <a:rPr lang="en-US" dirty="0" err="1"/>
              <a:t>parts.length</a:t>
            </a:r>
            <a:r>
              <a:rPr lang="en-US" dirty="0"/>
              <a:t> === 2) return </a:t>
            </a:r>
            <a:r>
              <a:rPr lang="en-US" dirty="0" err="1"/>
              <a:t>parts.pop</a:t>
            </a:r>
            <a:r>
              <a:rPr lang="en-US" dirty="0"/>
              <a:t>().split(';').shift();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const token = </a:t>
            </a:r>
            <a:r>
              <a:rPr lang="en-US" dirty="0" err="1"/>
              <a:t>getCookie</a:t>
            </a:r>
            <a:r>
              <a:rPr lang="en-US" dirty="0"/>
              <a:t>('</a:t>
            </a:r>
            <a:r>
              <a:rPr lang="en-US" dirty="0" err="1"/>
              <a:t>UserTenantToken</a:t>
            </a:r>
            <a:r>
              <a:rPr lang="en-US" dirty="0"/>
              <a:t>');</a:t>
            </a:r>
          </a:p>
          <a:p>
            <a:r>
              <a:rPr lang="en-US" dirty="0"/>
              <a:t>// The SPA can now attach this to 'Authorization: Bearer &lt;token&gt;' headers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EEC5A0C-D161-65E2-DB79-00C0A26E9F40}"/>
              </a:ext>
            </a:extLst>
          </p:cNvPr>
          <p:cNvSpPr txBox="1"/>
          <p:nvPr/>
        </p:nvSpPr>
        <p:spPr>
          <a:xfrm>
            <a:off x="0" y="0"/>
            <a:ext cx="1219200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AU" b="1" dirty="0"/>
              <a:t>3. How the SPA reads it</a:t>
            </a:r>
          </a:p>
          <a:p>
            <a:pPr>
              <a:buNone/>
            </a:pPr>
            <a:r>
              <a:rPr lang="en-AU" dirty="0"/>
              <a:t>Since you are storing this in a cookie with </a:t>
            </a:r>
            <a:r>
              <a:rPr lang="en-AU" dirty="0" err="1">
                <a:latin typeface="Courier New" panose="02070309020205020404" pitchFamily="49" charset="0"/>
              </a:rPr>
              <a:t>HttpOnly</a:t>
            </a:r>
            <a:r>
              <a:rPr lang="en-AU" dirty="0">
                <a:latin typeface="Courier New" panose="02070309020205020404" pitchFamily="49" charset="0"/>
              </a:rPr>
              <a:t> = false</a:t>
            </a:r>
            <a:r>
              <a:rPr lang="en-AU" dirty="0"/>
              <a:t> (from the previous step), your SPA can read it using a simple JavaScript library or a regex:</a:t>
            </a:r>
          </a:p>
        </p:txBody>
      </p:sp>
    </p:spTree>
    <p:extLst>
      <p:ext uri="{BB962C8B-B14F-4D97-AF65-F5344CB8AC3E}">
        <p14:creationId xmlns:p14="http://schemas.microsoft.com/office/powerpoint/2010/main" val="104771644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6AAAD8A-671E-CBF8-2214-4C3224E9B49D}"/>
              </a:ext>
            </a:extLst>
          </p:cNvPr>
          <p:cNvSpPr txBox="1"/>
          <p:nvPr/>
        </p:nvSpPr>
        <p:spPr>
          <a:xfrm>
            <a:off x="565484" y="-499780"/>
            <a:ext cx="10756232" cy="969496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/>
              <a:t>using </a:t>
            </a:r>
            <a:r>
              <a:rPr lang="en-US" sz="1200" dirty="0" err="1"/>
              <a:t>Microsoft.AspNetCore.Authentication</a:t>
            </a:r>
            <a:r>
              <a:rPr lang="en-US" sz="1200" dirty="0"/>
              <a:t>;</a:t>
            </a:r>
          </a:p>
          <a:p>
            <a:r>
              <a:rPr lang="en-US" sz="1200" dirty="0"/>
              <a:t>using </a:t>
            </a:r>
            <a:r>
              <a:rPr lang="en-US" sz="1200" dirty="0" err="1"/>
              <a:t>Microsoft.Extensions.Caching.Memory</a:t>
            </a:r>
            <a:r>
              <a:rPr lang="en-US" sz="1200" dirty="0"/>
              <a:t>;</a:t>
            </a:r>
          </a:p>
          <a:p>
            <a:r>
              <a:rPr lang="en-US" sz="1200" dirty="0"/>
              <a:t>using </a:t>
            </a:r>
            <a:r>
              <a:rPr lang="en-US" sz="1200" dirty="0" err="1"/>
              <a:t>System.Security.Claims</a:t>
            </a:r>
            <a:r>
              <a:rPr lang="en-US" sz="1200" dirty="0"/>
              <a:t>;</a:t>
            </a:r>
          </a:p>
          <a:p>
            <a:endParaRPr lang="en-US" sz="1200" dirty="0"/>
          </a:p>
          <a:p>
            <a:r>
              <a:rPr lang="en-US" sz="1200" dirty="0"/>
              <a:t>public class </a:t>
            </a:r>
            <a:r>
              <a:rPr lang="en-US" sz="1200" dirty="0" err="1"/>
              <a:t>TenantPermissionTransformer</a:t>
            </a:r>
            <a:r>
              <a:rPr lang="en-US" sz="1200" dirty="0"/>
              <a:t> : </a:t>
            </a:r>
            <a:r>
              <a:rPr lang="en-US" sz="1200" dirty="0" err="1"/>
              <a:t>IClaimsTransformation</a:t>
            </a:r>
            <a:endParaRPr lang="en-US" sz="1200" dirty="0"/>
          </a:p>
          <a:p>
            <a:r>
              <a:rPr lang="en-US" sz="1200" dirty="0"/>
              <a:t>{</a:t>
            </a:r>
          </a:p>
          <a:p>
            <a:r>
              <a:rPr lang="en-US" sz="1200" dirty="0"/>
              <a:t>    private </a:t>
            </a:r>
            <a:r>
              <a:rPr lang="en-US" sz="1200" dirty="0" err="1"/>
              <a:t>readonly</a:t>
            </a:r>
            <a:r>
              <a:rPr lang="en-US" sz="1200" dirty="0"/>
              <a:t> </a:t>
            </a:r>
            <a:r>
              <a:rPr lang="en-US" sz="1200" dirty="0" err="1"/>
              <a:t>IMemoryCache</a:t>
            </a:r>
            <a:r>
              <a:rPr lang="en-US" sz="1200" dirty="0"/>
              <a:t> _cache;</a:t>
            </a:r>
          </a:p>
          <a:p>
            <a:r>
              <a:rPr lang="en-US" sz="1200" dirty="0"/>
              <a:t>    // Inject your DB context or Service here</a:t>
            </a:r>
          </a:p>
          <a:p>
            <a:r>
              <a:rPr lang="en-US" sz="1200" dirty="0"/>
              <a:t>    // private </a:t>
            </a:r>
            <a:r>
              <a:rPr lang="en-US" sz="1200" dirty="0" err="1"/>
              <a:t>readonly</a:t>
            </a:r>
            <a:r>
              <a:rPr lang="en-US" sz="1200" dirty="0"/>
              <a:t> </a:t>
            </a:r>
            <a:r>
              <a:rPr lang="en-US" sz="1200" dirty="0" err="1"/>
              <a:t>MyDbContext</a:t>
            </a:r>
            <a:r>
              <a:rPr lang="en-US" sz="1200" dirty="0"/>
              <a:t> _</a:t>
            </a:r>
            <a:r>
              <a:rPr lang="en-US" sz="1200" dirty="0" err="1"/>
              <a:t>db</a:t>
            </a:r>
            <a:r>
              <a:rPr lang="en-US" sz="1200" dirty="0"/>
              <a:t>; </a:t>
            </a:r>
          </a:p>
          <a:p>
            <a:endParaRPr lang="en-US" sz="1200" dirty="0"/>
          </a:p>
          <a:p>
            <a:r>
              <a:rPr lang="en-US" sz="1200" dirty="0"/>
              <a:t>    public </a:t>
            </a:r>
            <a:r>
              <a:rPr lang="en-US" sz="1200" dirty="0" err="1"/>
              <a:t>TenantPermissionTransformer</a:t>
            </a:r>
            <a:r>
              <a:rPr lang="en-US" sz="1200" dirty="0"/>
              <a:t>(</a:t>
            </a:r>
            <a:r>
              <a:rPr lang="en-US" sz="1200" dirty="0" err="1"/>
              <a:t>IMemoryCache</a:t>
            </a:r>
            <a:r>
              <a:rPr lang="en-US" sz="1200" dirty="0"/>
              <a:t> cache)</a:t>
            </a:r>
          </a:p>
          <a:p>
            <a:r>
              <a:rPr lang="en-US" sz="1200" dirty="0"/>
              <a:t>    {</a:t>
            </a:r>
          </a:p>
          <a:p>
            <a:r>
              <a:rPr lang="en-US" sz="1200" dirty="0"/>
              <a:t>        _cache = cache;</a:t>
            </a:r>
          </a:p>
          <a:p>
            <a:r>
              <a:rPr lang="en-US" sz="1200" dirty="0"/>
              <a:t>    }</a:t>
            </a:r>
          </a:p>
          <a:p>
            <a:endParaRPr lang="en-US" sz="1200" dirty="0"/>
          </a:p>
          <a:p>
            <a:r>
              <a:rPr lang="en-US" sz="1200" dirty="0"/>
              <a:t>    public async Task&lt;</a:t>
            </a:r>
            <a:r>
              <a:rPr lang="en-US" sz="1200" dirty="0" err="1"/>
              <a:t>ClaimsPrincipal</a:t>
            </a:r>
            <a:r>
              <a:rPr lang="en-US" sz="1200" dirty="0"/>
              <a:t>&gt; </a:t>
            </a:r>
            <a:r>
              <a:rPr lang="en-US" sz="1200" dirty="0" err="1"/>
              <a:t>TransformAsync</a:t>
            </a:r>
            <a:r>
              <a:rPr lang="en-US" sz="1200" dirty="0"/>
              <a:t>(</a:t>
            </a:r>
            <a:r>
              <a:rPr lang="en-US" sz="1200" dirty="0" err="1"/>
              <a:t>ClaimsPrincipal</a:t>
            </a:r>
            <a:r>
              <a:rPr lang="en-US" sz="1200" dirty="0"/>
              <a:t> principal)</a:t>
            </a:r>
          </a:p>
          <a:p>
            <a:r>
              <a:rPr lang="en-US" sz="1200" dirty="0"/>
              <a:t>    {</a:t>
            </a:r>
          </a:p>
          <a:p>
            <a:r>
              <a:rPr lang="en-US" sz="1200" dirty="0"/>
              <a:t>        // 1. Check if already transformed or if not authenticated</a:t>
            </a:r>
          </a:p>
          <a:p>
            <a:r>
              <a:rPr lang="en-US" sz="1200" dirty="0"/>
              <a:t>        if (!</a:t>
            </a:r>
            <a:r>
              <a:rPr lang="en-US" sz="1200" dirty="0" err="1"/>
              <a:t>principal.Identity.IsAuthenticated</a:t>
            </a:r>
            <a:r>
              <a:rPr lang="en-US" sz="1200" dirty="0"/>
              <a:t> || </a:t>
            </a:r>
            <a:r>
              <a:rPr lang="en-US" sz="1200" dirty="0" err="1"/>
              <a:t>principal.HasClaim</a:t>
            </a:r>
            <a:r>
              <a:rPr lang="en-US" sz="1200" dirty="0"/>
              <a:t>(c =&gt; </a:t>
            </a:r>
            <a:r>
              <a:rPr lang="en-US" sz="1200" dirty="0" err="1"/>
              <a:t>c.Type</a:t>
            </a:r>
            <a:r>
              <a:rPr lang="en-US" sz="1200" dirty="0"/>
              <a:t> == "</a:t>
            </a:r>
            <a:r>
              <a:rPr lang="en-US" sz="1200" dirty="0" err="1"/>
              <a:t>permissions_loaded</a:t>
            </a:r>
            <a:r>
              <a:rPr lang="en-US" sz="1200" dirty="0"/>
              <a:t>"))</a:t>
            </a:r>
          </a:p>
          <a:p>
            <a:r>
              <a:rPr lang="en-US" sz="1200" dirty="0"/>
              <a:t>            return principal;</a:t>
            </a:r>
          </a:p>
          <a:p>
            <a:endParaRPr lang="en-US" sz="1200" dirty="0"/>
          </a:p>
          <a:p>
            <a:r>
              <a:rPr lang="en-US" sz="1200" dirty="0"/>
              <a:t>        var clone = </a:t>
            </a:r>
            <a:r>
              <a:rPr lang="en-US" sz="1200" dirty="0" err="1"/>
              <a:t>principal.Clone</a:t>
            </a:r>
            <a:r>
              <a:rPr lang="en-US" sz="1200" dirty="0"/>
              <a:t>();</a:t>
            </a:r>
          </a:p>
          <a:p>
            <a:r>
              <a:rPr lang="en-US" sz="1200" dirty="0"/>
              <a:t>        var </a:t>
            </a:r>
            <a:r>
              <a:rPr lang="en-US" sz="1200" dirty="0" err="1"/>
              <a:t>newIdentity</a:t>
            </a:r>
            <a:r>
              <a:rPr lang="en-US" sz="1200" dirty="0"/>
              <a:t> = (</a:t>
            </a:r>
            <a:r>
              <a:rPr lang="en-US" sz="1200" dirty="0" err="1"/>
              <a:t>ClaimsIdentity</a:t>
            </a:r>
            <a:r>
              <a:rPr lang="en-US" sz="1200" dirty="0"/>
              <a:t>)</a:t>
            </a:r>
            <a:r>
              <a:rPr lang="en-US" sz="1200" dirty="0" err="1"/>
              <a:t>clone.Identity</a:t>
            </a:r>
            <a:r>
              <a:rPr lang="en-US" sz="1200" dirty="0"/>
              <a:t>;</a:t>
            </a:r>
          </a:p>
          <a:p>
            <a:endParaRPr lang="en-US" sz="1200" dirty="0"/>
          </a:p>
          <a:p>
            <a:r>
              <a:rPr lang="en-US" sz="1200" dirty="0"/>
              <a:t>        // 2. Extract minimal data from JWT</a:t>
            </a:r>
          </a:p>
          <a:p>
            <a:r>
              <a:rPr lang="en-US" sz="1200" dirty="0"/>
              <a:t>        var </a:t>
            </a:r>
            <a:r>
              <a:rPr lang="en-US" sz="1200" dirty="0" err="1"/>
              <a:t>userId</a:t>
            </a:r>
            <a:r>
              <a:rPr lang="en-US" sz="1200" dirty="0"/>
              <a:t> = </a:t>
            </a:r>
            <a:r>
              <a:rPr lang="en-US" sz="1200" dirty="0" err="1"/>
              <a:t>principal.FindFirst</a:t>
            </a:r>
            <a:r>
              <a:rPr lang="en-US" sz="1200" dirty="0"/>
              <a:t>(</a:t>
            </a:r>
            <a:r>
              <a:rPr lang="en-US" sz="1200" dirty="0" err="1"/>
              <a:t>ClaimTypes.NameIdentifier</a:t>
            </a:r>
            <a:r>
              <a:rPr lang="en-US" sz="1200" dirty="0"/>
              <a:t>)?.Value;</a:t>
            </a:r>
          </a:p>
          <a:p>
            <a:r>
              <a:rPr lang="en-US" sz="1200" dirty="0"/>
              <a:t>        var </a:t>
            </a:r>
            <a:r>
              <a:rPr lang="en-US" sz="1200" dirty="0" err="1"/>
              <a:t>tenantId</a:t>
            </a:r>
            <a:r>
              <a:rPr lang="en-US" sz="1200" dirty="0"/>
              <a:t> = </a:t>
            </a:r>
            <a:r>
              <a:rPr lang="en-US" sz="1200" dirty="0" err="1"/>
              <a:t>principal.FindFirst</a:t>
            </a:r>
            <a:r>
              <a:rPr lang="en-US" sz="1200" dirty="0"/>
              <a:t>("</a:t>
            </a:r>
            <a:r>
              <a:rPr lang="en-US" sz="1200" dirty="0" err="1"/>
              <a:t>tid</a:t>
            </a:r>
            <a:r>
              <a:rPr lang="en-US" sz="1200" dirty="0"/>
              <a:t>")?.Value;</a:t>
            </a:r>
          </a:p>
          <a:p>
            <a:endParaRPr lang="en-US" sz="1200" dirty="0"/>
          </a:p>
          <a:p>
            <a:r>
              <a:rPr lang="en-US" sz="1200" dirty="0"/>
              <a:t>        if (</a:t>
            </a:r>
            <a:r>
              <a:rPr lang="en-US" sz="1200" dirty="0" err="1"/>
              <a:t>string.IsNullOrEmpty</a:t>
            </a:r>
            <a:r>
              <a:rPr lang="en-US" sz="1200" dirty="0"/>
              <a:t>(</a:t>
            </a:r>
            <a:r>
              <a:rPr lang="en-US" sz="1200" dirty="0" err="1"/>
              <a:t>userId</a:t>
            </a:r>
            <a:r>
              <a:rPr lang="en-US" sz="1200" dirty="0"/>
              <a:t>) || </a:t>
            </a:r>
            <a:r>
              <a:rPr lang="en-US" sz="1200" dirty="0" err="1"/>
              <a:t>string.IsNullOrEmpty</a:t>
            </a:r>
            <a:r>
              <a:rPr lang="en-US" sz="1200" dirty="0"/>
              <a:t>(</a:t>
            </a:r>
            <a:r>
              <a:rPr lang="en-US" sz="1200" dirty="0" err="1"/>
              <a:t>tenantId</a:t>
            </a:r>
            <a:r>
              <a:rPr lang="en-US" sz="1200" dirty="0"/>
              <a:t>)) return principal;</a:t>
            </a:r>
          </a:p>
          <a:p>
            <a:endParaRPr lang="en-US" sz="1200" dirty="0"/>
          </a:p>
          <a:p>
            <a:r>
              <a:rPr lang="en-US" sz="1200" dirty="0"/>
              <a:t>        // 3. Get Permissions (Cache-First)</a:t>
            </a:r>
          </a:p>
          <a:p>
            <a:r>
              <a:rPr lang="en-US" sz="1200" dirty="0"/>
              <a:t>        string </a:t>
            </a:r>
            <a:r>
              <a:rPr lang="en-US" sz="1200" dirty="0" err="1"/>
              <a:t>cacheKey</a:t>
            </a:r>
            <a:r>
              <a:rPr lang="en-US" sz="1200" dirty="0"/>
              <a:t> = $"perms_{</a:t>
            </a:r>
            <a:r>
              <a:rPr lang="en-US" sz="1200" dirty="0" err="1"/>
              <a:t>tenantId</a:t>
            </a:r>
            <a:r>
              <a:rPr lang="en-US" sz="1200" dirty="0"/>
              <a:t>}_{</a:t>
            </a:r>
            <a:r>
              <a:rPr lang="en-US" sz="1200" dirty="0" err="1"/>
              <a:t>userId</a:t>
            </a:r>
            <a:r>
              <a:rPr lang="en-US" sz="1200" dirty="0"/>
              <a:t>}";</a:t>
            </a:r>
          </a:p>
          <a:p>
            <a:r>
              <a:rPr lang="en-US" sz="1200" dirty="0"/>
              <a:t>        var permissions = await _</a:t>
            </a:r>
            <a:r>
              <a:rPr lang="en-US" sz="1200" dirty="0" err="1"/>
              <a:t>cache.GetOrCreateAsync</a:t>
            </a:r>
            <a:r>
              <a:rPr lang="en-US" sz="1200" dirty="0"/>
              <a:t>(</a:t>
            </a:r>
            <a:r>
              <a:rPr lang="en-US" sz="1200" dirty="0" err="1"/>
              <a:t>cacheKey</a:t>
            </a:r>
            <a:r>
              <a:rPr lang="en-US" sz="1200" dirty="0"/>
              <a:t>, entry =&gt;</a:t>
            </a:r>
          </a:p>
          <a:p>
            <a:r>
              <a:rPr lang="en-US" sz="1200" dirty="0"/>
              <a:t>        {</a:t>
            </a:r>
          </a:p>
          <a:p>
            <a:r>
              <a:rPr lang="en-US" sz="1200" dirty="0"/>
              <a:t>            </a:t>
            </a:r>
            <a:r>
              <a:rPr lang="en-US" sz="1200" dirty="0" err="1"/>
              <a:t>entry.SlidingExpiration</a:t>
            </a:r>
            <a:r>
              <a:rPr lang="en-US" sz="1200" dirty="0"/>
              <a:t> = </a:t>
            </a:r>
            <a:r>
              <a:rPr lang="en-US" sz="1200" dirty="0" err="1"/>
              <a:t>TimeSpan.FromMinutes</a:t>
            </a:r>
            <a:r>
              <a:rPr lang="en-US" sz="1200" dirty="0"/>
              <a:t>(30);</a:t>
            </a:r>
          </a:p>
          <a:p>
            <a:r>
              <a:rPr lang="en-US" sz="1200" dirty="0"/>
              <a:t>            // REPLACE: Call your actual database logic here</a:t>
            </a:r>
          </a:p>
          <a:p>
            <a:r>
              <a:rPr lang="en-US" sz="1200" dirty="0"/>
              <a:t>            return </a:t>
            </a:r>
            <a:r>
              <a:rPr lang="en-US" sz="1200" dirty="0" err="1"/>
              <a:t>Task.FromResult</a:t>
            </a:r>
            <a:r>
              <a:rPr lang="en-US" sz="1200" dirty="0"/>
              <a:t>(new List&lt;string&gt; { "</a:t>
            </a:r>
            <a:r>
              <a:rPr lang="en-US" sz="1200" dirty="0" err="1"/>
              <a:t>User.Read</a:t>
            </a:r>
            <a:r>
              <a:rPr lang="en-US" sz="1200" dirty="0"/>
              <a:t>", "</a:t>
            </a:r>
            <a:r>
              <a:rPr lang="en-US" sz="1200" dirty="0" err="1"/>
              <a:t>Tenant.Admin</a:t>
            </a:r>
            <a:r>
              <a:rPr lang="en-US" sz="1200" dirty="0"/>
              <a:t>" }); </a:t>
            </a:r>
          </a:p>
          <a:p>
            <a:r>
              <a:rPr lang="en-US" sz="1200" dirty="0"/>
              <a:t>        });</a:t>
            </a:r>
          </a:p>
          <a:p>
            <a:endParaRPr lang="en-US" sz="1200" dirty="0"/>
          </a:p>
          <a:p>
            <a:r>
              <a:rPr lang="en-US" sz="1200" dirty="0"/>
              <a:t>        // 4. "Hydrate" the identity with the full list</a:t>
            </a:r>
          </a:p>
          <a:p>
            <a:r>
              <a:rPr lang="en-US" sz="1200" dirty="0"/>
              <a:t>        foreach (var permission in permissions)</a:t>
            </a:r>
          </a:p>
          <a:p>
            <a:r>
              <a:rPr lang="en-US" sz="1200" dirty="0"/>
              <a:t>        {</a:t>
            </a:r>
          </a:p>
          <a:p>
            <a:r>
              <a:rPr lang="en-US" sz="1200" dirty="0"/>
              <a:t>            </a:t>
            </a:r>
            <a:r>
              <a:rPr lang="en-US" sz="1200" dirty="0" err="1"/>
              <a:t>newIdentity.AddClaim</a:t>
            </a:r>
            <a:r>
              <a:rPr lang="en-US" sz="1200" dirty="0"/>
              <a:t>(new Claim("perm", permission));</a:t>
            </a:r>
          </a:p>
          <a:p>
            <a:r>
              <a:rPr lang="en-US" sz="1200" dirty="0"/>
              <a:t>        }</a:t>
            </a:r>
          </a:p>
          <a:p>
            <a:endParaRPr lang="en-US" sz="1200" dirty="0"/>
          </a:p>
          <a:p>
            <a:r>
              <a:rPr lang="en-US" sz="1200" dirty="0"/>
              <a:t>        // Mark as loaded so we don't repeat this in the same request pipe</a:t>
            </a:r>
          </a:p>
          <a:p>
            <a:r>
              <a:rPr lang="en-US" sz="1200" dirty="0"/>
              <a:t>        </a:t>
            </a:r>
            <a:r>
              <a:rPr lang="en-US" sz="1200" dirty="0" err="1"/>
              <a:t>newIdentity.AddClaim</a:t>
            </a:r>
            <a:r>
              <a:rPr lang="en-US" sz="1200" dirty="0"/>
              <a:t>(new Claim("</a:t>
            </a:r>
            <a:r>
              <a:rPr lang="en-US" sz="1200" dirty="0" err="1"/>
              <a:t>permissions_loaded</a:t>
            </a:r>
            <a:r>
              <a:rPr lang="en-US" sz="1200" dirty="0"/>
              <a:t>", "true"));</a:t>
            </a:r>
          </a:p>
          <a:p>
            <a:endParaRPr lang="en-US" sz="1200" dirty="0"/>
          </a:p>
          <a:p>
            <a:r>
              <a:rPr lang="en-US" sz="1200" dirty="0"/>
              <a:t>        return clone;</a:t>
            </a:r>
          </a:p>
          <a:p>
            <a:r>
              <a:rPr lang="en-US" sz="1200" dirty="0"/>
              <a:t>    }</a:t>
            </a:r>
          </a:p>
          <a:p>
            <a:r>
              <a:rPr lang="en-US" sz="1200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67987712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E4F0DAC2-F734-BEF2-3254-C576A1A30E65}"/>
              </a:ext>
            </a:extLst>
          </p:cNvPr>
          <p:cNvSpPr txBox="1"/>
          <p:nvPr/>
        </p:nvSpPr>
        <p:spPr>
          <a:xfrm>
            <a:off x="601580" y="-83458"/>
            <a:ext cx="10840452" cy="85869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/>
              <a:t>using </a:t>
            </a:r>
            <a:r>
              <a:rPr lang="en-US" sz="1200" dirty="0" err="1"/>
              <a:t>Microsoft.AspNetCore.Authentication.JwtBearer</a:t>
            </a:r>
            <a:r>
              <a:rPr lang="en-US" sz="1200" dirty="0"/>
              <a:t>;</a:t>
            </a:r>
          </a:p>
          <a:p>
            <a:r>
              <a:rPr lang="en-US" sz="1200" dirty="0"/>
              <a:t>using </a:t>
            </a:r>
            <a:r>
              <a:rPr lang="en-US" sz="1200" dirty="0" err="1"/>
              <a:t>Microsoft.IdentityModel.Tokens</a:t>
            </a:r>
            <a:r>
              <a:rPr lang="en-US" sz="1200" dirty="0"/>
              <a:t>;</a:t>
            </a:r>
          </a:p>
          <a:p>
            <a:r>
              <a:rPr lang="en-US" sz="1200" dirty="0"/>
              <a:t>using </a:t>
            </a:r>
            <a:r>
              <a:rPr lang="en-US" sz="1200" dirty="0" err="1"/>
              <a:t>System.Text</a:t>
            </a:r>
            <a:r>
              <a:rPr lang="en-US" sz="1200" dirty="0"/>
              <a:t>;</a:t>
            </a:r>
          </a:p>
          <a:p>
            <a:endParaRPr lang="en-US" sz="1200" dirty="0"/>
          </a:p>
          <a:p>
            <a:r>
              <a:rPr lang="en-US" sz="1200" dirty="0"/>
              <a:t>var builder = </a:t>
            </a:r>
            <a:r>
              <a:rPr lang="en-US" sz="1200" dirty="0" err="1"/>
              <a:t>WebApplication.CreateBuilder</a:t>
            </a:r>
            <a:r>
              <a:rPr lang="en-US" sz="1200" dirty="0"/>
              <a:t>(</a:t>
            </a:r>
            <a:r>
              <a:rPr lang="en-US" sz="1200" dirty="0" err="1"/>
              <a:t>args</a:t>
            </a:r>
            <a:r>
              <a:rPr lang="en-US" sz="1200" dirty="0"/>
              <a:t>);</a:t>
            </a:r>
          </a:p>
          <a:p>
            <a:endParaRPr lang="en-US" sz="1200" dirty="0"/>
          </a:p>
          <a:p>
            <a:r>
              <a:rPr lang="en-US" sz="1200" dirty="0"/>
              <a:t>// Add Caching</a:t>
            </a:r>
          </a:p>
          <a:p>
            <a:r>
              <a:rPr lang="en-US" sz="1200" dirty="0" err="1"/>
              <a:t>builder.Services.AddMemoryCache</a:t>
            </a:r>
            <a:r>
              <a:rPr lang="en-US" sz="1200" dirty="0"/>
              <a:t>();</a:t>
            </a:r>
          </a:p>
          <a:p>
            <a:endParaRPr lang="en-US" sz="1200" dirty="0"/>
          </a:p>
          <a:p>
            <a:r>
              <a:rPr lang="en-US" sz="1200" dirty="0"/>
              <a:t>// Register our Hydration Service</a:t>
            </a:r>
          </a:p>
          <a:p>
            <a:r>
              <a:rPr lang="en-US" sz="1200" dirty="0" err="1"/>
              <a:t>builder.Services.AddScoped</a:t>
            </a:r>
            <a:r>
              <a:rPr lang="en-US" sz="1200" dirty="0"/>
              <a:t>&lt;</a:t>
            </a:r>
            <a:r>
              <a:rPr lang="en-US" sz="1200" dirty="0" err="1"/>
              <a:t>IClaimsTransformation</a:t>
            </a:r>
            <a:r>
              <a:rPr lang="en-US" sz="1200" dirty="0"/>
              <a:t>, </a:t>
            </a:r>
            <a:r>
              <a:rPr lang="en-US" sz="1200" dirty="0" err="1"/>
              <a:t>TenantPermissionTransformer</a:t>
            </a:r>
            <a:r>
              <a:rPr lang="en-US" sz="1200" dirty="0"/>
              <a:t>&gt;();</a:t>
            </a:r>
          </a:p>
          <a:p>
            <a:endParaRPr lang="en-US" sz="1200" dirty="0"/>
          </a:p>
          <a:p>
            <a:r>
              <a:rPr lang="en-US" sz="1200" dirty="0" err="1"/>
              <a:t>builder.Services.AddAuthentication</a:t>
            </a:r>
            <a:r>
              <a:rPr lang="en-US" sz="1200" dirty="0"/>
              <a:t>(</a:t>
            </a:r>
            <a:r>
              <a:rPr lang="en-US" sz="1200" dirty="0" err="1"/>
              <a:t>JwtBearerDefaults.AuthenticationScheme</a:t>
            </a:r>
            <a:r>
              <a:rPr lang="en-US" sz="1200" dirty="0"/>
              <a:t>)</a:t>
            </a:r>
          </a:p>
          <a:p>
            <a:r>
              <a:rPr lang="en-US" sz="1200" dirty="0"/>
              <a:t>    .</a:t>
            </a:r>
            <a:r>
              <a:rPr lang="en-US" sz="1200" dirty="0" err="1"/>
              <a:t>AddJwtBearer</a:t>
            </a:r>
            <a:r>
              <a:rPr lang="en-US" sz="1200" dirty="0"/>
              <a:t>(options =&gt;</a:t>
            </a:r>
          </a:p>
          <a:p>
            <a:r>
              <a:rPr lang="en-US" sz="1200" dirty="0"/>
              <a:t>    {</a:t>
            </a:r>
          </a:p>
          <a:p>
            <a:r>
              <a:rPr lang="en-US" sz="1200" dirty="0"/>
              <a:t>        </a:t>
            </a:r>
            <a:r>
              <a:rPr lang="en-US" sz="1200" dirty="0" err="1"/>
              <a:t>options.TokenValidationParameters</a:t>
            </a:r>
            <a:r>
              <a:rPr lang="en-US" sz="1200" dirty="0"/>
              <a:t> = new </a:t>
            </a:r>
            <a:r>
              <a:rPr lang="en-US" sz="1200" dirty="0" err="1"/>
              <a:t>TokenValidationParameters</a:t>
            </a:r>
            <a:endParaRPr lang="en-US" sz="1200" dirty="0"/>
          </a:p>
          <a:p>
            <a:r>
              <a:rPr lang="en-US" sz="1200" dirty="0"/>
              <a:t>        {</a:t>
            </a:r>
          </a:p>
          <a:p>
            <a:r>
              <a:rPr lang="en-US" sz="1200" dirty="0"/>
              <a:t>            </a:t>
            </a:r>
            <a:r>
              <a:rPr lang="en-US" sz="1200" dirty="0" err="1"/>
              <a:t>ValidateIssuer</a:t>
            </a:r>
            <a:r>
              <a:rPr lang="en-US" sz="1200" dirty="0"/>
              <a:t> = true,</a:t>
            </a:r>
          </a:p>
          <a:p>
            <a:r>
              <a:rPr lang="en-US" sz="1200" dirty="0"/>
              <a:t>            </a:t>
            </a:r>
            <a:r>
              <a:rPr lang="en-US" sz="1200" dirty="0" err="1"/>
              <a:t>ValidIssuer</a:t>
            </a:r>
            <a:r>
              <a:rPr lang="en-US" sz="1200" dirty="0"/>
              <a:t> = "your-app-name",</a:t>
            </a:r>
          </a:p>
          <a:p>
            <a:r>
              <a:rPr lang="en-US" sz="1200" dirty="0"/>
              <a:t>            </a:t>
            </a:r>
            <a:r>
              <a:rPr lang="en-US" sz="1200" dirty="0" err="1"/>
              <a:t>ValidateAudience</a:t>
            </a:r>
            <a:r>
              <a:rPr lang="en-US" sz="1200" dirty="0"/>
              <a:t> = true,</a:t>
            </a:r>
          </a:p>
          <a:p>
            <a:r>
              <a:rPr lang="en-US" sz="1200" dirty="0"/>
              <a:t>            </a:t>
            </a:r>
            <a:r>
              <a:rPr lang="en-US" sz="1200" dirty="0" err="1"/>
              <a:t>ValidAudience</a:t>
            </a:r>
            <a:r>
              <a:rPr lang="en-US" sz="1200" dirty="0"/>
              <a:t> = "your-spa-client",</a:t>
            </a:r>
          </a:p>
          <a:p>
            <a:r>
              <a:rPr lang="en-US" sz="1200" dirty="0"/>
              <a:t>            </a:t>
            </a:r>
            <a:r>
              <a:rPr lang="en-US" sz="1200" dirty="0" err="1"/>
              <a:t>ValidateLifetime</a:t>
            </a:r>
            <a:r>
              <a:rPr lang="en-US" sz="1200" dirty="0"/>
              <a:t> = true,</a:t>
            </a:r>
          </a:p>
          <a:p>
            <a:r>
              <a:rPr lang="en-US" sz="1200" dirty="0"/>
              <a:t>            </a:t>
            </a:r>
            <a:r>
              <a:rPr lang="en-US" sz="1200" dirty="0" err="1"/>
              <a:t>IssuerSigningKey</a:t>
            </a:r>
            <a:r>
              <a:rPr lang="en-US" sz="1200" dirty="0"/>
              <a:t> = new </a:t>
            </a:r>
            <a:r>
              <a:rPr lang="en-US" sz="1200" dirty="0" err="1"/>
              <a:t>SymmetricSecurityKey</a:t>
            </a:r>
            <a:r>
              <a:rPr lang="en-US" sz="1200" dirty="0"/>
              <a:t>(</a:t>
            </a:r>
          </a:p>
          <a:p>
            <a:r>
              <a:rPr lang="en-US" sz="1200" dirty="0"/>
              <a:t>                Encoding.UTF8.GetBytes("YourSuperSecretKey_MustBeAtLeast32Chars!")),</a:t>
            </a:r>
          </a:p>
          <a:p>
            <a:r>
              <a:rPr lang="en-US" sz="1200" dirty="0"/>
              <a:t>            </a:t>
            </a:r>
            <a:r>
              <a:rPr lang="en-US" sz="1200" dirty="0" err="1"/>
              <a:t>ClockSkew</a:t>
            </a:r>
            <a:r>
              <a:rPr lang="en-US" sz="1200" dirty="0"/>
              <a:t> = </a:t>
            </a:r>
            <a:r>
              <a:rPr lang="en-US" sz="1200" dirty="0" err="1"/>
              <a:t>TimeSpan.Zero</a:t>
            </a:r>
            <a:endParaRPr lang="en-US" sz="1200" dirty="0"/>
          </a:p>
          <a:p>
            <a:r>
              <a:rPr lang="en-US" sz="1200" dirty="0"/>
              <a:t>        };</a:t>
            </a:r>
          </a:p>
          <a:p>
            <a:endParaRPr lang="en-US" sz="1200" dirty="0"/>
          </a:p>
          <a:p>
            <a:r>
              <a:rPr lang="en-US" sz="1200" dirty="0"/>
              <a:t>        // If the SPA sends the token in a COOKIE instead of a Header:</a:t>
            </a:r>
          </a:p>
          <a:p>
            <a:r>
              <a:rPr lang="en-US" sz="1200" dirty="0"/>
              <a:t>        </a:t>
            </a:r>
            <a:r>
              <a:rPr lang="en-US" sz="1200" dirty="0" err="1"/>
              <a:t>options.Events</a:t>
            </a:r>
            <a:r>
              <a:rPr lang="en-US" sz="1200" dirty="0"/>
              <a:t> = new </a:t>
            </a:r>
            <a:r>
              <a:rPr lang="en-US" sz="1200" dirty="0" err="1"/>
              <a:t>JwtBearerEvents</a:t>
            </a:r>
            <a:endParaRPr lang="en-US" sz="1200" dirty="0"/>
          </a:p>
          <a:p>
            <a:r>
              <a:rPr lang="en-US" sz="1200" dirty="0"/>
              <a:t>        {</a:t>
            </a:r>
          </a:p>
          <a:p>
            <a:r>
              <a:rPr lang="en-US" sz="1200" dirty="0"/>
              <a:t>            </a:t>
            </a:r>
            <a:r>
              <a:rPr lang="en-US" sz="1200" dirty="0" err="1"/>
              <a:t>OnMessageReceived</a:t>
            </a:r>
            <a:r>
              <a:rPr lang="en-US" sz="1200" dirty="0"/>
              <a:t> = context =&gt;</a:t>
            </a:r>
          </a:p>
          <a:p>
            <a:r>
              <a:rPr lang="en-US" sz="1200" dirty="0"/>
              <a:t>            {</a:t>
            </a:r>
          </a:p>
          <a:p>
            <a:r>
              <a:rPr lang="en-US" sz="1200" dirty="0"/>
              <a:t>                </a:t>
            </a:r>
            <a:r>
              <a:rPr lang="en-US" sz="1200" dirty="0" err="1"/>
              <a:t>context.Token</a:t>
            </a:r>
            <a:r>
              <a:rPr lang="en-US" sz="1200" dirty="0"/>
              <a:t> = </a:t>
            </a:r>
            <a:r>
              <a:rPr lang="en-US" sz="1200" dirty="0" err="1"/>
              <a:t>context.Request.Cookies</a:t>
            </a:r>
            <a:r>
              <a:rPr lang="en-US" sz="1200" dirty="0"/>
              <a:t>["</a:t>
            </a:r>
            <a:r>
              <a:rPr lang="en-US" sz="1200" dirty="0" err="1"/>
              <a:t>UserTenantToken</a:t>
            </a:r>
            <a:r>
              <a:rPr lang="en-US" sz="1200" dirty="0"/>
              <a:t>"];</a:t>
            </a:r>
          </a:p>
          <a:p>
            <a:r>
              <a:rPr lang="en-US" sz="1200" dirty="0"/>
              <a:t>                return </a:t>
            </a:r>
            <a:r>
              <a:rPr lang="en-US" sz="1200" dirty="0" err="1"/>
              <a:t>Task.CompletedTask</a:t>
            </a:r>
            <a:r>
              <a:rPr lang="en-US" sz="1200" dirty="0"/>
              <a:t>;</a:t>
            </a:r>
          </a:p>
          <a:p>
            <a:r>
              <a:rPr lang="en-US" sz="1200" dirty="0"/>
              <a:t>            }</a:t>
            </a:r>
          </a:p>
          <a:p>
            <a:r>
              <a:rPr lang="en-US" sz="1200" dirty="0"/>
              <a:t>        };</a:t>
            </a:r>
          </a:p>
          <a:p>
            <a:r>
              <a:rPr lang="en-US" sz="1200" dirty="0"/>
              <a:t>    });</a:t>
            </a:r>
          </a:p>
          <a:p>
            <a:endParaRPr lang="en-US" sz="1200" dirty="0"/>
          </a:p>
          <a:p>
            <a:r>
              <a:rPr lang="en-US" sz="1200" dirty="0" err="1"/>
              <a:t>builder.Services.AddAuthorization</a:t>
            </a:r>
            <a:r>
              <a:rPr lang="en-US" sz="1200" dirty="0"/>
              <a:t>();</a:t>
            </a:r>
          </a:p>
          <a:p>
            <a:endParaRPr lang="en-US" sz="1200" dirty="0"/>
          </a:p>
          <a:p>
            <a:r>
              <a:rPr lang="en-US" sz="1200" dirty="0"/>
              <a:t>var app = </a:t>
            </a:r>
            <a:r>
              <a:rPr lang="en-US" sz="1200" dirty="0" err="1"/>
              <a:t>builder.Build</a:t>
            </a:r>
            <a:r>
              <a:rPr lang="en-US" sz="1200" dirty="0"/>
              <a:t>();</a:t>
            </a:r>
          </a:p>
          <a:p>
            <a:endParaRPr lang="en-US" sz="1200" dirty="0"/>
          </a:p>
          <a:p>
            <a:r>
              <a:rPr lang="en-US" sz="1200" dirty="0" err="1"/>
              <a:t>app.UseAuthentication</a:t>
            </a:r>
            <a:r>
              <a:rPr lang="en-US" sz="1200" dirty="0"/>
              <a:t>();</a:t>
            </a:r>
          </a:p>
          <a:p>
            <a:r>
              <a:rPr lang="en-US" sz="1200" dirty="0" err="1"/>
              <a:t>app.UseAuthorization</a:t>
            </a:r>
            <a:r>
              <a:rPr lang="en-US" sz="1200" dirty="0"/>
              <a:t>();</a:t>
            </a:r>
          </a:p>
          <a:p>
            <a:endParaRPr lang="en-US" sz="1200" dirty="0"/>
          </a:p>
          <a:p>
            <a:r>
              <a:rPr lang="en-US" sz="1200" dirty="0"/>
              <a:t>// ... rest of your pipeline</a:t>
            </a:r>
          </a:p>
        </p:txBody>
      </p:sp>
    </p:spTree>
    <p:extLst>
      <p:ext uri="{BB962C8B-B14F-4D97-AF65-F5344CB8AC3E}">
        <p14:creationId xmlns:p14="http://schemas.microsoft.com/office/powerpoint/2010/main" val="335336348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2284</TotalTime>
  <Words>1193</Words>
  <Application>Microsoft Office PowerPoint</Application>
  <PresentationFormat>Widescreen</PresentationFormat>
  <Paragraphs>187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3" baseType="lpstr">
      <vt:lpstr>Aptos</vt:lpstr>
      <vt:lpstr>Aptos Display</vt:lpstr>
      <vt:lpstr>Arial</vt:lpstr>
      <vt:lpstr>Courier New</vt:lpstr>
      <vt:lpstr>Google Sans</vt:lpstr>
      <vt:lpstr>Google Sans Text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Suzette Antony</dc:creator>
  <cp:lastModifiedBy>Suzette Antony</cp:lastModifiedBy>
  <cp:revision>4</cp:revision>
  <dcterms:created xsi:type="dcterms:W3CDTF">2026-03-11T12:38:46Z</dcterms:created>
  <dcterms:modified xsi:type="dcterms:W3CDTF">2026-03-13T02:43:05Z</dcterms:modified>
</cp:coreProperties>
</file>